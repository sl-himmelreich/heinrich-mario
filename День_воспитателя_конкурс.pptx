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Открытка ко Дню воспитателя (27 сентября). Слайд-заставка перед началом конкурса.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Ведущий приветствует воспитателей, объясняет правила: команды, четыре раунда, за верный ответ — 1 очко. В финале считаем очки.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1. Показываем 8 фото. На каждом слайде с фото идёт отсчёт 45 секунд, затем слайд сам переходит к ответу (можно и раньше — щелчком).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1 — Людмила Виолетта Владимировна.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1: Людмила Виолетта Владимировна.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2 — Леонова Ирина Александровна.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2: Леонова Ирина Александровна.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3 — Литвиненко Алёна Александровна.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3: Литвиненко Алёна Александровна.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4 — Король Жанна Владимировна.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4: Король Жанна Владимировна.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5 — Исупова Наталия Ростиславовна.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5: Исупова Наталия Ростиславовна.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6 — Белик Людмила Владимировна.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6: Белик Людмила Владимировна.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7 — Царькова Анастасия Вячеславовна.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7: Царькова Анастасия Вячеславовна.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Фото № 8 — Захарова Ирина Алексеевна. В показе идёт отсчёт 45 секунд, после чего слайд сам переходит к ответу.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 к фото № 8: Захарова Ирина Алексеевна. Подпись «воспитатель нашей школы» можно заменить на класс или группу.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2. Десять вопросов на двух слайдах. Каждый щелчок (или стрелка) открывает ответ на очередной вопрос. Ответы также в заметках.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(появляются по щелчку, за верный ответ — 1 очко): 1) 5 октября; 2) Группа продлённого дня; 3) 45 минут; 4) Перемена; 5) День знаний.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(появляются по щелчку, за верный ответ — 1 очко): 6) В дневник; 7) Пять; 8) Классный журнал; 9) Осень; 10) Конечно, воспитатель!.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3. Четырнадцать пословиц на двух слайдах. Каждый щелчок открывает окончание очередной пословицы.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 щелчку): 1) Ученье — свет, а неученье — тьма. 2) Без труда не вытащишь и рыбку из пруда. 3) Повторенье — мать ученья. 4) Терпенье и труд всё перетрут. 5) Век живи — век учись. 6) Грамоте учиться — всегда пригодится. 7) Что посеешь, то и пожнёшь.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Ответы (по щелчку): 8) Не стыдно не знать, стыдно не учиться. 9) Корень ученья горек, да плод его сладок. 10) Кто много читает, тот много знает. 11) Делу время, потехе час. 12) Сделал дело — гуляй смело. 13) Семь раз отмерь — один раз отрежь. 14) Яблоко от яблони недалеко падает.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Раунд 4. Восемь песен — школьных и осенних, на двух слайдах. Каждый щелчок открывает продолжение очередной песни.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Продолжения (по щелчку): 1) …учат в школе, учат в школе, учат в школе!» 2) …от улыбки в небе радуга проснётся» 3) …и, конечно, припевать лучше хором» 4) …а вода по асфальту рекой»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Продолжения (по щелчку): 5) …пойдём копать картошку!» 6) …с тихим шорохом нам под ноги ложатся» 7) …плачущее небо под ногами» 8) …это всем известно в целом мире»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Финал: подсчёт очков, награждение команд, поздравление.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PHOTO_Q-image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PHOTO_A-image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LAI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Q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pic" idx="100" hasCustomPrompt="1"/>
          </p:nvPr>
        </p:nvSpPr>
        <p:spPr>
          <a:xfrm>
            <a:off x="658368" y="841248"/>
            <a:ext cx="3072384" cy="37581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Щёлкните значок, чтобы вставить фото коллеги</a:t>
            </a:r>
            <a:endParaRPr lang="en-US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_A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type="pic" idx="100" hasCustomPrompt="1"/>
          </p:nvPr>
        </p:nvSpPr>
        <p:spPr>
          <a:xfrm>
            <a:off x="658368" y="1005840"/>
            <a:ext cx="2615184" cy="3300984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r>
              <a:rPr lang="en-US" dirty="0">
                <a:solidFill>
                  <a:srgbClr val="000000"/>
                </a:solidFill>
              </a:rPr>
              <a:t>Щёлкните значок, чтобы вставить фото коллеги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image" Target="../media/image-1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jpe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jpeg"/><Relationship Id="rId2" Type="http://schemas.openxmlformats.org/officeDocument/2006/relationships/image" Target="../media/image-4-2.jp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jpeg"/><Relationship Id="rId2" Type="http://schemas.openxmlformats.org/officeDocument/2006/relationships/image" Target="../media/image-5-2.jp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jpeg"/><Relationship Id="rId2" Type="http://schemas.openxmlformats.org/officeDocument/2006/relationships/image" Target="../media/image-6-2.jp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jpeg"/><Relationship Id="rId2" Type="http://schemas.openxmlformats.org/officeDocument/2006/relationships/image" Target="../media/image-7-2.jp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jpeg"/><Relationship Id="rId2" Type="http://schemas.openxmlformats.org/officeDocument/2006/relationships/image" Target="../media/image-8-2.jp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jpeg"/><Relationship Id="rId2" Type="http://schemas.openxmlformats.org/officeDocument/2006/relationships/image" Target="../media/image-9-2.jp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jpeg"/><Relationship Id="rId2" Type="http://schemas.openxmlformats.org/officeDocument/2006/relationships/image" Target="../media/image-10-2.jp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jpeg"/><Relationship Id="rId2" Type="http://schemas.openxmlformats.org/officeDocument/2006/relationships/image" Target="../media/image-11-2.jp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jpeg"/><Relationship Id="rId2" Type="http://schemas.openxmlformats.org/officeDocument/2006/relationships/image" Target="../media/image-12-2.jp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jpeg"/><Relationship Id="rId2" Type="http://schemas.openxmlformats.org/officeDocument/2006/relationships/image" Target="../media/image-13-2.jp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jpeg"/><Relationship Id="rId2" Type="http://schemas.openxmlformats.org/officeDocument/2006/relationships/image" Target="../media/image-14-2.jp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jpeg"/><Relationship Id="rId2" Type="http://schemas.openxmlformats.org/officeDocument/2006/relationships/image" Target="../media/image-15-2.jp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jpeg"/><Relationship Id="rId2" Type="http://schemas.openxmlformats.org/officeDocument/2006/relationships/image" Target="../media/image-16-2.jpg"/><Relationship Id="rId3" Type="http://schemas.openxmlformats.org/officeDocument/2006/relationships/image" Target="../media/image-16-3.png"/><Relationship Id="rId4" Type="http://schemas.openxmlformats.org/officeDocument/2006/relationships/image" Target="../media/image-1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jpeg"/><Relationship Id="rId2" Type="http://schemas.openxmlformats.org/officeDocument/2006/relationships/image" Target="../media/image-17-2.jp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jpeg"/><Relationship Id="rId2" Type="http://schemas.openxmlformats.org/officeDocument/2006/relationships/image" Target="../media/image-18-2.jp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jpeg"/><Relationship Id="rId2" Type="http://schemas.openxmlformats.org/officeDocument/2006/relationships/image" Target="../media/image-19-2.jp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png"/><Relationship Id="rId3" Type="http://schemas.openxmlformats.org/officeDocument/2006/relationships/image" Target="../media/image-20-3.png"/><Relationship Id="rId4" Type="http://schemas.openxmlformats.org/officeDocument/2006/relationships/image" Target="../media/image-20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jpe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jpe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image" Target="../media/image-23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jpeg"/><Relationship Id="rId2" Type="http://schemas.openxmlformats.org/officeDocument/2006/relationships/image" Target="../media/image-24-2.png"/><Relationship Id="rId3" Type="http://schemas.openxmlformats.org/officeDocument/2006/relationships/image" Target="../media/image-24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jpeg"/><Relationship Id="rId2" Type="http://schemas.openxmlformats.org/officeDocument/2006/relationships/image" Target="../media/image-25-2.png"/><Relationship Id="rId3" Type="http://schemas.openxmlformats.org/officeDocument/2006/relationships/image" Target="../media/image-25-3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png"/><Relationship Id="rId3" Type="http://schemas.openxmlformats.org/officeDocument/2006/relationships/image" Target="../media/image-26-3.png"/><Relationship Id="rId4" Type="http://schemas.openxmlformats.org/officeDocument/2006/relationships/image" Target="../media/image-2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7-image-1.jpeg"/><Relationship Id="rId2" Type="http://schemas.openxmlformats.org/officeDocument/2006/relationships/image" Target="../media/image-27-2.png"/><Relationship Id="rId3" Type="http://schemas.openxmlformats.org/officeDocument/2006/relationships/image" Target="../media/image-27-3.png"/><Relationship Id="rId4" Type="http://schemas.openxmlformats.org/officeDocument/2006/relationships/image" Target="../media/image-27-4.png"/><Relationship Id="rId5" Type="http://schemas.openxmlformats.org/officeDocument/2006/relationships/image" Target="../media/image-27-4.png"/><Relationship Id="rId6" Type="http://schemas.openxmlformats.org/officeDocument/2006/relationships/image" Target="../media/image-27-4.png"/><Relationship Id="rId7" Type="http://schemas.openxmlformats.org/officeDocument/2006/relationships/image" Target="../media/image-27-4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8-image-1.jpe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5" Type="http://schemas.openxmlformats.org/officeDocument/2006/relationships/image" Target="../media/image-28-4.png"/><Relationship Id="rId6" Type="http://schemas.openxmlformats.org/officeDocument/2006/relationships/image" Target="../media/image-28-4.png"/><Relationship Id="rId7" Type="http://schemas.openxmlformats.org/officeDocument/2006/relationships/image" Target="../media/image-28-4.png"/><Relationship Id="rId8" Type="http://schemas.openxmlformats.org/officeDocument/2006/relationships/slideLayout" Target="../slideLayouts/slideLayout2.xml"/><Relationship Id="rId9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image" Target="../media/image-29-3.png"/><Relationship Id="rId4" Type="http://schemas.openxmlformats.org/officeDocument/2006/relationships/image" Target="../media/image-29-4.png"/><Relationship Id="rId5" Type="http://schemas.openxmlformats.org/officeDocument/2006/relationships/image" Target="../media/image-29-5.png"/><Relationship Id="rId6" Type="http://schemas.openxmlformats.org/officeDocument/2006/relationships/image" Target="../media/image-29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lak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274320" y="274320"/>
            <a:ext cx="8595360" cy="4594860"/>
          </a:xfrm>
          <a:prstGeom prst="rect">
            <a:avLst/>
          </a:prstGeom>
          <a:ln w="19050">
            <a:solidFill>
              <a:srgbClr val="EBB021"/>
            </a:solidFill>
            <a:prstDash val="solid"/>
          </a:ln>
        </p:spPr>
      </p:sp>
      <p:pic>
        <p:nvPicPr>
          <p:cNvPr id="5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84048"/>
            <a:ext cx="1143000" cy="1143000"/>
          </a:xfrm>
          <a:prstGeom prst="rect">
            <a:avLst/>
          </a:prstGeom>
        </p:spPr>
      </p:pic>
      <p:pic>
        <p:nvPicPr>
          <p:cNvPr id="6" name="Image 3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20040"/>
            <a:ext cx="1188720" cy="1188720"/>
          </a:xfrm>
          <a:prstGeom prst="rect">
            <a:avLst/>
          </a:prstGeom>
        </p:spPr>
      </p:pic>
      <p:pic>
        <p:nvPicPr>
          <p:cNvPr id="7" name="Image 4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611880"/>
            <a:ext cx="1097280" cy="1097280"/>
          </a:xfrm>
          <a:prstGeom prst="rect">
            <a:avLst/>
          </a:prstGeom>
        </p:spPr>
      </p:pic>
      <p:pic>
        <p:nvPicPr>
          <p:cNvPr id="8" name="Image 5" descr="/tmp/claude-0/-home-user-heinrich-mario/e7688653-8e48-5480-a009-7b18c0e4f8cc/scratchpad/art/leaf_win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3703320"/>
            <a:ext cx="1051560" cy="1051560"/>
          </a:xfrm>
          <a:prstGeom prst="rect">
            <a:avLst/>
          </a:prstGeom>
        </p:spPr>
      </p:pic>
      <p:sp>
        <p:nvSpPr>
          <p:cNvPr id="9" name="Text 1"/>
          <p:cNvSpPr txBox="1"/>
          <p:nvPr/>
        </p:nvSpPr>
        <p:spPr>
          <a:xfrm>
            <a:off x="914400" y="1325880"/>
            <a:ext cx="7315200" cy="3657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spc="6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СЕНТЯБРЯ</a:t>
            </a:r>
            <a:endParaRPr lang="en-US" sz="1600" dirty="0"/>
          </a:p>
        </p:txBody>
      </p:sp>
      <p:sp>
        <p:nvSpPr>
          <p:cNvPr id="10" name="Text 2"/>
          <p:cNvSpPr txBox="1"/>
          <p:nvPr/>
        </p:nvSpPr>
        <p:spPr>
          <a:xfrm>
            <a:off x="457200" y="1737360"/>
            <a:ext cx="8229600" cy="9601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 Днём воспитателя!</a:t>
            </a:r>
            <a:endParaRPr lang="en-US" sz="4600" dirty="0"/>
          </a:p>
        </p:txBody>
      </p:sp>
      <p:sp>
        <p:nvSpPr>
          <p:cNvPr id="11" name="Text 3"/>
          <p:cNvSpPr txBox="1"/>
          <p:nvPr/>
        </p:nvSpPr>
        <p:spPr>
          <a:xfrm>
            <a:off x="1463040" y="2880360"/>
            <a:ext cx="6217920" cy="86868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7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Дорогие воспитатели нашей школы! Пусть эта осень дарит вам тепло, а работа — радость, вдохновение и благодарные улыбки детей.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art/leaves_roun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3657600" cy="4229100"/>
          </a:xfrm>
          <a:prstGeom prst="rect">
            <a:avLst/>
          </a:prstGeom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pic>
      <p:sp>
        <p:nvSpPr>
          <p:cNvPr id="3" name="Text 0"/>
          <p:cNvSpPr txBox="1"/>
          <p:nvPr/>
        </p:nvSpPr>
        <p:spPr>
          <a:xfrm>
            <a:off x="4526280" y="457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КОНКУРС ДЛЯ ВОСПИТАТЕЛЕЙ ШКОЛЫ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4526280" y="749808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Осенний марафон воспитателей</a:t>
            </a:r>
            <a:endParaRPr lang="en-US" sz="3000" dirty="0"/>
          </a:p>
        </p:txBody>
      </p:sp>
      <p:sp>
        <p:nvSpPr>
          <p:cNvPr id="5" name="Text 2"/>
          <p:cNvSpPr txBox="1"/>
          <p:nvPr/>
        </p:nvSpPr>
        <p:spPr>
          <a:xfrm>
            <a:off x="4526280" y="1691640"/>
            <a:ext cx="4160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Дорогие коллеги! Сегодня никто никого не проверяет: мы вспоминаем, поём и радуемся друг другу. Вас ждут четыре раунда и финал.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4526280" y="2560320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4526280" y="25603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4937760" y="254203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Узнай коллегу по фото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4526280" y="2926080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4526280" y="29260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937760" y="290779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Блиц-опрос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4526280" y="3291840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526280" y="32918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4937760" y="327355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Закончи пословицу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4526280" y="3657600"/>
            <a:ext cx="292608" cy="29260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4526280" y="365760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363931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Продолжи песню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4526280" y="4023360"/>
            <a:ext cx="292608" cy="292608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Text 16"/>
          <p:cNvSpPr txBox="1"/>
          <p:nvPr/>
        </p:nvSpPr>
        <p:spPr>
          <a:xfrm>
            <a:off x="4526280" y="4023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4937760" y="4005072"/>
            <a:ext cx="3749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Финал и награждение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4526280" y="4407408"/>
            <a:ext cx="4160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i="1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За каждый верный ответ команда получает 1 очко. Побеждает команда, набравшая к финалу больше всех очков!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Узнай коллегу по фото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 экране — детская фотография коллеги. Кто это? Обсуждайте в командах: на ответ — 45 секунд, затем экран покажет, кто это.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632915" cy="3977640"/>
          </a:xfrm>
          <a:prstGeom prst="roundRect">
            <a:avLst>
              <a:gd name="adj" fmla="val 3473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413459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294097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529409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3455875" y="2468880"/>
            <a:ext cx="523092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3455875" y="2880360"/>
            <a:ext cx="52309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1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3455875" y="3200400"/>
            <a:ext cx="523092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3455875" y="3840480"/>
            <a:ext cx="523092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7315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339307" cy="3520440"/>
          </a:xfrm>
          <a:prstGeom prst="roundRect">
            <a:avLst>
              <a:gd name="adj" fmla="val 390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1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119851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345147" y="1051560"/>
            <a:ext cx="534165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1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345147" y="1463040"/>
            <a:ext cx="534165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345147" y="1874520"/>
            <a:ext cx="5341653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Людмила Виолетта Владимировна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345147" y="3611880"/>
            <a:ext cx="5341653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36587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333435" cy="3977640"/>
          </a:xfrm>
          <a:prstGeom prst="roundRect">
            <a:avLst>
              <a:gd name="adj" fmla="val 391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113979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44357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514435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3156395" y="2468880"/>
            <a:ext cx="553040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3156395" y="2880360"/>
            <a:ext cx="55304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2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3156395" y="3200400"/>
            <a:ext cx="553040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3156395" y="3840480"/>
            <a:ext cx="55304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7835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076260" cy="3520440"/>
          </a:xfrm>
          <a:prstGeom prst="roundRect">
            <a:avLst>
              <a:gd name="adj" fmla="val 4404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2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185680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082100" y="1051560"/>
            <a:ext cx="560470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2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082100" y="1463040"/>
            <a:ext cx="560470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082100" y="1874520"/>
            <a:ext cx="5604701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Леонова Ирина Александровна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082100" y="3611880"/>
            <a:ext cx="560470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7354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900098" cy="3977640"/>
          </a:xfrm>
          <a:prstGeom prst="roundRect">
            <a:avLst>
              <a:gd name="adj" fmla="val 3153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680642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27689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5427689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3723058" y="2468880"/>
            <a:ext cx="496374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3723058" y="2880360"/>
            <a:ext cx="4963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3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3723058" y="3200400"/>
            <a:ext cx="496374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3723058" y="3840480"/>
            <a:ext cx="496374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14498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573986" cy="3520440"/>
          </a:xfrm>
          <a:prstGeom prst="roundRect">
            <a:avLst>
              <a:gd name="adj" fmla="val 3552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3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354530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579826" y="1051560"/>
            <a:ext cx="510697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3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579826" y="1463040"/>
            <a:ext cx="510697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579826" y="1874520"/>
            <a:ext cx="5106974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Литвиненко Алёна Александровна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579826" y="3611880"/>
            <a:ext cx="510697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1266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756230" cy="3977640"/>
          </a:xfrm>
          <a:prstGeom prst="roundRect">
            <a:avLst>
              <a:gd name="adj" fmla="val 3318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536774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55755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5355755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3579190" y="2468880"/>
            <a:ext cx="510761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3579190" y="2880360"/>
            <a:ext cx="5107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4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3579190" y="3200400"/>
            <a:ext cx="510761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3579190" y="3840480"/>
            <a:ext cx="510761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70630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447620" cy="3520440"/>
          </a:xfrm>
          <a:prstGeom prst="roundRect">
            <a:avLst>
              <a:gd name="adj" fmla="val 3736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22816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453460" y="1051560"/>
            <a:ext cx="52333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4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453460" y="1463040"/>
            <a:ext cx="52333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453460" y="1874520"/>
            <a:ext cx="523334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Король Жанна Владимировна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453460" y="3611880"/>
            <a:ext cx="52333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4490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327562" cy="3977640"/>
          </a:xfrm>
          <a:prstGeom prst="roundRect">
            <a:avLst>
              <a:gd name="adj" fmla="val 392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108106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141421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5141421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3150522" y="2468880"/>
            <a:ext cx="553627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3150522" y="2880360"/>
            <a:ext cx="55362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5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3150522" y="3200400"/>
            <a:ext cx="55362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3150522" y="3840480"/>
            <a:ext cx="55362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41962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071102" cy="3520440"/>
          </a:xfrm>
          <a:prstGeom prst="roundRect">
            <a:avLst>
              <a:gd name="adj" fmla="val 4415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5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1851646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076942" y="1051560"/>
            <a:ext cx="56098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5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076942" y="1463040"/>
            <a:ext cx="560985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076942" y="1874520"/>
            <a:ext cx="5609858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Исупова Наталия Ростиславовна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076942" y="3611880"/>
            <a:ext cx="560985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8382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76167"/>
            <a:ext cx="4754880" cy="3688347"/>
          </a:xfrm>
          <a:prstGeom prst="roundRect">
            <a:avLst>
              <a:gd name="adj" fmla="val 247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985895"/>
            <a:ext cx="4535424" cy="3468891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6355080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6355080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5577840" y="246888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5577840" y="288036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6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5577840" y="3200400"/>
            <a:ext cx="3108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5577840" y="38404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0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1091908"/>
            <a:ext cx="4023360" cy="3128848"/>
          </a:xfrm>
          <a:prstGeom prst="roundRect">
            <a:avLst>
              <a:gd name="adj" fmla="val 2922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6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201636"/>
            <a:ext cx="3803904" cy="2909392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5029200" y="105156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6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5029200" y="1463040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5029200" y="1874520"/>
            <a:ext cx="365760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Белик Людмила Владимировна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5029200" y="3611880"/>
            <a:ext cx="3657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2064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782655" cy="3977640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563199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368967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5368967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3605615" y="2468880"/>
            <a:ext cx="508118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3605615" y="2880360"/>
            <a:ext cx="50811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7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3605615" y="3200400"/>
            <a:ext cx="508118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3605615" y="3840480"/>
            <a:ext cx="508118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697055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470830" cy="3520440"/>
          </a:xfrm>
          <a:prstGeom prst="roundRect">
            <a:avLst>
              <a:gd name="adj" fmla="val 3701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7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251374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476670" y="1051560"/>
            <a:ext cx="521013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7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476670" y="1463040"/>
            <a:ext cx="521013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476670" y="1874520"/>
            <a:ext cx="5210130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Царькова Анастасия Вячеславовна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476670" y="3611880"/>
            <a:ext cx="521013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8110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УЗНАЙ КОЛЛЕГУ ПО ФОТО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731520"/>
            <a:ext cx="2970564" cy="3977640"/>
          </a:xfrm>
          <a:prstGeom prst="roundRect">
            <a:avLst>
              <a:gd name="adj" fmla="val 3078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841248"/>
            <a:ext cx="2751108" cy="3758184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5462922" y="86868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6" name="CD_45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45</a:t>
            </a:r>
            <a:endParaRPr lang="en-US" sz="6000" dirty="0"/>
          </a:p>
        </p:txBody>
      </p:sp>
      <p:sp>
        <p:nvSpPr>
          <p:cNvPr id="7" name="CD_44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</a:t>
            </a:r>
            <a:endParaRPr lang="en-US" sz="6000" dirty="0"/>
          </a:p>
        </p:txBody>
      </p:sp>
      <p:sp>
        <p:nvSpPr>
          <p:cNvPr id="8" name="CD_43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43</a:t>
            </a:r>
            <a:endParaRPr lang="en-US" sz="6000" dirty="0"/>
          </a:p>
        </p:txBody>
      </p:sp>
      <p:sp>
        <p:nvSpPr>
          <p:cNvPr id="9" name="CD_42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42</a:t>
            </a:r>
            <a:endParaRPr lang="en-US" sz="6000" dirty="0"/>
          </a:p>
        </p:txBody>
      </p:sp>
      <p:sp>
        <p:nvSpPr>
          <p:cNvPr id="10" name="CD_41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41</a:t>
            </a:r>
            <a:endParaRPr lang="en-US" sz="6000" dirty="0"/>
          </a:p>
        </p:txBody>
      </p:sp>
      <p:sp>
        <p:nvSpPr>
          <p:cNvPr id="11" name="CD_40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6000" dirty="0"/>
          </a:p>
        </p:txBody>
      </p:sp>
      <p:sp>
        <p:nvSpPr>
          <p:cNvPr id="12" name="CD_39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39</a:t>
            </a:r>
            <a:endParaRPr lang="en-US" sz="6000" dirty="0"/>
          </a:p>
        </p:txBody>
      </p:sp>
      <p:sp>
        <p:nvSpPr>
          <p:cNvPr id="13" name="CD_38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</a:t>
            </a:r>
            <a:endParaRPr lang="en-US" sz="6000" dirty="0"/>
          </a:p>
        </p:txBody>
      </p:sp>
      <p:sp>
        <p:nvSpPr>
          <p:cNvPr id="14" name="CD_37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37</a:t>
            </a:r>
            <a:endParaRPr lang="en-US" sz="6000" dirty="0"/>
          </a:p>
        </p:txBody>
      </p:sp>
      <p:sp>
        <p:nvSpPr>
          <p:cNvPr id="15" name="CD_36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</a:t>
            </a:r>
            <a:endParaRPr lang="en-US" sz="6000" dirty="0"/>
          </a:p>
        </p:txBody>
      </p:sp>
      <p:sp>
        <p:nvSpPr>
          <p:cNvPr id="16" name="CD_35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</a:t>
            </a:r>
            <a:endParaRPr lang="en-US" sz="6000" dirty="0"/>
          </a:p>
        </p:txBody>
      </p:sp>
      <p:sp>
        <p:nvSpPr>
          <p:cNvPr id="17" name="CD_34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6000" dirty="0"/>
          </a:p>
        </p:txBody>
      </p:sp>
      <p:sp>
        <p:nvSpPr>
          <p:cNvPr id="18" name="CD_33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33</a:t>
            </a:r>
            <a:endParaRPr lang="en-US" sz="6000" dirty="0"/>
          </a:p>
        </p:txBody>
      </p:sp>
      <p:sp>
        <p:nvSpPr>
          <p:cNvPr id="19" name="CD_32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32</a:t>
            </a:r>
            <a:endParaRPr lang="en-US" sz="6000" dirty="0"/>
          </a:p>
        </p:txBody>
      </p:sp>
      <p:sp>
        <p:nvSpPr>
          <p:cNvPr id="20" name="CD_31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31</a:t>
            </a:r>
            <a:endParaRPr lang="en-US" sz="6000" dirty="0"/>
          </a:p>
        </p:txBody>
      </p:sp>
      <p:sp>
        <p:nvSpPr>
          <p:cNvPr id="21" name="CD_30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30</a:t>
            </a:r>
            <a:endParaRPr lang="en-US" sz="6000" dirty="0"/>
          </a:p>
        </p:txBody>
      </p:sp>
      <p:sp>
        <p:nvSpPr>
          <p:cNvPr id="22" name="CD_29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6000" dirty="0"/>
          </a:p>
        </p:txBody>
      </p:sp>
      <p:sp>
        <p:nvSpPr>
          <p:cNvPr id="23" name="CD_28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</a:t>
            </a:r>
            <a:endParaRPr lang="en-US" sz="6000" dirty="0"/>
          </a:p>
        </p:txBody>
      </p:sp>
      <p:sp>
        <p:nvSpPr>
          <p:cNvPr id="24" name="CD_27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</a:t>
            </a:r>
            <a:endParaRPr lang="en-US" sz="6000" dirty="0"/>
          </a:p>
        </p:txBody>
      </p:sp>
      <p:sp>
        <p:nvSpPr>
          <p:cNvPr id="25" name="CD_26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</a:t>
            </a:r>
            <a:endParaRPr lang="en-US" sz="6000" dirty="0"/>
          </a:p>
        </p:txBody>
      </p:sp>
      <p:sp>
        <p:nvSpPr>
          <p:cNvPr id="26" name="CD_25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25</a:t>
            </a:r>
            <a:endParaRPr lang="en-US" sz="6000" dirty="0"/>
          </a:p>
        </p:txBody>
      </p:sp>
      <p:sp>
        <p:nvSpPr>
          <p:cNvPr id="27" name="CD_24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</a:t>
            </a:r>
            <a:endParaRPr lang="en-US" sz="6000" dirty="0"/>
          </a:p>
        </p:txBody>
      </p:sp>
      <p:sp>
        <p:nvSpPr>
          <p:cNvPr id="28" name="CD_23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23</a:t>
            </a:r>
            <a:endParaRPr lang="en-US" sz="6000" dirty="0"/>
          </a:p>
        </p:txBody>
      </p:sp>
      <p:sp>
        <p:nvSpPr>
          <p:cNvPr id="29" name="CD_22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</a:t>
            </a:r>
            <a:endParaRPr lang="en-US" sz="6000" dirty="0"/>
          </a:p>
        </p:txBody>
      </p:sp>
      <p:sp>
        <p:nvSpPr>
          <p:cNvPr id="30" name="CD_21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21</a:t>
            </a:r>
            <a:endParaRPr lang="en-US" sz="6000" dirty="0"/>
          </a:p>
        </p:txBody>
      </p:sp>
      <p:sp>
        <p:nvSpPr>
          <p:cNvPr id="31" name="CD_20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</a:t>
            </a:r>
            <a:endParaRPr lang="en-US" sz="6000" dirty="0"/>
          </a:p>
        </p:txBody>
      </p:sp>
      <p:sp>
        <p:nvSpPr>
          <p:cNvPr id="32" name="CD_19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</a:t>
            </a:r>
            <a:endParaRPr lang="en-US" sz="6000" dirty="0"/>
          </a:p>
        </p:txBody>
      </p:sp>
      <p:sp>
        <p:nvSpPr>
          <p:cNvPr id="33" name="CD_18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</a:t>
            </a:r>
            <a:endParaRPr lang="en-US" sz="6000" dirty="0"/>
          </a:p>
        </p:txBody>
      </p:sp>
      <p:sp>
        <p:nvSpPr>
          <p:cNvPr id="34" name="CD_17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6000" dirty="0"/>
          </a:p>
        </p:txBody>
      </p:sp>
      <p:sp>
        <p:nvSpPr>
          <p:cNvPr id="35" name="CD_16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</a:t>
            </a:r>
            <a:endParaRPr lang="en-US" sz="6000" dirty="0"/>
          </a:p>
        </p:txBody>
      </p:sp>
      <p:sp>
        <p:nvSpPr>
          <p:cNvPr id="36" name="CD_15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6000" dirty="0"/>
          </a:p>
        </p:txBody>
      </p:sp>
      <p:sp>
        <p:nvSpPr>
          <p:cNvPr id="37" name="CD_14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6000" dirty="0"/>
          </a:p>
        </p:txBody>
      </p:sp>
      <p:sp>
        <p:nvSpPr>
          <p:cNvPr id="38" name="CD_13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6000" dirty="0"/>
          </a:p>
        </p:txBody>
      </p:sp>
      <p:sp>
        <p:nvSpPr>
          <p:cNvPr id="39" name="CD_12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6000" dirty="0"/>
          </a:p>
        </p:txBody>
      </p:sp>
      <p:sp>
        <p:nvSpPr>
          <p:cNvPr id="40" name="CD_11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6000" dirty="0"/>
          </a:p>
        </p:txBody>
      </p:sp>
      <p:sp>
        <p:nvSpPr>
          <p:cNvPr id="41" name="CD_10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6000" dirty="0"/>
          </a:p>
        </p:txBody>
      </p:sp>
      <p:sp>
        <p:nvSpPr>
          <p:cNvPr id="42" name="CD_9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6000" dirty="0"/>
          </a:p>
        </p:txBody>
      </p:sp>
      <p:sp>
        <p:nvSpPr>
          <p:cNvPr id="43" name="CD_8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6000" dirty="0"/>
          </a:p>
        </p:txBody>
      </p:sp>
      <p:sp>
        <p:nvSpPr>
          <p:cNvPr id="44" name="CD_7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6000" dirty="0"/>
          </a:p>
        </p:txBody>
      </p:sp>
      <p:sp>
        <p:nvSpPr>
          <p:cNvPr id="45" name="CD_6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6000" dirty="0"/>
          </a:p>
        </p:txBody>
      </p:sp>
      <p:sp>
        <p:nvSpPr>
          <p:cNvPr id="46" name="CD_5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6000" dirty="0"/>
          </a:p>
        </p:txBody>
      </p:sp>
      <p:sp>
        <p:nvSpPr>
          <p:cNvPr id="47" name="CD_4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6000" dirty="0"/>
          </a:p>
        </p:txBody>
      </p:sp>
      <p:sp>
        <p:nvSpPr>
          <p:cNvPr id="48" name="CD_3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6000" dirty="0"/>
          </a:p>
        </p:txBody>
      </p:sp>
      <p:sp>
        <p:nvSpPr>
          <p:cNvPr id="49" name="CD_2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6000" dirty="0"/>
          </a:p>
        </p:txBody>
      </p:sp>
      <p:sp>
        <p:nvSpPr>
          <p:cNvPr id="50" name="CD_1"/>
          <p:cNvSpPr txBox="1"/>
          <p:nvPr/>
        </p:nvSpPr>
        <p:spPr>
          <a:xfrm>
            <a:off x="5462922" y="86868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B5451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6000" dirty="0"/>
          </a:p>
        </p:txBody>
      </p:sp>
      <p:sp>
        <p:nvSpPr>
          <p:cNvPr id="51" name="Text 48"/>
          <p:cNvSpPr txBox="1"/>
          <p:nvPr/>
        </p:nvSpPr>
        <p:spPr>
          <a:xfrm>
            <a:off x="3793524" y="2468880"/>
            <a:ext cx="489327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секунд на ответ</a:t>
            </a:r>
            <a:endParaRPr lang="en-US" sz="1200" dirty="0"/>
          </a:p>
        </p:txBody>
      </p:sp>
      <p:sp>
        <p:nvSpPr>
          <p:cNvPr id="52" name="Text 49"/>
          <p:cNvSpPr txBox="1"/>
          <p:nvPr/>
        </p:nvSpPr>
        <p:spPr>
          <a:xfrm>
            <a:off x="3793524" y="2880360"/>
            <a:ext cx="4893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spc="1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8</a:t>
            </a:r>
            <a:endParaRPr lang="en-US" sz="1500" dirty="0"/>
          </a:p>
        </p:txBody>
      </p:sp>
      <p:sp>
        <p:nvSpPr>
          <p:cNvPr id="53" name="Text 50"/>
          <p:cNvSpPr txBox="1"/>
          <p:nvPr/>
        </p:nvSpPr>
        <p:spPr>
          <a:xfrm>
            <a:off x="3793524" y="3200400"/>
            <a:ext cx="489327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Кто это?</a:t>
            </a:r>
            <a:endParaRPr lang="en-US" sz="3600" dirty="0"/>
          </a:p>
        </p:txBody>
      </p:sp>
      <p:sp>
        <p:nvSpPr>
          <p:cNvPr id="54" name="Text 51"/>
          <p:cNvSpPr txBox="1"/>
          <p:nvPr/>
        </p:nvSpPr>
        <p:spPr>
          <a:xfrm>
            <a:off x="3793524" y="3840480"/>
            <a:ext cx="48932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A6A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Узнали? Назовите имя коллеги!</a:t>
            </a:r>
            <a:endParaRPr lang="en-US" sz="1400" dirty="0"/>
          </a:p>
        </p:txBody>
      </p:sp>
      <p:pic>
        <p:nvPicPr>
          <p:cNvPr id="55" name="Image 1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4160520"/>
            <a:ext cx="777240" cy="777240"/>
          </a:xfrm>
          <a:prstGeom prst="rect">
            <a:avLst/>
          </a:prstGeom>
        </p:spPr>
      </p:pic>
      <p:pic>
        <p:nvPicPr>
          <p:cNvPr id="56" name="Image 2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84964" y="4251960"/>
            <a:ext cx="640080" cy="640080"/>
          </a:xfrm>
          <a:prstGeom prst="rect">
            <a:avLst/>
          </a:prstGeom>
        </p:spPr>
      </p:pic>
    </p:spTree>
  </p:cSld>
  <p:clrMapOvr>
    <a:masterClrMapping/>
  </p:clrMapOvr>
  <p:transition spd="med" advTm="45000">
    <p:fade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" fill="hold">
                            <p:stCondLst>
                              <p:cond delay="1000"/>
                            </p:stCondLst>
                            <p:childTnLst>
                              <p:par>
                                <p:cTn id="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2000"/>
                            </p:stCondLst>
                            <p:childTnLst>
                              <p:par>
                                <p:cTn id="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" fill="hold">
                            <p:stCondLst>
                              <p:cond delay="3000"/>
                            </p:stCondLst>
                            <p:childTnLst>
                              <p:par>
                                <p:cTn id="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4000"/>
                            </p:stCondLst>
                            <p:childTnLst>
                              <p:par>
                                <p:cTn id="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5000"/>
                            </p:stCondLst>
                            <p:childTnLst>
                              <p:par>
                                <p:cTn id="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6000"/>
                            </p:stCondLst>
                            <p:childTnLst>
                              <p:par>
                                <p:cTn id="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7000"/>
                            </p:stCondLst>
                            <p:childTnLst>
                              <p:par>
                                <p:cTn id="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2" fill="hold">
                            <p:stCondLst>
                              <p:cond delay="8000"/>
                            </p:stCondLst>
                            <p:childTnLst>
                              <p:par>
                                <p:cTn id="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7" fill="hold">
                            <p:stCondLst>
                              <p:cond delay="9000"/>
                            </p:stCondLst>
                            <p:childTnLst>
                              <p:par>
                                <p:cTn id="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10000"/>
                            </p:stCondLst>
                            <p:childTnLst>
                              <p:par>
                                <p:cTn id="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7" fill="hold">
                            <p:stCondLst>
                              <p:cond delay="11000"/>
                            </p:stCondLst>
                            <p:childTnLst>
                              <p:par>
                                <p:cTn id="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2" fill="hold">
                            <p:stCondLst>
                              <p:cond delay="12000"/>
                            </p:stCondLst>
                            <p:childTnLst>
                              <p:par>
                                <p:cTn id="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13000"/>
                            </p:stCondLst>
                            <p:childTnLst>
                              <p:par>
                                <p:cTn id="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4000"/>
                            </p:stCondLst>
                            <p:childTnLst>
                              <p:par>
                                <p:cTn id="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7" fill="hold">
                            <p:stCondLst>
                              <p:cond delay="15000"/>
                            </p:stCondLst>
                            <p:childTnLst>
                              <p:par>
                                <p:cTn id="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2" fill="hold">
                            <p:stCondLst>
                              <p:cond delay="16000"/>
                            </p:stCondLst>
                            <p:childTnLst>
                              <p:par>
                                <p:cTn id="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7" fill="hold">
                            <p:stCondLst>
                              <p:cond delay="17000"/>
                            </p:stCondLst>
                            <p:childTnLst>
                              <p:par>
                                <p:cTn id="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18000"/>
                            </p:stCondLst>
                            <p:childTnLst>
                              <p:par>
                                <p:cTn id="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7" fill="hold">
                            <p:stCondLst>
                              <p:cond delay="19000"/>
                            </p:stCondLst>
                            <p:childTnLst>
                              <p:par>
                                <p:cTn id="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2" fill="hold">
                            <p:stCondLst>
                              <p:cond delay="20000"/>
                            </p:stCondLst>
                            <p:childTnLst>
                              <p:par>
                                <p:cTn id="1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21000"/>
                            </p:stCondLst>
                            <p:childTnLst>
                              <p:par>
                                <p:cTn id="1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22000"/>
                            </p:stCondLst>
                            <p:childTnLst>
                              <p:par>
                                <p:cTn id="1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7" fill="hold">
                            <p:stCondLst>
                              <p:cond delay="23000"/>
                            </p:stCondLst>
                            <p:childTnLst>
                              <p:par>
                                <p:cTn id="1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2" fill="hold">
                            <p:stCondLst>
                              <p:cond delay="24000"/>
                            </p:stCondLst>
                            <p:childTnLst>
                              <p:par>
                                <p:cTn id="1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7" fill="hold">
                            <p:stCondLst>
                              <p:cond delay="25000"/>
                            </p:stCondLst>
                            <p:childTnLst>
                              <p:par>
                                <p:cTn id="12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26000"/>
                            </p:stCondLst>
                            <p:childTnLst>
                              <p:par>
                                <p:cTn id="13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7" fill="hold">
                            <p:stCondLst>
                              <p:cond delay="27000"/>
                            </p:stCondLst>
                            <p:childTnLst>
                              <p:par>
                                <p:cTn id="13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2" fill="hold">
                            <p:stCondLst>
                              <p:cond delay="28000"/>
                            </p:stCondLst>
                            <p:childTnLst>
                              <p:par>
                                <p:cTn id="14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4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29000"/>
                            </p:stCondLst>
                            <p:childTnLst>
                              <p:par>
                                <p:cTn id="14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30000"/>
                            </p:stCondLst>
                            <p:childTnLst>
                              <p:par>
                                <p:cTn id="15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7" fill="hold">
                            <p:stCondLst>
                              <p:cond delay="31000"/>
                            </p:stCondLst>
                            <p:childTnLst>
                              <p:par>
                                <p:cTn id="15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2" fill="hold">
                            <p:stCondLst>
                              <p:cond delay="32000"/>
                            </p:stCondLst>
                            <p:childTnLst>
                              <p:par>
                                <p:cTn id="16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6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7" fill="hold">
                            <p:stCondLst>
                              <p:cond delay="33000"/>
                            </p:stCondLst>
                            <p:childTnLst>
                              <p:par>
                                <p:cTn id="16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2" fill="hold">
                            <p:stCondLst>
                              <p:cond delay="34000"/>
                            </p:stCondLst>
                            <p:childTnLst>
                              <p:par>
                                <p:cTn id="17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77" fill="hold">
                            <p:stCondLst>
                              <p:cond delay="35000"/>
                            </p:stCondLst>
                            <p:childTnLst>
                              <p:par>
                                <p:cTn id="17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2" fill="hold">
                            <p:stCondLst>
                              <p:cond delay="36000"/>
                            </p:stCondLst>
                            <p:childTnLst>
                              <p:par>
                                <p:cTn id="18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8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7" fill="hold">
                            <p:stCondLst>
                              <p:cond delay="37000"/>
                            </p:stCondLst>
                            <p:childTnLst>
                              <p:par>
                                <p:cTn id="18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2" fill="hold">
                            <p:stCondLst>
                              <p:cond delay="38000"/>
                            </p:stCondLst>
                            <p:childTnLst>
                              <p:par>
                                <p:cTn id="19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7" fill="hold">
                            <p:stCondLst>
                              <p:cond delay="39000"/>
                            </p:stCondLst>
                            <p:childTnLst>
                              <p:par>
                                <p:cTn id="19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2" fill="hold">
                            <p:stCondLst>
                              <p:cond delay="40000"/>
                            </p:stCondLst>
                            <p:childTnLst>
                              <p:par>
                                <p:cTn id="20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0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07" fill="hold">
                            <p:stCondLst>
                              <p:cond delay="41000"/>
                            </p:stCondLst>
                            <p:childTnLst>
                              <p:par>
                                <p:cTn id="20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2" fill="hold">
                            <p:stCondLst>
                              <p:cond delay="42000"/>
                            </p:stCondLst>
                            <p:childTnLst>
                              <p:par>
                                <p:cTn id="21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17" fill="hold">
                            <p:stCondLst>
                              <p:cond delay="43000"/>
                            </p:stCondLst>
                            <p:childTnLst>
                              <p:par>
                                <p:cTn id="218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0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2" fill="hold">
                            <p:stCondLst>
                              <p:cond delay="44000"/>
                            </p:stCondLst>
                            <p:childTnLst>
                              <p:par>
                                <p:cTn id="223" presetID="1" presetClass="exit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0" grpId="0"/>
      <p:bldP spid="49" grpId="0"/>
      <p:bldP spid="48" grpId="0"/>
      <p:bldP spid="47" grpId="0"/>
      <p:bldP spid="46" grpId="0"/>
      <p:bldP spid="45" grpId="0"/>
      <p:bldP spid="44" grpId="0"/>
      <p:bldP spid="43" grpId="0"/>
      <p:bldP spid="42" grpId="0"/>
      <p:bldP spid="41" grpId="0"/>
      <p:bldP spid="40" grpId="0"/>
      <p:bldP spid="39" grpId="0"/>
      <p:bldP spid="38" grpId="0"/>
      <p:bldP spid="37" grpId="0"/>
      <p:bldP spid="36" grpId="0"/>
      <p:bldP spid="35" grpId="0"/>
      <p:bldP spid="34" grpId="0"/>
      <p:bldP spid="33" grpId="0"/>
      <p:bldP spid="32" grpId="0"/>
      <p:bldP spid="31" grpId="0"/>
      <p:bldP spid="30" grpId="0"/>
      <p:bldP spid="29" grpId="0"/>
      <p:bldP spid="28" grpId="0"/>
      <p:bldP spid="27" grpId="0"/>
      <p:bldP spid="26" grpId="0"/>
      <p:bldP spid="25" grpId="0"/>
      <p:bldP spid="24" grpId="0"/>
      <p:bldP spid="23" grpId="0"/>
      <p:bldP spid="22" grpId="0"/>
      <p:bldP spid="21" grpId="0"/>
      <p:bldP spid="20" grpId="0"/>
      <p:bldP spid="19" grpId="0"/>
      <p:bldP spid="18" grpId="0"/>
      <p:bldP spid="17" grpId="0"/>
      <p:bldP spid="16" grpId="0"/>
      <p:bldP spid="15" grpId="0"/>
      <p:bldP spid="14" grpId="0"/>
      <p:bldP spid="13" grpId="0"/>
      <p:bldP spid="12" grpId="0"/>
      <p:bldP spid="11" grpId="0"/>
      <p:bldP spid="10" grpId="0"/>
      <p:bldP spid="9" grpId="0"/>
      <p:bldP spid="8" grpId="0"/>
      <p:bldP spid="7" grpId="0"/>
      <p:bldP spid="6" grpId="0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1 · ОТВЕТ</a:t>
            </a:r>
            <a:endParaRPr lang="en-US" sz="1100" dirty="0"/>
          </a:p>
        </p:txBody>
      </p:sp>
      <p:sp>
        <p:nvSpPr>
          <p:cNvPr id="3" name="Shape 1"/>
          <p:cNvSpPr/>
          <p:nvPr/>
        </p:nvSpPr>
        <p:spPr>
          <a:xfrm>
            <a:off x="548640" y="896112"/>
            <a:ext cx="2635879" cy="3520440"/>
          </a:xfrm>
          <a:prstGeom prst="roundRect">
            <a:avLst>
              <a:gd name="adj" fmla="val 3469"/>
            </a:avLst>
          </a:prstGeom>
          <a:solidFill>
            <a:srgbClr val="FFFFFF"/>
          </a:solidFill>
          <a:ln w="38100">
            <a:solidFill>
              <a:srgbClr val="EBB021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25000"/>
              </a:srgbClr>
            </a:outerShdw>
          </a:effectLst>
        </p:spPr>
      </p:sp>
      <p:pic>
        <p:nvPicPr>
          <p:cNvPr id="4" name="Image 0" descr="/tmp/claude-0/-home-user-heinrich-mario/e7688653-8e48-5480-a009-7b18c0e4f8cc/scratchpad/photos/8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1005840"/>
            <a:ext cx="2416423" cy="3300984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3641719" y="1051560"/>
            <a:ext cx="5045081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Фото № 8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3641719" y="1463040"/>
            <a:ext cx="5045081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Это —</a:t>
            </a:r>
            <a:endParaRPr lang="en-US" sz="2200" dirty="0"/>
          </a:p>
        </p:txBody>
      </p:sp>
      <p:sp>
        <p:nvSpPr>
          <p:cNvPr id="7" name="Text 4"/>
          <p:cNvSpPr txBox="1"/>
          <p:nvPr/>
        </p:nvSpPr>
        <p:spPr>
          <a:xfrm>
            <a:off x="3641719" y="1874520"/>
            <a:ext cx="5045081" cy="169164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Захарова Ирина Алексеевна</a:t>
            </a:r>
            <a:endParaRPr lang="en-US" sz="3000" dirty="0"/>
          </a:p>
        </p:txBody>
      </p:sp>
      <p:sp>
        <p:nvSpPr>
          <p:cNvPr id="8" name="Text 5"/>
          <p:cNvSpPr txBox="1"/>
          <p:nvPr/>
        </p:nvSpPr>
        <p:spPr>
          <a:xfrm>
            <a:off x="3641719" y="3611880"/>
            <a:ext cx="5045081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воспитатель нашей школы</a:t>
            </a:r>
            <a:endParaRPr lang="en-US" sz="1500" dirty="0"/>
          </a:p>
        </p:txBody>
      </p:sp>
      <p:pic>
        <p:nvPicPr>
          <p:cNvPr id="9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63840" y="3977640"/>
            <a:ext cx="868680" cy="868680"/>
          </a:xfrm>
          <a:prstGeom prst="rect">
            <a:avLst/>
          </a:prstGeom>
        </p:spPr>
      </p:pic>
      <p:pic>
        <p:nvPicPr>
          <p:cNvPr id="10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33159" y="4069080"/>
            <a:ext cx="685800" cy="6858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Быстрые вопросы — быстрые ответы. Отвечает команда, первой поднявшая руку. Правильный ответ появляется на экране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 · ВОПРОСЫ 1–5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53896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37160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Какого числа отмечают День учителя?</a:t>
            </a:r>
            <a:endParaRPr lang="en-US" sz="1600" dirty="0"/>
          </a:p>
        </p:txBody>
      </p:sp>
      <p:sp>
        <p:nvSpPr>
          <p:cNvPr id="10" name="BADGE_1"/>
          <p:cNvSpPr txBox="1"/>
          <p:nvPr/>
        </p:nvSpPr>
        <p:spPr>
          <a:xfrm>
            <a:off x="5623560" y="1463040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6062472" y="1371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октября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029968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2112264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2029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расшифровывается ГПД?</a:t>
            </a:r>
            <a:endParaRPr lang="en-US" sz="1600" dirty="0"/>
          </a:p>
        </p:txBody>
      </p:sp>
      <p:sp>
        <p:nvSpPr>
          <p:cNvPr id="16" name="BADGE_2"/>
          <p:cNvSpPr txBox="1"/>
          <p:nvPr/>
        </p:nvSpPr>
        <p:spPr>
          <a:xfrm>
            <a:off x="5623560" y="2121408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6062472" y="20299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Группа продлённого дня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2688336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770632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минут длится обычный урок?</a:t>
            </a:r>
            <a:endParaRPr lang="en-US" sz="1600" dirty="0"/>
          </a:p>
        </p:txBody>
      </p:sp>
      <p:sp>
        <p:nvSpPr>
          <p:cNvPr id="22" name="BADGE_3"/>
          <p:cNvSpPr txBox="1"/>
          <p:nvPr/>
        </p:nvSpPr>
        <p:spPr>
          <a:xfrm>
            <a:off x="5623560" y="2779776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6062472" y="26883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45 минут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3346704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3429000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334670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называется перерыв между уроками?</a:t>
            </a:r>
            <a:endParaRPr lang="en-US" sz="1600" dirty="0"/>
          </a:p>
        </p:txBody>
      </p:sp>
      <p:sp>
        <p:nvSpPr>
          <p:cNvPr id="28" name="BADGE_4"/>
          <p:cNvSpPr txBox="1"/>
          <p:nvPr/>
        </p:nvSpPr>
        <p:spPr>
          <a:xfrm>
            <a:off x="5623560" y="3438144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6062472" y="33467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Перемена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005072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4087368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400507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Какой праздник отмечают 1 сентября?</a:t>
            </a:r>
            <a:endParaRPr lang="en-US" sz="1600" dirty="0"/>
          </a:p>
        </p:txBody>
      </p:sp>
      <p:sp>
        <p:nvSpPr>
          <p:cNvPr id="34" name="BADGE_5"/>
          <p:cNvSpPr txBox="1"/>
          <p:nvPr/>
        </p:nvSpPr>
        <p:spPr>
          <a:xfrm>
            <a:off x="5623560" y="4096512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35" name="ANS_5"/>
          <p:cNvSpPr txBox="1"/>
          <p:nvPr/>
        </p:nvSpPr>
        <p:spPr>
          <a:xfrm>
            <a:off x="6062472" y="4005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День знаний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10" grpId="0" animBg="1"/>
      <p:bldP spid="16" grpId="0" animBg="1"/>
      <p:bldP spid="22" grpId="0" animBg="1"/>
      <p:bldP spid="28" grpId="0" animBg="1"/>
      <p:bldP spid="3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2 · ВОПРОСЫ 6–10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Блиц-опрос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71600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53896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453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371600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Куда ученик записывает домашнее задание?</a:t>
            </a:r>
            <a:endParaRPr lang="en-US" sz="1600" dirty="0"/>
          </a:p>
        </p:txBody>
      </p:sp>
      <p:sp>
        <p:nvSpPr>
          <p:cNvPr id="10" name="BADGE_1"/>
          <p:cNvSpPr txBox="1"/>
          <p:nvPr/>
        </p:nvSpPr>
        <p:spPr>
          <a:xfrm>
            <a:off x="5623560" y="1463040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6062472" y="1371600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 дневник</a:t>
            </a:r>
            <a:endParaRPr lang="en-US" sz="1600" dirty="0"/>
          </a:p>
        </p:txBody>
      </p:sp>
      <p:sp>
        <p:nvSpPr>
          <p:cNvPr id="12" name="Shape 8"/>
          <p:cNvSpPr/>
          <p:nvPr/>
        </p:nvSpPr>
        <p:spPr>
          <a:xfrm>
            <a:off x="548640" y="2029968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2112264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2112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4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2029968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Сколько дней в учебной неделе при пятидневке?</a:t>
            </a:r>
            <a:endParaRPr lang="en-US" sz="1600" dirty="0"/>
          </a:p>
        </p:txBody>
      </p:sp>
      <p:sp>
        <p:nvSpPr>
          <p:cNvPr id="16" name="BADGE_2"/>
          <p:cNvSpPr txBox="1"/>
          <p:nvPr/>
        </p:nvSpPr>
        <p:spPr>
          <a:xfrm>
            <a:off x="5623560" y="2121408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6062472" y="2029968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Пять</a:t>
            </a:r>
            <a:endParaRPr lang="en-US" sz="1600" dirty="0"/>
          </a:p>
        </p:txBody>
      </p:sp>
      <p:sp>
        <p:nvSpPr>
          <p:cNvPr id="18" name="Shape 14"/>
          <p:cNvSpPr/>
          <p:nvPr/>
        </p:nvSpPr>
        <p:spPr>
          <a:xfrm>
            <a:off x="548640" y="2688336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770632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7706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4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688336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 называется главный документ класса с отметками?</a:t>
            </a:r>
            <a:endParaRPr lang="en-US" sz="1600" dirty="0"/>
          </a:p>
        </p:txBody>
      </p:sp>
      <p:sp>
        <p:nvSpPr>
          <p:cNvPr id="22" name="BADGE_3"/>
          <p:cNvSpPr txBox="1"/>
          <p:nvPr/>
        </p:nvSpPr>
        <p:spPr>
          <a:xfrm>
            <a:off x="5623560" y="2779776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6062472" y="2688336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Классный журнал</a:t>
            </a:r>
            <a:endParaRPr lang="en-US" sz="1600" dirty="0"/>
          </a:p>
        </p:txBody>
      </p:sp>
      <p:sp>
        <p:nvSpPr>
          <p:cNvPr id="24" name="Shape 20"/>
          <p:cNvSpPr/>
          <p:nvPr/>
        </p:nvSpPr>
        <p:spPr>
          <a:xfrm>
            <a:off x="548640" y="3346704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3429000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34290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4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3346704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Какое время года открывает учебный год?</a:t>
            </a:r>
            <a:endParaRPr lang="en-US" sz="1600" dirty="0"/>
          </a:p>
        </p:txBody>
      </p:sp>
      <p:sp>
        <p:nvSpPr>
          <p:cNvPr id="28" name="BADGE_4"/>
          <p:cNvSpPr txBox="1"/>
          <p:nvPr/>
        </p:nvSpPr>
        <p:spPr>
          <a:xfrm>
            <a:off x="5623560" y="3438144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6062472" y="3346704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Осень</a:t>
            </a:r>
            <a:endParaRPr lang="en-US" sz="1600" dirty="0"/>
          </a:p>
        </p:txBody>
      </p:sp>
      <p:sp>
        <p:nvSpPr>
          <p:cNvPr id="30" name="Shape 26"/>
          <p:cNvSpPr/>
          <p:nvPr/>
        </p:nvSpPr>
        <p:spPr>
          <a:xfrm>
            <a:off x="548640" y="4005072"/>
            <a:ext cx="8046720" cy="5486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4087368"/>
            <a:ext cx="384048" cy="384048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4087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4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4005072"/>
            <a:ext cx="4343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в школе «и швец, и жнец, и на дуде игрец»?</a:t>
            </a:r>
            <a:endParaRPr lang="en-US" sz="1600" dirty="0"/>
          </a:p>
        </p:txBody>
      </p:sp>
      <p:sp>
        <p:nvSpPr>
          <p:cNvPr id="34" name="BADGE_5"/>
          <p:cNvSpPr txBox="1"/>
          <p:nvPr/>
        </p:nvSpPr>
        <p:spPr>
          <a:xfrm>
            <a:off x="5623560" y="4096512"/>
            <a:ext cx="365760" cy="365760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35" name="ANS_5"/>
          <p:cNvSpPr txBox="1"/>
          <p:nvPr/>
        </p:nvSpPr>
        <p:spPr>
          <a:xfrm>
            <a:off x="6062472" y="4005072"/>
            <a:ext cx="2743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Конечно, воспитатель!</a:t>
            </a:r>
            <a:endParaRPr lang="en-US" sz="16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10" grpId="0" animBg="1"/>
      <p:bldP spid="16" grpId="0" animBg="1"/>
      <p:bldP spid="22" grpId="0" animBg="1"/>
      <p:bldP spid="28" grpId="0" animBg="1"/>
      <p:bldP spid="34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Ведущий читает начало народной мудрости — команда договаривает конец. Пословицы про ученье, труд и детей. Ответ появится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 · ПОСЛОВИЦЫ 1–7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29844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34874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3487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29844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Ученье — свет, …</a:t>
            </a:r>
            <a:endParaRPr lang="en-US" sz="1450" dirty="0"/>
          </a:p>
        </p:txBody>
      </p:sp>
      <p:sp>
        <p:nvSpPr>
          <p:cNvPr id="10" name="BADGE_1"/>
          <p:cNvSpPr txBox="1"/>
          <p:nvPr/>
        </p:nvSpPr>
        <p:spPr>
          <a:xfrm>
            <a:off x="4846320" y="134874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1" name="ANS_1"/>
          <p:cNvSpPr txBox="1"/>
          <p:nvPr/>
        </p:nvSpPr>
        <p:spPr>
          <a:xfrm>
            <a:off x="5248656" y="129844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а неученье — тьма.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548640" y="179679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184708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179679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Без труда …</a:t>
            </a:r>
            <a:endParaRPr lang="en-US" sz="1450" dirty="0"/>
          </a:p>
        </p:txBody>
      </p:sp>
      <p:sp>
        <p:nvSpPr>
          <p:cNvPr id="16" name="BADGE_2"/>
          <p:cNvSpPr txBox="1"/>
          <p:nvPr/>
        </p:nvSpPr>
        <p:spPr>
          <a:xfrm>
            <a:off x="4846320" y="184708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7" name="ANS_2"/>
          <p:cNvSpPr txBox="1"/>
          <p:nvPr/>
        </p:nvSpPr>
        <p:spPr>
          <a:xfrm>
            <a:off x="5248656" y="179679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вытащишь и рыбку из пруда.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548640" y="2295144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345436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295144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Повторенье — …</a:t>
            </a:r>
            <a:endParaRPr lang="en-US" sz="1450" dirty="0"/>
          </a:p>
        </p:txBody>
      </p:sp>
      <p:sp>
        <p:nvSpPr>
          <p:cNvPr id="22" name="BADGE_3"/>
          <p:cNvSpPr txBox="1"/>
          <p:nvPr/>
        </p:nvSpPr>
        <p:spPr>
          <a:xfrm>
            <a:off x="4846320" y="2345436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3" name="ANS_3"/>
          <p:cNvSpPr txBox="1"/>
          <p:nvPr/>
        </p:nvSpPr>
        <p:spPr>
          <a:xfrm>
            <a:off x="5248656" y="2295144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мать ученья.</a:t>
            </a:r>
            <a:endParaRPr lang="en-US" sz="1450" dirty="0"/>
          </a:p>
        </p:txBody>
      </p:sp>
      <p:sp>
        <p:nvSpPr>
          <p:cNvPr id="24" name="Shape 20"/>
          <p:cNvSpPr/>
          <p:nvPr/>
        </p:nvSpPr>
        <p:spPr>
          <a:xfrm>
            <a:off x="548640" y="2793492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2843784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2843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2793492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Терпенье и труд …</a:t>
            </a:r>
            <a:endParaRPr lang="en-US" sz="1450" dirty="0"/>
          </a:p>
        </p:txBody>
      </p:sp>
      <p:sp>
        <p:nvSpPr>
          <p:cNvPr id="28" name="BADGE_4"/>
          <p:cNvSpPr txBox="1"/>
          <p:nvPr/>
        </p:nvSpPr>
        <p:spPr>
          <a:xfrm>
            <a:off x="4846320" y="2843784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9" name="ANS_4"/>
          <p:cNvSpPr txBox="1"/>
          <p:nvPr/>
        </p:nvSpPr>
        <p:spPr>
          <a:xfrm>
            <a:off x="5248656" y="2793492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всё перетрут.</a:t>
            </a:r>
            <a:endParaRPr lang="en-US" sz="1450" dirty="0"/>
          </a:p>
        </p:txBody>
      </p:sp>
      <p:sp>
        <p:nvSpPr>
          <p:cNvPr id="30" name="Shape 26"/>
          <p:cNvSpPr/>
          <p:nvPr/>
        </p:nvSpPr>
        <p:spPr>
          <a:xfrm>
            <a:off x="548640" y="3291840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3342132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33421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3291840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 живи — …</a:t>
            </a:r>
            <a:endParaRPr lang="en-US" sz="1450" dirty="0"/>
          </a:p>
        </p:txBody>
      </p:sp>
      <p:sp>
        <p:nvSpPr>
          <p:cNvPr id="34" name="BADGE_5"/>
          <p:cNvSpPr txBox="1"/>
          <p:nvPr/>
        </p:nvSpPr>
        <p:spPr>
          <a:xfrm>
            <a:off x="4846320" y="3342132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35" name="ANS_5"/>
          <p:cNvSpPr txBox="1"/>
          <p:nvPr/>
        </p:nvSpPr>
        <p:spPr>
          <a:xfrm>
            <a:off x="5248656" y="329184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век учись.</a:t>
            </a:r>
            <a:endParaRPr lang="en-US" sz="1450" dirty="0"/>
          </a:p>
        </p:txBody>
      </p:sp>
      <p:sp>
        <p:nvSpPr>
          <p:cNvPr id="36" name="Shape 32"/>
          <p:cNvSpPr/>
          <p:nvPr/>
        </p:nvSpPr>
        <p:spPr>
          <a:xfrm>
            <a:off x="548640" y="379018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658368" y="384048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5836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1188720" y="379018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Грамоте учиться — …</a:t>
            </a:r>
            <a:endParaRPr lang="en-US" sz="1450" dirty="0"/>
          </a:p>
        </p:txBody>
      </p:sp>
      <p:sp>
        <p:nvSpPr>
          <p:cNvPr id="40" name="BADGE_6"/>
          <p:cNvSpPr txBox="1"/>
          <p:nvPr/>
        </p:nvSpPr>
        <p:spPr>
          <a:xfrm>
            <a:off x="4846320" y="384048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1" name="ANS_6"/>
          <p:cNvSpPr txBox="1"/>
          <p:nvPr/>
        </p:nvSpPr>
        <p:spPr>
          <a:xfrm>
            <a:off x="5248656" y="379018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всегда пригодится.</a:t>
            </a:r>
            <a:endParaRPr lang="en-US" sz="1450" dirty="0"/>
          </a:p>
        </p:txBody>
      </p:sp>
      <p:sp>
        <p:nvSpPr>
          <p:cNvPr id="42" name="Shape 38"/>
          <p:cNvSpPr/>
          <p:nvPr/>
        </p:nvSpPr>
        <p:spPr>
          <a:xfrm>
            <a:off x="548640" y="428853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3" name="Shape 39"/>
          <p:cNvSpPr/>
          <p:nvPr/>
        </p:nvSpPr>
        <p:spPr>
          <a:xfrm>
            <a:off x="658368" y="433882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658368" y="43388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1188720" y="428853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посеешь, …</a:t>
            </a:r>
            <a:endParaRPr lang="en-US" sz="1450" dirty="0"/>
          </a:p>
        </p:txBody>
      </p:sp>
      <p:sp>
        <p:nvSpPr>
          <p:cNvPr id="46" name="BADGE_7"/>
          <p:cNvSpPr txBox="1"/>
          <p:nvPr/>
        </p:nvSpPr>
        <p:spPr>
          <a:xfrm>
            <a:off x="4846320" y="433882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7" name="ANS_7"/>
          <p:cNvSpPr txBox="1"/>
          <p:nvPr/>
        </p:nvSpPr>
        <p:spPr>
          <a:xfrm>
            <a:off x="5248656" y="428853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 и пожнёшь.</a:t>
            </a:r>
            <a:endParaRPr lang="en-US" sz="1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41" grpId="0"/>
      <p:bldP spid="47" grpId="0"/>
      <p:bldP spid="10" grpId="0" animBg="1"/>
      <p:bldP spid="16" grpId="0" animBg="1"/>
      <p:bldP spid="22" grpId="0" animBg="1"/>
      <p:bldP spid="28" grpId="0" animBg="1"/>
      <p:bldP spid="34" grpId="0" animBg="1"/>
      <p:bldP spid="40" grpId="0" animBg="1"/>
      <p:bldP spid="46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3 · ПОСЛОВИЦЫ 8–14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Закончи пословицу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29844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34874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8" name="Text 4"/>
          <p:cNvSpPr txBox="1"/>
          <p:nvPr/>
        </p:nvSpPr>
        <p:spPr>
          <a:xfrm>
            <a:off x="658368" y="134874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9" name="Text 5"/>
          <p:cNvSpPr txBox="1"/>
          <p:nvPr/>
        </p:nvSpPr>
        <p:spPr>
          <a:xfrm>
            <a:off x="1188720" y="129844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 стыдно не знать, …</a:t>
            </a:r>
            <a:endParaRPr lang="en-US" sz="1450" dirty="0"/>
          </a:p>
        </p:txBody>
      </p:sp>
      <p:sp>
        <p:nvSpPr>
          <p:cNvPr id="10" name="BADGE_1"/>
          <p:cNvSpPr txBox="1"/>
          <p:nvPr/>
        </p:nvSpPr>
        <p:spPr>
          <a:xfrm>
            <a:off x="4846320" y="134874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1" name="ANS_1"/>
          <p:cNvSpPr txBox="1"/>
          <p:nvPr/>
        </p:nvSpPr>
        <p:spPr>
          <a:xfrm>
            <a:off x="5248656" y="129844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стыдно не учиться.</a:t>
            </a:r>
            <a:endParaRPr lang="en-US" sz="1450" dirty="0"/>
          </a:p>
        </p:txBody>
      </p:sp>
      <p:sp>
        <p:nvSpPr>
          <p:cNvPr id="12" name="Shape 8"/>
          <p:cNvSpPr/>
          <p:nvPr/>
        </p:nvSpPr>
        <p:spPr>
          <a:xfrm>
            <a:off x="548640" y="179679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658368" y="184708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4" name="Text 10"/>
          <p:cNvSpPr txBox="1"/>
          <p:nvPr/>
        </p:nvSpPr>
        <p:spPr>
          <a:xfrm>
            <a:off x="658368" y="184708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15" name="Text 11"/>
          <p:cNvSpPr txBox="1"/>
          <p:nvPr/>
        </p:nvSpPr>
        <p:spPr>
          <a:xfrm>
            <a:off x="1188720" y="179679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Корень ученья горек, …</a:t>
            </a:r>
            <a:endParaRPr lang="en-US" sz="1450" dirty="0"/>
          </a:p>
        </p:txBody>
      </p:sp>
      <p:sp>
        <p:nvSpPr>
          <p:cNvPr id="16" name="BADGE_2"/>
          <p:cNvSpPr txBox="1"/>
          <p:nvPr/>
        </p:nvSpPr>
        <p:spPr>
          <a:xfrm>
            <a:off x="4846320" y="184708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17" name="ANS_2"/>
          <p:cNvSpPr txBox="1"/>
          <p:nvPr/>
        </p:nvSpPr>
        <p:spPr>
          <a:xfrm>
            <a:off x="5248656" y="179679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да плод его сладок.</a:t>
            </a:r>
            <a:endParaRPr lang="en-US" sz="1450" dirty="0"/>
          </a:p>
        </p:txBody>
      </p:sp>
      <p:sp>
        <p:nvSpPr>
          <p:cNvPr id="18" name="Shape 14"/>
          <p:cNvSpPr/>
          <p:nvPr/>
        </p:nvSpPr>
        <p:spPr>
          <a:xfrm>
            <a:off x="548640" y="2295144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58368" y="2345436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0" name="Text 16"/>
          <p:cNvSpPr txBox="1"/>
          <p:nvPr/>
        </p:nvSpPr>
        <p:spPr>
          <a:xfrm>
            <a:off x="658368" y="2345436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21" name="Text 17"/>
          <p:cNvSpPr txBox="1"/>
          <p:nvPr/>
        </p:nvSpPr>
        <p:spPr>
          <a:xfrm>
            <a:off x="1188720" y="2295144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Кто много читает, …</a:t>
            </a:r>
            <a:endParaRPr lang="en-US" sz="1450" dirty="0"/>
          </a:p>
        </p:txBody>
      </p:sp>
      <p:sp>
        <p:nvSpPr>
          <p:cNvPr id="22" name="BADGE_3"/>
          <p:cNvSpPr txBox="1"/>
          <p:nvPr/>
        </p:nvSpPr>
        <p:spPr>
          <a:xfrm>
            <a:off x="4846320" y="2345436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3" name="ANS_3"/>
          <p:cNvSpPr txBox="1"/>
          <p:nvPr/>
        </p:nvSpPr>
        <p:spPr>
          <a:xfrm>
            <a:off x="5248656" y="2295144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тот много знает.</a:t>
            </a:r>
            <a:endParaRPr lang="en-US" sz="1450" dirty="0"/>
          </a:p>
        </p:txBody>
      </p:sp>
      <p:sp>
        <p:nvSpPr>
          <p:cNvPr id="24" name="Shape 20"/>
          <p:cNvSpPr/>
          <p:nvPr/>
        </p:nvSpPr>
        <p:spPr>
          <a:xfrm>
            <a:off x="548640" y="2793492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21"/>
          <p:cNvSpPr/>
          <p:nvPr/>
        </p:nvSpPr>
        <p:spPr>
          <a:xfrm>
            <a:off x="658368" y="2843784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658368" y="2843784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1188720" y="2793492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Делу время, …</a:t>
            </a:r>
            <a:endParaRPr lang="en-US" sz="1450" dirty="0"/>
          </a:p>
        </p:txBody>
      </p:sp>
      <p:sp>
        <p:nvSpPr>
          <p:cNvPr id="28" name="BADGE_4"/>
          <p:cNvSpPr txBox="1"/>
          <p:nvPr/>
        </p:nvSpPr>
        <p:spPr>
          <a:xfrm>
            <a:off x="4846320" y="2843784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29" name="ANS_4"/>
          <p:cNvSpPr txBox="1"/>
          <p:nvPr/>
        </p:nvSpPr>
        <p:spPr>
          <a:xfrm>
            <a:off x="5248656" y="2793492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потехе час.</a:t>
            </a:r>
            <a:endParaRPr lang="en-US" sz="1450" dirty="0"/>
          </a:p>
        </p:txBody>
      </p:sp>
      <p:sp>
        <p:nvSpPr>
          <p:cNvPr id="30" name="Shape 26"/>
          <p:cNvSpPr/>
          <p:nvPr/>
        </p:nvSpPr>
        <p:spPr>
          <a:xfrm>
            <a:off x="548640" y="3291840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1" name="Shape 27"/>
          <p:cNvSpPr/>
          <p:nvPr/>
        </p:nvSpPr>
        <p:spPr>
          <a:xfrm>
            <a:off x="658368" y="3342132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2" name="Text 28"/>
          <p:cNvSpPr txBox="1"/>
          <p:nvPr/>
        </p:nvSpPr>
        <p:spPr>
          <a:xfrm>
            <a:off x="658368" y="334213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1188720" y="3291840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Сделал дело — …</a:t>
            </a:r>
            <a:endParaRPr lang="en-US" sz="1450" dirty="0"/>
          </a:p>
        </p:txBody>
      </p:sp>
      <p:sp>
        <p:nvSpPr>
          <p:cNvPr id="34" name="BADGE_5"/>
          <p:cNvSpPr txBox="1"/>
          <p:nvPr/>
        </p:nvSpPr>
        <p:spPr>
          <a:xfrm>
            <a:off x="4846320" y="3342132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35" name="ANS_5"/>
          <p:cNvSpPr txBox="1"/>
          <p:nvPr/>
        </p:nvSpPr>
        <p:spPr>
          <a:xfrm>
            <a:off x="5248656" y="3291840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гуляй смело.</a:t>
            </a:r>
            <a:endParaRPr lang="en-US" sz="1450" dirty="0"/>
          </a:p>
        </p:txBody>
      </p:sp>
      <p:sp>
        <p:nvSpPr>
          <p:cNvPr id="36" name="Shape 32"/>
          <p:cNvSpPr/>
          <p:nvPr/>
        </p:nvSpPr>
        <p:spPr>
          <a:xfrm>
            <a:off x="548640" y="3790188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7" name="Shape 33"/>
          <p:cNvSpPr/>
          <p:nvPr/>
        </p:nvSpPr>
        <p:spPr>
          <a:xfrm>
            <a:off x="658368" y="3840480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38" name="Text 34"/>
          <p:cNvSpPr txBox="1"/>
          <p:nvPr/>
        </p:nvSpPr>
        <p:spPr>
          <a:xfrm>
            <a:off x="658368" y="384048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00" dirty="0"/>
          </a:p>
        </p:txBody>
      </p:sp>
      <p:sp>
        <p:nvSpPr>
          <p:cNvPr id="39" name="Text 35"/>
          <p:cNvSpPr txBox="1"/>
          <p:nvPr/>
        </p:nvSpPr>
        <p:spPr>
          <a:xfrm>
            <a:off x="1188720" y="3790188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Семь раз отмерь — …</a:t>
            </a:r>
            <a:endParaRPr lang="en-US" sz="1450" dirty="0"/>
          </a:p>
        </p:txBody>
      </p:sp>
      <p:sp>
        <p:nvSpPr>
          <p:cNvPr id="40" name="BADGE_6"/>
          <p:cNvSpPr txBox="1"/>
          <p:nvPr/>
        </p:nvSpPr>
        <p:spPr>
          <a:xfrm>
            <a:off x="4846320" y="3840480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1" name="ANS_6"/>
          <p:cNvSpPr txBox="1"/>
          <p:nvPr/>
        </p:nvSpPr>
        <p:spPr>
          <a:xfrm>
            <a:off x="5248656" y="3790188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один раз отрежь.</a:t>
            </a:r>
            <a:endParaRPr lang="en-US" sz="1450" dirty="0"/>
          </a:p>
        </p:txBody>
      </p:sp>
      <p:sp>
        <p:nvSpPr>
          <p:cNvPr id="42" name="Shape 38"/>
          <p:cNvSpPr/>
          <p:nvPr/>
        </p:nvSpPr>
        <p:spPr>
          <a:xfrm>
            <a:off x="548640" y="4288536"/>
            <a:ext cx="8046720" cy="429768"/>
          </a:xfrm>
          <a:prstGeom prst="roundRect">
            <a:avLst>
              <a:gd name="adj" fmla="val 2553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3" name="Shape 39"/>
          <p:cNvSpPr/>
          <p:nvPr/>
        </p:nvSpPr>
        <p:spPr>
          <a:xfrm>
            <a:off x="658368" y="4338828"/>
            <a:ext cx="329184" cy="329184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44" name="Text 40"/>
          <p:cNvSpPr txBox="1"/>
          <p:nvPr/>
        </p:nvSpPr>
        <p:spPr>
          <a:xfrm>
            <a:off x="658368" y="4338828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  <p:sp>
        <p:nvSpPr>
          <p:cNvPr id="45" name="Text 41"/>
          <p:cNvSpPr txBox="1"/>
          <p:nvPr/>
        </p:nvSpPr>
        <p:spPr>
          <a:xfrm>
            <a:off x="1188720" y="4288536"/>
            <a:ext cx="356616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Яблоко от яблони …</a:t>
            </a:r>
            <a:endParaRPr lang="en-US" sz="1450" dirty="0"/>
          </a:p>
        </p:txBody>
      </p:sp>
      <p:sp>
        <p:nvSpPr>
          <p:cNvPr id="46" name="BADGE_7"/>
          <p:cNvSpPr txBox="1"/>
          <p:nvPr/>
        </p:nvSpPr>
        <p:spPr>
          <a:xfrm>
            <a:off x="4846320" y="4338828"/>
            <a:ext cx="329184" cy="329184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100" dirty="0"/>
          </a:p>
        </p:txBody>
      </p:sp>
      <p:sp>
        <p:nvSpPr>
          <p:cNvPr id="47" name="ANS_7"/>
          <p:cNvSpPr txBox="1"/>
          <p:nvPr/>
        </p:nvSpPr>
        <p:spPr>
          <a:xfrm>
            <a:off x="5248656" y="4288536"/>
            <a:ext cx="3474720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недалеко падает.</a:t>
            </a:r>
            <a:endParaRPr lang="en-US" sz="145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9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8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35" grpId="0"/>
      <p:bldP spid="41" grpId="0"/>
      <p:bldP spid="47" grpId="0"/>
      <p:bldP spid="10" grpId="0" animBg="1"/>
      <p:bldP spid="16" grpId="0" animBg="1"/>
      <p:bldP spid="22" grpId="0" animBg="1"/>
      <p:bldP spid="28" grpId="0" animBg="1"/>
      <p:bldP spid="34" grpId="0" animBg="1"/>
      <p:bldP spid="40" grpId="0" animBg="1"/>
      <p:bldP spid="46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forest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fla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822960" y="1600200"/>
            <a:ext cx="1554480" cy="1554480"/>
          </a:xfrm>
          <a:prstGeom prst="ellipse">
            <a:avLst/>
          </a:prstGeom>
          <a:solidFill>
            <a:srgbClr val="EBB021"/>
          </a:solidFill>
          <a:ln w="12700">
            <a:solidFill>
              <a:srgbClr val="EBB021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5" name="Text 1"/>
          <p:cNvSpPr txBox="1"/>
          <p:nvPr/>
        </p:nvSpPr>
        <p:spPr>
          <a:xfrm>
            <a:off x="822960" y="1600200"/>
            <a:ext cx="1554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5400" dirty="0"/>
          </a:p>
        </p:txBody>
      </p:sp>
      <p:sp>
        <p:nvSpPr>
          <p:cNvPr id="6" name="Text 2"/>
          <p:cNvSpPr txBox="1"/>
          <p:nvPr/>
        </p:nvSpPr>
        <p:spPr>
          <a:xfrm>
            <a:off x="2743200" y="14173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BB0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</a:t>
            </a:r>
            <a:endParaRPr lang="en-US" sz="1100" dirty="0"/>
          </a:p>
        </p:txBody>
      </p:sp>
      <p:sp>
        <p:nvSpPr>
          <p:cNvPr id="7" name="Text 3"/>
          <p:cNvSpPr txBox="1"/>
          <p:nvPr/>
        </p:nvSpPr>
        <p:spPr>
          <a:xfrm>
            <a:off x="2743200" y="1691640"/>
            <a:ext cx="5943600" cy="118872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600" dirty="0"/>
          </a:p>
        </p:txBody>
      </p:sp>
      <p:sp>
        <p:nvSpPr>
          <p:cNvPr id="8" name="Text 4"/>
          <p:cNvSpPr txBox="1"/>
          <p:nvPr/>
        </p:nvSpPr>
        <p:spPr>
          <a:xfrm>
            <a:off x="2743200" y="3017520"/>
            <a:ext cx="5669280" cy="82296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Ведущий читает строчку из знакомой песни — команда поёт продолжение. Хором, громко и обязательно с душой! Проверяем по щелчку.</a:t>
            </a:r>
            <a:endParaRPr lang="en-US" sz="1600" dirty="0"/>
          </a:p>
        </p:txBody>
      </p:sp>
      <p:pic>
        <p:nvPicPr>
          <p:cNvPr id="9" name="Image 2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840480"/>
            <a:ext cx="1005840" cy="1005840"/>
          </a:xfrm>
          <a:prstGeom prst="rect">
            <a:avLst/>
          </a:prstGeom>
        </p:spPr>
      </p:pic>
      <p:pic>
        <p:nvPicPr>
          <p:cNvPr id="10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0040" y="3931920"/>
            <a:ext cx="868680" cy="86868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 · ПЕСНИ 1–4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25880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99616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8" name="Image 2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" y="1580083"/>
            <a:ext cx="241402" cy="24140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88720" y="1325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«Буквы разные писать тонким пёрышком в тетрадь…»</a:t>
            </a:r>
            <a:endParaRPr lang="en-US" sz="1400" dirty="0"/>
          </a:p>
        </p:txBody>
      </p:sp>
      <p:sp>
        <p:nvSpPr>
          <p:cNvPr id="10" name="BADGE_1"/>
          <p:cNvSpPr txBox="1"/>
          <p:nvPr/>
        </p:nvSpPr>
        <p:spPr>
          <a:xfrm>
            <a:off x="4617720" y="1508760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5074920" y="132588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…учат в школе, учат в школе, учат в школе!»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2167128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58368" y="2340864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14" name="Image 3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35" y="2421331"/>
            <a:ext cx="241402" cy="2414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88720" y="2167128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«От улыбки хмурый день светлей…»</a:t>
            </a:r>
            <a:endParaRPr lang="en-US" sz="1400" dirty="0"/>
          </a:p>
        </p:txBody>
      </p:sp>
      <p:sp>
        <p:nvSpPr>
          <p:cNvPr id="16" name="BADGE_2"/>
          <p:cNvSpPr txBox="1"/>
          <p:nvPr/>
        </p:nvSpPr>
        <p:spPr>
          <a:xfrm>
            <a:off x="4617720" y="2350008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5074920" y="2167128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…от улыбки в небе радуга проснётся»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548640" y="3008376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8368" y="3182112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0" name="Image 4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" y="3262579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00837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«Вместе весело шагать по просторам…»</a:t>
            </a:r>
            <a:endParaRPr lang="en-US" sz="1400" dirty="0"/>
          </a:p>
        </p:txBody>
      </p:sp>
      <p:sp>
        <p:nvSpPr>
          <p:cNvPr id="22" name="BADGE_3"/>
          <p:cNvSpPr txBox="1"/>
          <p:nvPr/>
        </p:nvSpPr>
        <p:spPr>
          <a:xfrm>
            <a:off x="4617720" y="3191256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5074920" y="300837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…и, конечно, припевать лучше хором»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548640" y="3849624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58368" y="4023360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6" name="Image 5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835" y="4103827"/>
            <a:ext cx="241402" cy="24140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88720" y="38496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«Пусть бегут неуклюже пешеходы по лужам…»</a:t>
            </a:r>
            <a:endParaRPr lang="en-US" sz="1400" dirty="0"/>
          </a:p>
        </p:txBody>
      </p:sp>
      <p:sp>
        <p:nvSpPr>
          <p:cNvPr id="28" name="BADGE_4"/>
          <p:cNvSpPr txBox="1"/>
          <p:nvPr/>
        </p:nvSpPr>
        <p:spPr>
          <a:xfrm>
            <a:off x="4617720" y="4032504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5074920" y="384962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…а вода по асфальту рекой»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10" grpId="0" animBg="1"/>
      <p:bldP spid="16" grpId="0" animBg="1"/>
      <p:bldP spid="22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2004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РАУНД 4 · ПЕСНИ 5–8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566928"/>
            <a:ext cx="6400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3A150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Продолжи песню</a:t>
            </a:r>
            <a:endParaRPr lang="en-US" sz="3400" dirty="0"/>
          </a:p>
        </p:txBody>
      </p:sp>
      <p:pic>
        <p:nvPicPr>
          <p:cNvPr id="4" name="Image 0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0" y="274320"/>
            <a:ext cx="868680" cy="868680"/>
          </a:xfrm>
          <a:prstGeom prst="rect">
            <a:avLst/>
          </a:prstGeom>
        </p:spPr>
      </p:pic>
      <p:pic>
        <p:nvPicPr>
          <p:cNvPr id="5" name="Image 1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69480" y="502920"/>
            <a:ext cx="594360" cy="594360"/>
          </a:xfrm>
          <a:prstGeom prst="rect">
            <a:avLst/>
          </a:prstGeom>
        </p:spPr>
      </p:pic>
      <p:sp>
        <p:nvSpPr>
          <p:cNvPr id="6" name="Shape 2"/>
          <p:cNvSpPr/>
          <p:nvPr/>
        </p:nvSpPr>
        <p:spPr>
          <a:xfrm>
            <a:off x="548640" y="1325880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7" name="Shape 3"/>
          <p:cNvSpPr/>
          <p:nvPr/>
        </p:nvSpPr>
        <p:spPr>
          <a:xfrm>
            <a:off x="658368" y="1499616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8" name="Image 2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" y="1580083"/>
            <a:ext cx="241402" cy="241402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1188720" y="1325880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«Антошка, Антошка…»</a:t>
            </a:r>
            <a:endParaRPr lang="en-US" sz="1400" dirty="0"/>
          </a:p>
        </p:txBody>
      </p:sp>
      <p:sp>
        <p:nvSpPr>
          <p:cNvPr id="10" name="BADGE_1"/>
          <p:cNvSpPr txBox="1"/>
          <p:nvPr/>
        </p:nvSpPr>
        <p:spPr>
          <a:xfrm>
            <a:off x="4617720" y="1508760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1" name="ANS_1"/>
          <p:cNvSpPr txBox="1"/>
          <p:nvPr/>
        </p:nvSpPr>
        <p:spPr>
          <a:xfrm>
            <a:off x="5074920" y="1325880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…пойдём копать картошку!»</a:t>
            </a:r>
            <a:endParaRPr lang="en-US" sz="1500" dirty="0"/>
          </a:p>
        </p:txBody>
      </p:sp>
      <p:sp>
        <p:nvSpPr>
          <p:cNvPr id="12" name="Shape 7"/>
          <p:cNvSpPr/>
          <p:nvPr/>
        </p:nvSpPr>
        <p:spPr>
          <a:xfrm>
            <a:off x="548640" y="2167128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58368" y="2340864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14" name="Image 3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8835" y="2421331"/>
            <a:ext cx="241402" cy="241402"/>
          </a:xfrm>
          <a:prstGeom prst="rect">
            <a:avLst/>
          </a:prstGeom>
        </p:spPr>
      </p:pic>
      <p:sp>
        <p:nvSpPr>
          <p:cNvPr id="15" name="Text 9"/>
          <p:cNvSpPr txBox="1"/>
          <p:nvPr/>
        </p:nvSpPr>
        <p:spPr>
          <a:xfrm>
            <a:off x="1188720" y="2167128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«Листья жёлтые над городом кружатся…»</a:t>
            </a:r>
            <a:endParaRPr lang="en-US" sz="1400" dirty="0"/>
          </a:p>
        </p:txBody>
      </p:sp>
      <p:sp>
        <p:nvSpPr>
          <p:cNvPr id="16" name="BADGE_2"/>
          <p:cNvSpPr txBox="1"/>
          <p:nvPr/>
        </p:nvSpPr>
        <p:spPr>
          <a:xfrm>
            <a:off x="4617720" y="2350008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17" name="ANS_2"/>
          <p:cNvSpPr txBox="1"/>
          <p:nvPr/>
        </p:nvSpPr>
        <p:spPr>
          <a:xfrm>
            <a:off x="5074920" y="2167128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…с тихим шорохом нам под ноги ложатся»</a:t>
            </a:r>
            <a:endParaRPr lang="en-US" sz="1500" dirty="0"/>
          </a:p>
        </p:txBody>
      </p:sp>
      <p:sp>
        <p:nvSpPr>
          <p:cNvPr id="18" name="Shape 12"/>
          <p:cNvSpPr/>
          <p:nvPr/>
        </p:nvSpPr>
        <p:spPr>
          <a:xfrm>
            <a:off x="548640" y="3008376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19" name="Shape 13"/>
          <p:cNvSpPr/>
          <p:nvPr/>
        </p:nvSpPr>
        <p:spPr>
          <a:xfrm>
            <a:off x="658368" y="3182112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0" name="Image 4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38835" y="3262579"/>
            <a:ext cx="241402" cy="241402"/>
          </a:xfrm>
          <a:prstGeom prst="rect">
            <a:avLst/>
          </a:prstGeom>
        </p:spPr>
      </p:pic>
      <p:sp>
        <p:nvSpPr>
          <p:cNvPr id="21" name="Text 14"/>
          <p:cNvSpPr txBox="1"/>
          <p:nvPr/>
        </p:nvSpPr>
        <p:spPr>
          <a:xfrm>
            <a:off x="1188720" y="3008376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«Что такое осень? Это небо…»</a:t>
            </a:r>
            <a:endParaRPr lang="en-US" sz="1400" dirty="0"/>
          </a:p>
        </p:txBody>
      </p:sp>
      <p:sp>
        <p:nvSpPr>
          <p:cNvPr id="22" name="BADGE_3"/>
          <p:cNvSpPr txBox="1"/>
          <p:nvPr/>
        </p:nvSpPr>
        <p:spPr>
          <a:xfrm>
            <a:off x="4617720" y="3191256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3" name="ANS_3"/>
          <p:cNvSpPr txBox="1"/>
          <p:nvPr/>
        </p:nvSpPr>
        <p:spPr>
          <a:xfrm>
            <a:off x="5074920" y="3008376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…плачущее небо под ногами»</a:t>
            </a:r>
            <a:endParaRPr lang="en-US" sz="1500" dirty="0"/>
          </a:p>
        </p:txBody>
      </p:sp>
      <p:sp>
        <p:nvSpPr>
          <p:cNvPr id="24" name="Shape 17"/>
          <p:cNvSpPr/>
          <p:nvPr/>
        </p:nvSpPr>
        <p:spPr>
          <a:xfrm>
            <a:off x="548640" y="3849624"/>
            <a:ext cx="8046720" cy="749808"/>
          </a:xfrm>
          <a:prstGeom prst="roundRect">
            <a:avLst>
              <a:gd name="adj" fmla="val 146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sp>
        <p:nvSpPr>
          <p:cNvPr id="25" name="Shape 18"/>
          <p:cNvSpPr/>
          <p:nvPr/>
        </p:nvSpPr>
        <p:spPr>
          <a:xfrm>
            <a:off x="658368" y="4023360"/>
            <a:ext cx="402336" cy="402336"/>
          </a:xfrm>
          <a:prstGeom prst="ellipse">
            <a:avLst/>
          </a:prstGeom>
          <a:solidFill>
            <a:srgbClr val="B5451B"/>
          </a:solidFill>
          <a:ln w="12700">
            <a:solidFill>
              <a:srgbClr val="B5451B"/>
            </a:solidFill>
            <a:prstDash val="solid"/>
          </a:ln>
          <a:effectLst>
            <a:outerShdw sx="100000" sy="100000" kx="0" ky="0" algn="bl" rotWithShape="0" blurRad="101600" dist="25400" dir="5400000">
              <a:srgbClr val="5A2A10">
                <a:alpha val="14000"/>
              </a:srgbClr>
            </a:outerShdw>
          </a:effectLst>
        </p:spPr>
      </p:sp>
      <p:pic>
        <p:nvPicPr>
          <p:cNvPr id="26" name="Image 5" descr="/tmp/claude-0/-home-user-heinrich-mario/e7688653-8e48-5480-a009-7b18c0e4f8cc/scratchpad/art/note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38835" y="4103827"/>
            <a:ext cx="241402" cy="241402"/>
          </a:xfrm>
          <a:prstGeom prst="rect">
            <a:avLst/>
          </a:prstGeom>
        </p:spPr>
      </p:pic>
      <p:sp>
        <p:nvSpPr>
          <p:cNvPr id="27" name="Text 19"/>
          <p:cNvSpPr txBox="1"/>
          <p:nvPr/>
        </p:nvSpPr>
        <p:spPr>
          <a:xfrm>
            <a:off x="1188720" y="3849624"/>
            <a:ext cx="32918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3B231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«Дважды два — четыре, дважды два — четыре…»</a:t>
            </a:r>
            <a:endParaRPr lang="en-US" sz="1400" dirty="0"/>
          </a:p>
        </p:txBody>
      </p:sp>
      <p:sp>
        <p:nvSpPr>
          <p:cNvPr id="28" name="BADGE_4"/>
          <p:cNvSpPr txBox="1"/>
          <p:nvPr/>
        </p:nvSpPr>
        <p:spPr>
          <a:xfrm>
            <a:off x="4617720" y="4032504"/>
            <a:ext cx="384048" cy="384048"/>
          </a:xfrm>
          <a:prstGeom prst="ellipse">
            <a:avLst/>
          </a:prstGeom>
          <a:solidFill>
            <a:srgbClr val="EBB021"/>
          </a:solidFill>
          <a:ln>
            <a:solidFill>
              <a:srgbClr val="EBB02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15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</a:t>
            </a:r>
            <a:endParaRPr lang="en-US" sz="1200" dirty="0"/>
          </a:p>
        </p:txBody>
      </p:sp>
      <p:sp>
        <p:nvSpPr>
          <p:cNvPr id="29" name="ANS_4"/>
          <p:cNvSpPr txBox="1"/>
          <p:nvPr/>
        </p:nvSpPr>
        <p:spPr>
          <a:xfrm>
            <a:off x="5074920" y="3849624"/>
            <a:ext cx="3657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545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…это всем известно в целом мире»</a:t>
            </a:r>
            <a:endParaRPr lang="en-US" sz="15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7" grpId="0"/>
      <p:bldP spid="23" grpId="0"/>
      <p:bldP spid="29" grpId="0"/>
      <p:bldP spid="10" grpId="0" animBg="1"/>
      <p:bldP spid="16" grpId="0" animBg="1"/>
      <p:bldP spid="22" grpId="0" animBg="1"/>
      <p:bldP spid="28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heinrich-mario/e7688653-8e48-5480-a009-7b18c0e4f8cc/scratchpad/img/road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pic>
        <p:nvPicPr>
          <p:cNvPr id="3" name="Image 1" descr="/tmp/claude-0/-home-user-heinrich-mario/e7688653-8e48-5480-a009-7b18c0e4f8cc/scratchpad/art/overlay_bottom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Shape 0"/>
          <p:cNvSpPr/>
          <p:nvPr/>
        </p:nvSpPr>
        <p:spPr>
          <a:xfrm>
            <a:off x="274320" y="274320"/>
            <a:ext cx="8595360" cy="4594860"/>
          </a:xfrm>
          <a:prstGeom prst="rect">
            <a:avLst/>
          </a:prstGeom>
          <a:ln w="19050">
            <a:solidFill>
              <a:srgbClr val="EBB021"/>
            </a:solidFill>
            <a:prstDash val="solid"/>
          </a:ln>
        </p:spPr>
      </p:sp>
      <p:pic>
        <p:nvPicPr>
          <p:cNvPr id="5" name="Image 2" descr="/tmp/claude-0/-home-user-heinrich-mario/e7688653-8e48-5480-a009-7b18c0e4f8cc/scratchpad/art/leaf_gol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4048" y="384048"/>
            <a:ext cx="1143000" cy="1143000"/>
          </a:xfrm>
          <a:prstGeom prst="rect">
            <a:avLst/>
          </a:prstGeom>
        </p:spPr>
      </p:pic>
      <p:pic>
        <p:nvPicPr>
          <p:cNvPr id="6" name="Image 3" descr="/tmp/claude-0/-home-user-heinrich-mario/e7688653-8e48-5480-a009-7b18c0e4f8cc/scratchpad/art/leaf_r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35240" y="320040"/>
            <a:ext cx="1188720" cy="1188720"/>
          </a:xfrm>
          <a:prstGeom prst="rect">
            <a:avLst/>
          </a:prstGeom>
        </p:spPr>
      </p:pic>
      <p:pic>
        <p:nvPicPr>
          <p:cNvPr id="7" name="Image 4" descr="/tmp/claude-0/-home-user-heinrich-mario/e7688653-8e48-5480-a009-7b18c0e4f8cc/scratchpad/art/leaf_win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611880"/>
            <a:ext cx="1097280" cy="1097280"/>
          </a:xfrm>
          <a:prstGeom prst="rect">
            <a:avLst/>
          </a:prstGeom>
        </p:spPr>
      </p:pic>
      <p:pic>
        <p:nvPicPr>
          <p:cNvPr id="8" name="Image 5" descr="/tmp/claude-0/-home-user-heinrich-mario/e7688653-8e48-5480-a009-7b18c0e4f8cc/scratchpad/art/leaf_oran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65760" y="3703320"/>
            <a:ext cx="1051560" cy="1051560"/>
          </a:xfrm>
          <a:prstGeom prst="rect">
            <a:avLst/>
          </a:prstGeom>
        </p:spPr>
      </p:pic>
      <p:sp>
        <p:nvSpPr>
          <p:cNvPr id="9" name="Text 1"/>
          <p:cNvSpPr txBox="1"/>
          <p:nvPr/>
        </p:nvSpPr>
        <p:spPr>
          <a:xfrm>
            <a:off x="914400" y="1325880"/>
            <a:ext cx="7315200" cy="13716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spc="1000" kern="0" dirty="0">
                <a:solidFill>
                  <a:srgbClr val="EBB02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ФИНАЛ</a:t>
            </a:r>
            <a:endParaRPr lang="en-US" sz="8000" dirty="0"/>
          </a:p>
        </p:txBody>
      </p:sp>
      <p:sp>
        <p:nvSpPr>
          <p:cNvPr id="10" name="Text 2"/>
          <p:cNvSpPr txBox="1"/>
          <p:nvPr/>
        </p:nvSpPr>
        <p:spPr>
          <a:xfrm>
            <a:off x="1097280" y="2788920"/>
            <a:ext cx="694944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Считаем очки и награждаем победителей!</a:t>
            </a:r>
            <a:endParaRPr lang="en-US" sz="2000" dirty="0"/>
          </a:p>
        </p:txBody>
      </p:sp>
      <p:sp>
        <p:nvSpPr>
          <p:cNvPr id="11" name="Text 3"/>
          <p:cNvSpPr txBox="1"/>
          <p:nvPr/>
        </p:nvSpPr>
        <p:spPr>
          <a:xfrm>
            <a:off x="1097280" y="3291840"/>
            <a:ext cx="6949440" cy="457200"/>
          </a:xfrm>
          <a:prstGeom prst="rect">
            <a:avLst/>
          </a:prstGeom>
          <a:noFill/>
          <a:ln/>
          <a:effectLst>
            <a:outerShdw sx="100000" sy="100000" kx="0" ky="0" algn="bl" rotWithShape="0" blurRad="50800" dist="25400" dir="5400000">
              <a:srgbClr val="000000">
                <a:alpha val="50000"/>
              </a:srgbClr>
            </a:outerShdw>
          </a:effectLst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i="1" dirty="0">
                <a:solidFill>
                  <a:srgbClr val="FFF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 Днём воспитателя, дорогие коллеги!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 Днём воспитателя — осенний конкурс</dc:title>
  <dc:subject>PptxGenJS Presentation</dc:subject>
  <dc:creator>PptxGenJS</dc:creator>
  <cp:lastModifiedBy>PptxGenJS</cp:lastModifiedBy>
  <cp:revision>1</cp:revision>
  <dcterms:created xsi:type="dcterms:W3CDTF">2026-09-24T18:53:40Z</dcterms:created>
  <dcterms:modified xsi:type="dcterms:W3CDTF">2026-09-24T18:53:40Z</dcterms:modified>
</cp:coreProperties>
</file>