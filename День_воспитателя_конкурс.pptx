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Открытка ко Дню воспитателя (27 сентября). Слайд-заставка перед началом конкурса.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приветствует воспитателей, объясняет правила: команды, четыре раунда, за верный ответ — осенний лист (жетон). В финале считаем листья.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1. Показываем 7 фото. На каждом слайде с фото идёт отсчёт 45 секунд, затем слайд сам переходит к ответу (можно и раньше — щелчком).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1. В режиме редактирования щёлкните по значку в рамке и вставьте фотографию коллеги (лучше детскую или необычную).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1. Замените «Фамилия Имя Отчество» и «воспитатель · класс или группа» на данные коллеги. При желании вставьте в рамку ту же фотографию.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2. В режиме редактирования щёлкните по значку в рамке и вставьте фотографию коллеги (лучше детскую или необычную).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2. Замените «Фамилия Имя Отчество» и «воспитатель · класс или группа» на данные коллеги. При желании вставьте в рамку ту же фотографию.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3. В режиме редактирования щёлкните по значку в рамке и вставьте фотографию коллеги (лучше детскую или необычную).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3. Замените «Фамилия Имя Отчество» и «воспитатель · класс или группа» на данные коллеги. При желании вставьте в рамку ту же фотографию.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4. В режиме редактирования щёлкните по значку в рамке и вставьте фотографию коллеги (лучше детскую или необычную).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4. Замените «Фамилия Имя Отчество» и «воспитатель · класс или группа» на данные коллеги. При желании вставьте в рамку ту же фотографию.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5. В режиме редактирования щёлкните по значку в рамке и вставьте фотографию коллеги (лучше детскую или необычную).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5. Замените «Фамилия Имя Отчество» и «воспитатель · класс или группа» на данные коллеги. При желании вставьте в рамку ту же фотографию.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6. В режиме редактирования щёлкните по значку в рамке и вставьте фотографию коллеги (лучше детскую или необычную).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6. Замените «Фамилия Имя Отчество» и «воспитатель · класс или группа» на данные коллеги. При желании вставьте в рамку ту же фотографию.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7. В режиме редактирования щёлкните по значку в рамке и вставьте фотографию коллеги (лучше детскую или необычную).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7. Замените «Фамилия Имя Отчество» и «воспитатель · класс или группа» на данные коллеги. При желании вставьте в рамку ту же фотографию.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2. Десять вопросов на двух слайдах. Каждый щелчок (или стрелка) открывает ответ на очередной вопрос. Ответы также в заметках.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щелчку): 1) 27 сентября; 2) Группа продлённого дня; 3) 45 минут; 4) Перемена; 5) День знаний.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щелчку): 6) В дневник; 7) Пять; 8) Классный журнал; 9) Осень; 10) Конечно, воспитатель!.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3. Четырнадцать пословиц на двух слайдах. Каждый щелчок открывает окончание очередной пословицы.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1) Ученье — свет, а неученье — тьма. 2) Без труда не вытащишь и рыбку из пруда. 3) Повторенье — мать ученья. 4) Терпенье и труд всё перетрут. 5) Век живи — век учись. 6) Грамоте учиться — всегда пригодится. 7) Что посеешь, то и пожнёшь.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8) Не стыдно не знать, стыдно не учиться. 9) Корень ученья горек, да плод его сладок. 10) Кто много читает, тот много знает. 11) Делу время, потехе час. 12) Сделал дело — гуляй смело. 13) Семь раз отмерь — один раз отрежь. 14) Яблоко от яблони недалеко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4. Восемь песен — школьных и осенних, на двух слайдах. Каждый щелчок открывает продолжение очередной песни.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1) …учат в школе, учат в школе, учат в школе!» 2) …от улыбки в небе радуга проснётся» 3) …и, конечно, припевать лучше хором» 4) …а вода по асфальту рекой»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5) …пойдём копать картошку!» 6) …с тихим шорохом нам под ноги ложатся» 7) …плачущее небо под ногами» 8) …это всем известно в целом мире»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подсчёт осенних листьев, награждение команд, поздравление.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HOTO_Q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PHOTO_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Q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94944" y="877824"/>
            <a:ext cx="4279392" cy="3685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76656" y="1024128"/>
            <a:ext cx="3127248" cy="325526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2.png"/><Relationship Id="rId5" Type="http://schemas.openxmlformats.org/officeDocument/2006/relationships/image" Target="../media/image-19-5.png"/><Relationship Id="rId6" Type="http://schemas.openxmlformats.org/officeDocument/2006/relationships/image" Target="../media/image-19-3.png"/><Relationship Id="rId7" Type="http://schemas.openxmlformats.org/officeDocument/2006/relationships/image" Target="../media/image-19-7.png"/><Relationship Id="rId8" Type="http://schemas.openxmlformats.org/officeDocument/2006/relationships/image" Target="../media/image-19-2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2.png"/><Relationship Id="rId5" Type="http://schemas.openxmlformats.org/officeDocument/2006/relationships/image" Target="../media/image-20-5.png"/><Relationship Id="rId6" Type="http://schemas.openxmlformats.org/officeDocument/2006/relationships/image" Target="../media/image-20-3.png"/><Relationship Id="rId7" Type="http://schemas.openxmlformats.org/officeDocument/2006/relationships/image" Target="../media/image-20-7.png"/><Relationship Id="rId8" Type="http://schemas.openxmlformats.org/officeDocument/2006/relationships/image" Target="../media/image-20-2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2.png"/><Relationship Id="rId5" Type="http://schemas.openxmlformats.org/officeDocument/2006/relationships/image" Target="../media/image-22-5.png"/><Relationship Id="rId6" Type="http://schemas.openxmlformats.org/officeDocument/2006/relationships/image" Target="../media/image-22-3.png"/><Relationship Id="rId7" Type="http://schemas.openxmlformats.org/officeDocument/2006/relationships/image" Target="../media/image-22-7.png"/><Relationship Id="rId8" Type="http://schemas.openxmlformats.org/officeDocument/2006/relationships/image" Target="../media/image-22-2.png"/><Relationship Id="rId9" Type="http://schemas.openxmlformats.org/officeDocument/2006/relationships/image" Target="../media/image-22-5.png"/><Relationship Id="rId10" Type="http://schemas.openxmlformats.org/officeDocument/2006/relationships/image" Target="../media/image-22-3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2.png"/><Relationship Id="rId5" Type="http://schemas.openxmlformats.org/officeDocument/2006/relationships/image" Target="../media/image-23-5.png"/><Relationship Id="rId6" Type="http://schemas.openxmlformats.org/officeDocument/2006/relationships/image" Target="../media/image-23-3.png"/><Relationship Id="rId7" Type="http://schemas.openxmlformats.org/officeDocument/2006/relationships/image" Target="../media/image-23-7.png"/><Relationship Id="rId8" Type="http://schemas.openxmlformats.org/officeDocument/2006/relationships/image" Target="../media/image-23-2.png"/><Relationship Id="rId9" Type="http://schemas.openxmlformats.org/officeDocument/2006/relationships/image" Target="../media/image-23-5.png"/><Relationship Id="rId10" Type="http://schemas.openxmlformats.org/officeDocument/2006/relationships/image" Target="../media/image-23-3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2.png"/><Relationship Id="rId6" Type="http://schemas.openxmlformats.org/officeDocument/2006/relationships/image" Target="../media/image-25-4.png"/><Relationship Id="rId7" Type="http://schemas.openxmlformats.org/officeDocument/2006/relationships/image" Target="../media/image-25-7.png"/><Relationship Id="rId8" Type="http://schemas.openxmlformats.org/officeDocument/2006/relationships/image" Target="../media/image-25-4.png"/><Relationship Id="rId9" Type="http://schemas.openxmlformats.org/officeDocument/2006/relationships/image" Target="../media/image-25-3.png"/><Relationship Id="rId10" Type="http://schemas.openxmlformats.org/officeDocument/2006/relationships/image" Target="../media/image-25-4.png"/><Relationship Id="rId11" Type="http://schemas.openxmlformats.org/officeDocument/2006/relationships/image" Target="../media/image-25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2.png"/><Relationship Id="rId6" Type="http://schemas.openxmlformats.org/officeDocument/2006/relationships/image" Target="../media/image-26-4.png"/><Relationship Id="rId7" Type="http://schemas.openxmlformats.org/officeDocument/2006/relationships/image" Target="../media/image-26-7.png"/><Relationship Id="rId8" Type="http://schemas.openxmlformats.org/officeDocument/2006/relationships/image" Target="../media/image-26-4.png"/><Relationship Id="rId9" Type="http://schemas.openxmlformats.org/officeDocument/2006/relationships/image" Target="../media/image-26-3.png"/><Relationship Id="rId10" Type="http://schemas.openxmlformats.org/officeDocument/2006/relationships/image" Target="../media/image-26-4.png"/><Relationship Id="rId11" Type="http://schemas.openxmlformats.org/officeDocument/2006/relationships/image" Target="../media/image-26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la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СЕНТЯБРЯ</a:t>
            </a:r>
            <a:endParaRPr lang="en-US" sz="1600" dirty="0"/>
          </a:p>
        </p:txBody>
      </p:sp>
      <p:sp>
        <p:nvSpPr>
          <p:cNvPr id="10" name="Text 2"/>
          <p:cNvSpPr txBox="1"/>
          <p:nvPr/>
        </p:nvSpPr>
        <p:spPr>
          <a:xfrm>
            <a:off x="457200" y="1737360"/>
            <a:ext cx="8229600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Днём воспитателя!</a:t>
            </a:r>
            <a:endParaRPr lang="en-US" sz="4600" dirty="0"/>
          </a:p>
        </p:txBody>
      </p:sp>
      <p:sp>
        <p:nvSpPr>
          <p:cNvPr id="11" name="Text 3"/>
          <p:cNvSpPr txBox="1"/>
          <p:nvPr/>
        </p:nvSpPr>
        <p:spPr>
          <a:xfrm>
            <a:off x="1463040" y="2880360"/>
            <a:ext cx="621792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воспитатели нашей школы! Пусть эта осень дарит вам тепло, а работа — радость, вдохновение и благодарные улыбки детей.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ves_roun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4526280" y="457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ДЛЯ ВОСПИТАТЕЛЕЙ ШКОЛЫ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26280" y="7498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Осенний марафон воспитателей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коллеги! Сегодня никто никого не проверяет: мы вспоминаем, поём и радуемся друг другу. Вас ждут четыре раунда и финал.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26280" y="256032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2628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5420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Узнай коллегу по фото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26280" y="292608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2926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90779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26280" y="329184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2628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2735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Закончи пословицу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26280" y="365760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52628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393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 песню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4023360"/>
            <a:ext cx="292608" cy="292608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2628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40050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и награждение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440740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верный ответ команда получает осенний лист. Побеждает та, у кого к финалу соберётся самый пышный букет!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Узнай коллегу по фото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— фотография коллеги. Кто это? Обсуждайте в командах: на ответ — 45 секунд, затем экран покажет, кто это.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6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7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8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9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0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1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2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3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4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5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6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7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8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19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0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1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2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3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4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5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6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7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8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29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0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1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2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3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4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5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6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7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8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39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0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1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2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3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4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5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6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7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8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49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4" name="Image 0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5" name="Image 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251960"/>
            <a:ext cx="640080" cy="640080"/>
          </a:xfrm>
          <a:prstGeom prst="rect">
            <a:avLst/>
          </a:prstGeom>
        </p:spPr>
      </p:pic>
      <p:sp>
        <p:nvSpPr>
          <p:cNvPr id="57" name="Text 0"/>
          <p:cNvSpPr/>
          <p:nvPr>
            <p:ph type="pic" idx="100" hasCustomPrompt="1"/>
          </p:nvPr>
        </p:nvSpPr>
        <p:spPr>
          <a:xfrm>
            <a:off x="694944" y="877824"/>
            <a:ext cx="4279392" cy="368503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434840" y="1051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920240"/>
            <a:ext cx="42062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 Имя Отчество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· класс или группа</a:t>
            </a:r>
            <a:endParaRPr lang="en-US" sz="1500" dirty="0"/>
          </a:p>
        </p:txBody>
      </p:sp>
      <p:pic>
        <p:nvPicPr>
          <p:cNvPr id="8" name="Image 0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9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685800" cy="685800"/>
          </a:xfrm>
          <a:prstGeom prst="rect">
            <a:avLst/>
          </a:prstGeom>
        </p:spPr>
      </p:pic>
      <p:sp>
        <p:nvSpPr>
          <p:cNvPr id="11" name="Text 0"/>
          <p:cNvSpPr/>
          <p:nvPr>
            <p:ph type="pic" idx="100" hasCustomPrompt="1"/>
          </p:nvPr>
        </p:nvSpPr>
        <p:spPr>
          <a:xfrm>
            <a:off x="676656" y="1024128"/>
            <a:ext cx="3127248" cy="325526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6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7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8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9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0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1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2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3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4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5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6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7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8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19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0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1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2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3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4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5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6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7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8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29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0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1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2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3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4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5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6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7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8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39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0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1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2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3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4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5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6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7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8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49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4" name="Image 0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5" name="Image 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251960"/>
            <a:ext cx="640080" cy="640080"/>
          </a:xfrm>
          <a:prstGeom prst="rect">
            <a:avLst/>
          </a:prstGeom>
        </p:spPr>
      </p:pic>
      <p:sp>
        <p:nvSpPr>
          <p:cNvPr id="57" name="Text 0"/>
          <p:cNvSpPr/>
          <p:nvPr>
            <p:ph type="pic" idx="100" hasCustomPrompt="1"/>
          </p:nvPr>
        </p:nvSpPr>
        <p:spPr>
          <a:xfrm>
            <a:off x="694944" y="877824"/>
            <a:ext cx="4279392" cy="368503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434840" y="1051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920240"/>
            <a:ext cx="42062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 Имя Отчество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· класс или группа</a:t>
            </a:r>
            <a:endParaRPr lang="en-US" sz="1500" dirty="0"/>
          </a:p>
        </p:txBody>
      </p:sp>
      <p:pic>
        <p:nvPicPr>
          <p:cNvPr id="8" name="Image 0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9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685800" cy="685800"/>
          </a:xfrm>
          <a:prstGeom prst="rect">
            <a:avLst/>
          </a:prstGeom>
        </p:spPr>
      </p:pic>
      <p:sp>
        <p:nvSpPr>
          <p:cNvPr id="11" name="Text 0"/>
          <p:cNvSpPr/>
          <p:nvPr>
            <p:ph type="pic" idx="100" hasCustomPrompt="1"/>
          </p:nvPr>
        </p:nvSpPr>
        <p:spPr>
          <a:xfrm>
            <a:off x="676656" y="1024128"/>
            <a:ext cx="3127248" cy="325526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6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7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8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9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0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1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2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3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4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5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6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7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8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19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0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1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2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3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4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5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6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7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8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29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0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1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2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3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4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5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6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7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8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39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0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1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2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3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4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5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6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7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8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49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4" name="Image 0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5" name="Image 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251960"/>
            <a:ext cx="640080" cy="640080"/>
          </a:xfrm>
          <a:prstGeom prst="rect">
            <a:avLst/>
          </a:prstGeom>
        </p:spPr>
      </p:pic>
      <p:sp>
        <p:nvSpPr>
          <p:cNvPr id="57" name="Text 0"/>
          <p:cNvSpPr/>
          <p:nvPr>
            <p:ph type="pic" idx="100" hasCustomPrompt="1"/>
          </p:nvPr>
        </p:nvSpPr>
        <p:spPr>
          <a:xfrm>
            <a:off x="694944" y="877824"/>
            <a:ext cx="4279392" cy="368503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434840" y="1051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920240"/>
            <a:ext cx="42062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 Имя Отчество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· класс или группа</a:t>
            </a:r>
            <a:endParaRPr lang="en-US" sz="1500" dirty="0"/>
          </a:p>
        </p:txBody>
      </p:sp>
      <p:pic>
        <p:nvPicPr>
          <p:cNvPr id="8" name="Image 0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9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685800" cy="685800"/>
          </a:xfrm>
          <a:prstGeom prst="rect">
            <a:avLst/>
          </a:prstGeom>
        </p:spPr>
      </p:pic>
      <p:sp>
        <p:nvSpPr>
          <p:cNvPr id="11" name="Text 0"/>
          <p:cNvSpPr/>
          <p:nvPr>
            <p:ph type="pic" idx="100" hasCustomPrompt="1"/>
          </p:nvPr>
        </p:nvSpPr>
        <p:spPr>
          <a:xfrm>
            <a:off x="676656" y="1024128"/>
            <a:ext cx="3127248" cy="325526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6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7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8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9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0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1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2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3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4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5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6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7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8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19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0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1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2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3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4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5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6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7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8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29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0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1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2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3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4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5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6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7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8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39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0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1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2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3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4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5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6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7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8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49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4" name="Image 0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5" name="Image 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251960"/>
            <a:ext cx="640080" cy="640080"/>
          </a:xfrm>
          <a:prstGeom prst="rect">
            <a:avLst/>
          </a:prstGeom>
        </p:spPr>
      </p:pic>
      <p:sp>
        <p:nvSpPr>
          <p:cNvPr id="57" name="Text 0"/>
          <p:cNvSpPr/>
          <p:nvPr>
            <p:ph type="pic" idx="100" hasCustomPrompt="1"/>
          </p:nvPr>
        </p:nvSpPr>
        <p:spPr>
          <a:xfrm>
            <a:off x="694944" y="877824"/>
            <a:ext cx="4279392" cy="368503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434840" y="1051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920240"/>
            <a:ext cx="42062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 Имя Отчество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· класс или группа</a:t>
            </a:r>
            <a:endParaRPr lang="en-US" sz="1500" dirty="0"/>
          </a:p>
        </p:txBody>
      </p:sp>
      <p:pic>
        <p:nvPicPr>
          <p:cNvPr id="8" name="Image 0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9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685800" cy="685800"/>
          </a:xfrm>
          <a:prstGeom prst="rect">
            <a:avLst/>
          </a:prstGeom>
        </p:spPr>
      </p:pic>
      <p:sp>
        <p:nvSpPr>
          <p:cNvPr id="11" name="Text 0"/>
          <p:cNvSpPr/>
          <p:nvPr>
            <p:ph type="pic" idx="100" hasCustomPrompt="1"/>
          </p:nvPr>
        </p:nvSpPr>
        <p:spPr>
          <a:xfrm>
            <a:off x="676656" y="1024128"/>
            <a:ext cx="3127248" cy="325526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6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7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8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9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0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1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2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3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4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5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6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7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8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19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0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1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2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3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4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5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6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7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8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29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0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1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2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3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4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5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6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7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8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39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0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1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2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3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4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5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6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7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8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49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4" name="Image 0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5" name="Image 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251960"/>
            <a:ext cx="640080" cy="640080"/>
          </a:xfrm>
          <a:prstGeom prst="rect">
            <a:avLst/>
          </a:prstGeom>
        </p:spPr>
      </p:pic>
      <p:sp>
        <p:nvSpPr>
          <p:cNvPr id="57" name="Text 0"/>
          <p:cNvSpPr/>
          <p:nvPr>
            <p:ph type="pic" idx="100" hasCustomPrompt="1"/>
          </p:nvPr>
        </p:nvSpPr>
        <p:spPr>
          <a:xfrm>
            <a:off x="694944" y="877824"/>
            <a:ext cx="4279392" cy="368503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434840" y="1051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920240"/>
            <a:ext cx="42062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 Имя Отчество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· класс или группа</a:t>
            </a:r>
            <a:endParaRPr lang="en-US" sz="1500" dirty="0"/>
          </a:p>
        </p:txBody>
      </p:sp>
      <p:pic>
        <p:nvPicPr>
          <p:cNvPr id="8" name="Image 0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9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685800" cy="685800"/>
          </a:xfrm>
          <a:prstGeom prst="rect">
            <a:avLst/>
          </a:prstGeom>
        </p:spPr>
      </p:pic>
      <p:sp>
        <p:nvSpPr>
          <p:cNvPr id="11" name="Text 0"/>
          <p:cNvSpPr/>
          <p:nvPr>
            <p:ph type="pic" idx="100" hasCustomPrompt="1"/>
          </p:nvPr>
        </p:nvSpPr>
        <p:spPr>
          <a:xfrm>
            <a:off x="676656" y="1024128"/>
            <a:ext cx="3127248" cy="325526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6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7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8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9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0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1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2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3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4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5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6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7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8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19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0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1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2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3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4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5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6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7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8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29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0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1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2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3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4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5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6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7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8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39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0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1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2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3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4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5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6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7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8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49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4" name="Image 0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5" name="Image 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251960"/>
            <a:ext cx="640080" cy="640080"/>
          </a:xfrm>
          <a:prstGeom prst="rect">
            <a:avLst/>
          </a:prstGeom>
        </p:spPr>
      </p:pic>
      <p:sp>
        <p:nvSpPr>
          <p:cNvPr id="57" name="Text 0"/>
          <p:cNvSpPr/>
          <p:nvPr>
            <p:ph type="pic" idx="100" hasCustomPrompt="1"/>
          </p:nvPr>
        </p:nvSpPr>
        <p:spPr>
          <a:xfrm>
            <a:off x="694944" y="877824"/>
            <a:ext cx="4279392" cy="368503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434840" y="1051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920240"/>
            <a:ext cx="42062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 Имя Отчество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· класс или группа</a:t>
            </a:r>
            <a:endParaRPr lang="en-US" sz="1500" dirty="0"/>
          </a:p>
        </p:txBody>
      </p:sp>
      <p:pic>
        <p:nvPicPr>
          <p:cNvPr id="8" name="Image 0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9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685800" cy="685800"/>
          </a:xfrm>
          <a:prstGeom prst="rect">
            <a:avLst/>
          </a:prstGeom>
        </p:spPr>
      </p:pic>
      <p:sp>
        <p:nvSpPr>
          <p:cNvPr id="11" name="Text 0"/>
          <p:cNvSpPr/>
          <p:nvPr>
            <p:ph type="pic" idx="100" hasCustomPrompt="1"/>
          </p:nvPr>
        </p:nvSpPr>
        <p:spPr>
          <a:xfrm>
            <a:off x="676656" y="1024128"/>
            <a:ext cx="3127248" cy="325526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6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7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8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9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0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1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2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3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4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5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6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7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8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19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0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1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2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3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4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5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6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7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8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29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0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1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2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3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4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5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6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7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8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39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0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1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2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3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4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5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6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7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8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49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4" name="Image 0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5" name="Image 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251960"/>
            <a:ext cx="640080" cy="640080"/>
          </a:xfrm>
          <a:prstGeom prst="rect">
            <a:avLst/>
          </a:prstGeom>
        </p:spPr>
      </p:pic>
      <p:sp>
        <p:nvSpPr>
          <p:cNvPr id="57" name="Text 0"/>
          <p:cNvSpPr/>
          <p:nvPr>
            <p:ph type="pic" idx="100" hasCustomPrompt="1"/>
          </p:nvPr>
        </p:nvSpPr>
        <p:spPr>
          <a:xfrm>
            <a:off x="694944" y="877824"/>
            <a:ext cx="4279392" cy="3685032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3383280" cy="35204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434840" y="1051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920240"/>
            <a:ext cx="42062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Фамилия Имя Отчество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· класс или группа</a:t>
            </a:r>
            <a:endParaRPr lang="en-US" sz="1500" dirty="0"/>
          </a:p>
        </p:txBody>
      </p:sp>
      <p:pic>
        <p:nvPicPr>
          <p:cNvPr id="8" name="Image 0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9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685800" cy="685800"/>
          </a:xfrm>
          <a:prstGeom prst="rect">
            <a:avLst/>
          </a:prstGeom>
        </p:spPr>
      </p:pic>
      <p:sp>
        <p:nvSpPr>
          <p:cNvPr id="11" name="Text 0"/>
          <p:cNvSpPr/>
          <p:nvPr>
            <p:ph type="pic" idx="100" hasCustomPrompt="1"/>
          </p:nvPr>
        </p:nvSpPr>
        <p:spPr>
          <a:xfrm>
            <a:off x="676656" y="1024128"/>
            <a:ext cx="3127248" cy="325526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Быстрые вопросы — быстрые ответы. Отвечает команда, первой поднявшая лист. Правильный ответ появляется на экране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1–5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числа отмечается День воспитателя?</a:t>
            </a:r>
            <a:endParaRPr lang="en-US" sz="1600" dirty="0"/>
          </a:p>
        </p:txBody>
      </p:sp>
      <p:pic>
        <p:nvPicPr>
          <p:cNvPr id="10" name="LEAF_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481328"/>
            <a:ext cx="329184" cy="329184"/>
          </a:xfrm>
          <a:prstGeom prst="rect">
            <a:avLst/>
          </a:prstGeom>
        </p:spPr>
      </p:pic>
      <p:sp>
        <p:nvSpPr>
          <p:cNvPr id="11" name="ANS_1"/>
          <p:cNvSpPr txBox="1"/>
          <p:nvPr/>
        </p:nvSpPr>
        <p:spPr>
          <a:xfrm>
            <a:off x="6025896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сентября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расшифровывается ГПД?</a:t>
            </a:r>
            <a:endParaRPr lang="en-US" sz="1600" dirty="0"/>
          </a:p>
        </p:txBody>
      </p:sp>
      <p:pic>
        <p:nvPicPr>
          <p:cNvPr id="16" name="LEAF_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139696"/>
            <a:ext cx="329184" cy="329184"/>
          </a:xfrm>
          <a:prstGeom prst="rect">
            <a:avLst/>
          </a:prstGeom>
        </p:spPr>
      </p:pic>
      <p:sp>
        <p:nvSpPr>
          <p:cNvPr id="17" name="ANS_2"/>
          <p:cNvSpPr txBox="1"/>
          <p:nvPr/>
        </p:nvSpPr>
        <p:spPr>
          <a:xfrm>
            <a:off x="6025896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продлённого дня</a:t>
            </a:r>
            <a:endParaRPr lang="en-US" sz="1600" dirty="0"/>
          </a:p>
        </p:txBody>
      </p:sp>
      <p:sp>
        <p:nvSpPr>
          <p:cNvPr id="18" name="Shape 12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минут длится обычный урок?</a:t>
            </a:r>
            <a:endParaRPr lang="en-US" sz="1600" dirty="0"/>
          </a:p>
        </p:txBody>
      </p:sp>
      <p:pic>
        <p:nvPicPr>
          <p:cNvPr id="22" name="LEAF_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798064"/>
            <a:ext cx="329184" cy="329184"/>
          </a:xfrm>
          <a:prstGeom prst="rect">
            <a:avLst/>
          </a:prstGeom>
        </p:spPr>
      </p:pic>
      <p:sp>
        <p:nvSpPr>
          <p:cNvPr id="23" name="ANS_3"/>
          <p:cNvSpPr txBox="1"/>
          <p:nvPr/>
        </p:nvSpPr>
        <p:spPr>
          <a:xfrm>
            <a:off x="6025896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минут</a:t>
            </a:r>
            <a:endParaRPr lang="en-US" sz="1600" dirty="0"/>
          </a:p>
        </p:txBody>
      </p:sp>
      <p:sp>
        <p:nvSpPr>
          <p:cNvPr id="24" name="Shape 17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перерыв между уроками?</a:t>
            </a:r>
            <a:endParaRPr lang="en-US" sz="1600" dirty="0"/>
          </a:p>
        </p:txBody>
      </p:sp>
      <p:pic>
        <p:nvPicPr>
          <p:cNvPr id="28" name="LEAF_4" descr="/tmp/claude-0/-home-user-heinrich-mario/e7688653-8e48-5480-a009-7b18c0e4f8cc/scratchpad/art/leaf_ru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456432"/>
            <a:ext cx="329184" cy="329184"/>
          </a:xfrm>
          <a:prstGeom prst="rect">
            <a:avLst/>
          </a:prstGeom>
        </p:spPr>
      </p:pic>
      <p:sp>
        <p:nvSpPr>
          <p:cNvPr id="29" name="ANS_4"/>
          <p:cNvSpPr txBox="1"/>
          <p:nvPr/>
        </p:nvSpPr>
        <p:spPr>
          <a:xfrm>
            <a:off x="6025896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Перемена</a:t>
            </a:r>
            <a:endParaRPr lang="en-US" sz="1600" dirty="0"/>
          </a:p>
        </p:txBody>
      </p:sp>
      <p:sp>
        <p:nvSpPr>
          <p:cNvPr id="30" name="Shape 22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праздник отмечают 1 сентября?</a:t>
            </a:r>
            <a:endParaRPr lang="en-US" sz="1600" dirty="0"/>
          </a:p>
        </p:txBody>
      </p:sp>
      <p:pic>
        <p:nvPicPr>
          <p:cNvPr id="34" name="LEAF_5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3560" y="4114800"/>
            <a:ext cx="329184" cy="329184"/>
          </a:xfrm>
          <a:prstGeom prst="rect">
            <a:avLst/>
          </a:prstGeom>
        </p:spPr>
      </p:pic>
      <p:sp>
        <p:nvSpPr>
          <p:cNvPr id="35" name="ANS_5"/>
          <p:cNvSpPr txBox="1"/>
          <p:nvPr/>
        </p:nvSpPr>
        <p:spPr>
          <a:xfrm>
            <a:off x="6025896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знаний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6–10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ученик записывает домашнее задание?</a:t>
            </a:r>
            <a:endParaRPr lang="en-US" sz="1600" dirty="0"/>
          </a:p>
        </p:txBody>
      </p:sp>
      <p:pic>
        <p:nvPicPr>
          <p:cNvPr id="10" name="LEAF_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481328"/>
            <a:ext cx="329184" cy="329184"/>
          </a:xfrm>
          <a:prstGeom prst="rect">
            <a:avLst/>
          </a:prstGeom>
        </p:spPr>
      </p:pic>
      <p:sp>
        <p:nvSpPr>
          <p:cNvPr id="11" name="ANS_1"/>
          <p:cNvSpPr txBox="1"/>
          <p:nvPr/>
        </p:nvSpPr>
        <p:spPr>
          <a:xfrm>
            <a:off x="6025896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дневник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в учебной неделе при пятидневке?</a:t>
            </a:r>
            <a:endParaRPr lang="en-US" sz="1600" dirty="0"/>
          </a:p>
        </p:txBody>
      </p:sp>
      <p:pic>
        <p:nvPicPr>
          <p:cNvPr id="16" name="LEAF_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139696"/>
            <a:ext cx="329184" cy="329184"/>
          </a:xfrm>
          <a:prstGeom prst="rect">
            <a:avLst/>
          </a:prstGeom>
        </p:spPr>
      </p:pic>
      <p:sp>
        <p:nvSpPr>
          <p:cNvPr id="17" name="ANS_2"/>
          <p:cNvSpPr txBox="1"/>
          <p:nvPr/>
        </p:nvSpPr>
        <p:spPr>
          <a:xfrm>
            <a:off x="6025896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</a:t>
            </a:r>
            <a:endParaRPr lang="en-US" sz="1600" dirty="0"/>
          </a:p>
        </p:txBody>
      </p:sp>
      <p:sp>
        <p:nvSpPr>
          <p:cNvPr id="18" name="Shape 12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главный документ класса с отметками?</a:t>
            </a:r>
            <a:endParaRPr lang="en-US" sz="1600" dirty="0"/>
          </a:p>
        </p:txBody>
      </p:sp>
      <p:pic>
        <p:nvPicPr>
          <p:cNvPr id="22" name="LEAF_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798064"/>
            <a:ext cx="329184" cy="329184"/>
          </a:xfrm>
          <a:prstGeom prst="rect">
            <a:avLst/>
          </a:prstGeom>
        </p:spPr>
      </p:pic>
      <p:sp>
        <p:nvSpPr>
          <p:cNvPr id="23" name="ANS_3"/>
          <p:cNvSpPr txBox="1"/>
          <p:nvPr/>
        </p:nvSpPr>
        <p:spPr>
          <a:xfrm>
            <a:off x="6025896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журнал</a:t>
            </a:r>
            <a:endParaRPr lang="en-US" sz="1600" dirty="0"/>
          </a:p>
        </p:txBody>
      </p:sp>
      <p:sp>
        <p:nvSpPr>
          <p:cNvPr id="24" name="Shape 17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время года открывает учебный год?</a:t>
            </a:r>
            <a:endParaRPr lang="en-US" sz="1600" dirty="0"/>
          </a:p>
        </p:txBody>
      </p:sp>
      <p:pic>
        <p:nvPicPr>
          <p:cNvPr id="28" name="LEAF_4" descr="/tmp/claude-0/-home-user-heinrich-mario/e7688653-8e48-5480-a009-7b18c0e4f8cc/scratchpad/art/leaf_ru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456432"/>
            <a:ext cx="329184" cy="329184"/>
          </a:xfrm>
          <a:prstGeom prst="rect">
            <a:avLst/>
          </a:prstGeom>
        </p:spPr>
      </p:pic>
      <p:sp>
        <p:nvSpPr>
          <p:cNvPr id="29" name="ANS_4"/>
          <p:cNvSpPr txBox="1"/>
          <p:nvPr/>
        </p:nvSpPr>
        <p:spPr>
          <a:xfrm>
            <a:off x="6025896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</a:t>
            </a:r>
            <a:endParaRPr lang="en-US" sz="1600" dirty="0"/>
          </a:p>
        </p:txBody>
      </p:sp>
      <p:sp>
        <p:nvSpPr>
          <p:cNvPr id="30" name="Shape 22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школе «и швец, и жнец, и на дуде игрец»?</a:t>
            </a:r>
            <a:endParaRPr lang="en-US" sz="1600" dirty="0"/>
          </a:p>
        </p:txBody>
      </p:sp>
      <p:pic>
        <p:nvPicPr>
          <p:cNvPr id="34" name="LEAF_5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3560" y="4114800"/>
            <a:ext cx="329184" cy="329184"/>
          </a:xfrm>
          <a:prstGeom prst="rect">
            <a:avLst/>
          </a:prstGeom>
        </p:spPr>
      </p:pic>
      <p:sp>
        <p:nvSpPr>
          <p:cNvPr id="35" name="ANS_5"/>
          <p:cNvSpPr txBox="1"/>
          <p:nvPr/>
        </p:nvSpPr>
        <p:spPr>
          <a:xfrm>
            <a:off x="6025896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Конечно, воспитатель!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начало народной мудрости — команда договаривает конец. Пословицы про ученье, труд и детей. Ответ появится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1–7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Ученье — свет, …</a:t>
            </a:r>
            <a:endParaRPr lang="en-US" sz="1450" dirty="0"/>
          </a:p>
        </p:txBody>
      </p:sp>
      <p:pic>
        <p:nvPicPr>
          <p:cNvPr id="10" name="LEAF_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67028"/>
            <a:ext cx="292608" cy="292608"/>
          </a:xfrm>
          <a:prstGeom prst="rect">
            <a:avLst/>
          </a:prstGeom>
        </p:spPr>
      </p:pic>
      <p:sp>
        <p:nvSpPr>
          <p:cNvPr id="11" name="ANS_1"/>
          <p:cNvSpPr txBox="1"/>
          <p:nvPr/>
        </p:nvSpPr>
        <p:spPr>
          <a:xfrm>
            <a:off x="5212080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неученье — тьма.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труда …</a:t>
            </a:r>
            <a:endParaRPr lang="en-US" sz="1450" dirty="0"/>
          </a:p>
        </p:txBody>
      </p:sp>
      <p:pic>
        <p:nvPicPr>
          <p:cNvPr id="16" name="LEAF_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865376"/>
            <a:ext cx="292608" cy="292608"/>
          </a:xfrm>
          <a:prstGeom prst="rect">
            <a:avLst/>
          </a:prstGeom>
        </p:spPr>
      </p:pic>
      <p:sp>
        <p:nvSpPr>
          <p:cNvPr id="17" name="ANS_2"/>
          <p:cNvSpPr txBox="1"/>
          <p:nvPr/>
        </p:nvSpPr>
        <p:spPr>
          <a:xfrm>
            <a:off x="5212080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вытащишь и рыбку из пруда.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Повторенье — …</a:t>
            </a:r>
            <a:endParaRPr lang="en-US" sz="1450" dirty="0"/>
          </a:p>
        </p:txBody>
      </p:sp>
      <p:pic>
        <p:nvPicPr>
          <p:cNvPr id="22" name="LEAF_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363724"/>
            <a:ext cx="292608" cy="292608"/>
          </a:xfrm>
          <a:prstGeom prst="rect">
            <a:avLst/>
          </a:prstGeom>
        </p:spPr>
      </p:pic>
      <p:sp>
        <p:nvSpPr>
          <p:cNvPr id="23" name="ANS_3"/>
          <p:cNvSpPr txBox="1"/>
          <p:nvPr/>
        </p:nvSpPr>
        <p:spPr>
          <a:xfrm>
            <a:off x="5212080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мать ученья.</a:t>
            </a:r>
            <a:endParaRPr lang="en-US" sz="1450" dirty="0"/>
          </a:p>
        </p:txBody>
      </p:sp>
      <p:sp>
        <p:nvSpPr>
          <p:cNvPr id="24" name="Shape 17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Терпенье и труд …</a:t>
            </a:r>
            <a:endParaRPr lang="en-US" sz="1450" dirty="0"/>
          </a:p>
        </p:txBody>
      </p:sp>
      <p:pic>
        <p:nvPicPr>
          <p:cNvPr id="28" name="LEAF_4" descr="/tmp/claude-0/-home-user-heinrich-mario/e7688653-8e48-5480-a009-7b18c0e4f8cc/scratchpad/art/leaf_ru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2862072"/>
            <a:ext cx="292608" cy="292608"/>
          </a:xfrm>
          <a:prstGeom prst="rect">
            <a:avLst/>
          </a:prstGeom>
        </p:spPr>
      </p:pic>
      <p:sp>
        <p:nvSpPr>
          <p:cNvPr id="29" name="ANS_4"/>
          <p:cNvSpPr txBox="1"/>
          <p:nvPr/>
        </p:nvSpPr>
        <p:spPr>
          <a:xfrm>
            <a:off x="5212080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перетрут.</a:t>
            </a:r>
            <a:endParaRPr lang="en-US" sz="1450" dirty="0"/>
          </a:p>
        </p:txBody>
      </p:sp>
      <p:sp>
        <p:nvSpPr>
          <p:cNvPr id="30" name="Shape 22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живи — …</a:t>
            </a:r>
            <a:endParaRPr lang="en-US" sz="1450" dirty="0"/>
          </a:p>
        </p:txBody>
      </p:sp>
      <p:pic>
        <p:nvPicPr>
          <p:cNvPr id="34" name="LEAF_5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3360420"/>
            <a:ext cx="292608" cy="292608"/>
          </a:xfrm>
          <a:prstGeom prst="rect">
            <a:avLst/>
          </a:prstGeom>
        </p:spPr>
      </p:pic>
      <p:sp>
        <p:nvSpPr>
          <p:cNvPr id="35" name="ANS_5"/>
          <p:cNvSpPr txBox="1"/>
          <p:nvPr/>
        </p:nvSpPr>
        <p:spPr>
          <a:xfrm>
            <a:off x="5212080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учись.</a:t>
            </a:r>
            <a:endParaRPr lang="en-US" sz="1450" dirty="0"/>
          </a:p>
        </p:txBody>
      </p:sp>
      <p:sp>
        <p:nvSpPr>
          <p:cNvPr id="36" name="Shape 27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28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Грамоте учиться — …</a:t>
            </a:r>
            <a:endParaRPr lang="en-US" sz="1450" dirty="0"/>
          </a:p>
        </p:txBody>
      </p:sp>
      <p:pic>
        <p:nvPicPr>
          <p:cNvPr id="40" name="LEAF_6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320" y="3858768"/>
            <a:ext cx="292608" cy="292608"/>
          </a:xfrm>
          <a:prstGeom prst="rect">
            <a:avLst/>
          </a:prstGeom>
        </p:spPr>
      </p:pic>
      <p:sp>
        <p:nvSpPr>
          <p:cNvPr id="41" name="ANS_6"/>
          <p:cNvSpPr txBox="1"/>
          <p:nvPr/>
        </p:nvSpPr>
        <p:spPr>
          <a:xfrm>
            <a:off x="5212080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пригодится.</a:t>
            </a:r>
            <a:endParaRPr lang="en-US" sz="1450" dirty="0"/>
          </a:p>
        </p:txBody>
      </p:sp>
      <p:sp>
        <p:nvSpPr>
          <p:cNvPr id="42" name="Shape 32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3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34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35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посеешь, …</a:t>
            </a:r>
            <a:endParaRPr lang="en-US" sz="1450" dirty="0"/>
          </a:p>
        </p:txBody>
      </p:sp>
      <p:pic>
        <p:nvPicPr>
          <p:cNvPr id="46" name="LEAF_7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6320" y="4357116"/>
            <a:ext cx="292608" cy="292608"/>
          </a:xfrm>
          <a:prstGeom prst="rect">
            <a:avLst/>
          </a:prstGeom>
        </p:spPr>
      </p:pic>
      <p:sp>
        <p:nvSpPr>
          <p:cNvPr id="47" name="ANS_7"/>
          <p:cNvSpPr txBox="1"/>
          <p:nvPr/>
        </p:nvSpPr>
        <p:spPr>
          <a:xfrm>
            <a:off x="5212080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и пожнёшь.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8–14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стыдно не знать, …</a:t>
            </a:r>
            <a:endParaRPr lang="en-US" sz="1450" dirty="0"/>
          </a:p>
        </p:txBody>
      </p:sp>
      <p:pic>
        <p:nvPicPr>
          <p:cNvPr id="10" name="LEAF_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67028"/>
            <a:ext cx="292608" cy="292608"/>
          </a:xfrm>
          <a:prstGeom prst="rect">
            <a:avLst/>
          </a:prstGeom>
        </p:spPr>
      </p:pic>
      <p:sp>
        <p:nvSpPr>
          <p:cNvPr id="11" name="ANS_1"/>
          <p:cNvSpPr txBox="1"/>
          <p:nvPr/>
        </p:nvSpPr>
        <p:spPr>
          <a:xfrm>
            <a:off x="5212080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стыдно не учиться.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Корень ученья горек, …</a:t>
            </a:r>
            <a:endParaRPr lang="en-US" sz="1450" dirty="0"/>
          </a:p>
        </p:txBody>
      </p:sp>
      <p:pic>
        <p:nvPicPr>
          <p:cNvPr id="16" name="LEAF_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865376"/>
            <a:ext cx="292608" cy="292608"/>
          </a:xfrm>
          <a:prstGeom prst="rect">
            <a:avLst/>
          </a:prstGeom>
        </p:spPr>
      </p:pic>
      <p:sp>
        <p:nvSpPr>
          <p:cNvPr id="17" name="ANS_2"/>
          <p:cNvSpPr txBox="1"/>
          <p:nvPr/>
        </p:nvSpPr>
        <p:spPr>
          <a:xfrm>
            <a:off x="5212080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плод его сладок.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много читает, …</a:t>
            </a:r>
            <a:endParaRPr lang="en-US" sz="1450" dirty="0"/>
          </a:p>
        </p:txBody>
      </p:sp>
      <p:pic>
        <p:nvPicPr>
          <p:cNvPr id="22" name="LEAF_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363724"/>
            <a:ext cx="292608" cy="292608"/>
          </a:xfrm>
          <a:prstGeom prst="rect">
            <a:avLst/>
          </a:prstGeom>
        </p:spPr>
      </p:pic>
      <p:sp>
        <p:nvSpPr>
          <p:cNvPr id="23" name="ANS_3"/>
          <p:cNvSpPr txBox="1"/>
          <p:nvPr/>
        </p:nvSpPr>
        <p:spPr>
          <a:xfrm>
            <a:off x="5212080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много знает.</a:t>
            </a:r>
            <a:endParaRPr lang="en-US" sz="1450" dirty="0"/>
          </a:p>
        </p:txBody>
      </p:sp>
      <p:sp>
        <p:nvSpPr>
          <p:cNvPr id="24" name="Shape 17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Делу время, …</a:t>
            </a:r>
            <a:endParaRPr lang="en-US" sz="1450" dirty="0"/>
          </a:p>
        </p:txBody>
      </p:sp>
      <p:pic>
        <p:nvPicPr>
          <p:cNvPr id="28" name="LEAF_4" descr="/tmp/claude-0/-home-user-heinrich-mario/e7688653-8e48-5480-a009-7b18c0e4f8cc/scratchpad/art/leaf_ru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2862072"/>
            <a:ext cx="292608" cy="292608"/>
          </a:xfrm>
          <a:prstGeom prst="rect">
            <a:avLst/>
          </a:prstGeom>
        </p:spPr>
      </p:pic>
      <p:sp>
        <p:nvSpPr>
          <p:cNvPr id="29" name="ANS_4"/>
          <p:cNvSpPr txBox="1"/>
          <p:nvPr/>
        </p:nvSpPr>
        <p:spPr>
          <a:xfrm>
            <a:off x="5212080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потехе час.</a:t>
            </a:r>
            <a:endParaRPr lang="en-US" sz="1450" dirty="0"/>
          </a:p>
        </p:txBody>
      </p:sp>
      <p:sp>
        <p:nvSpPr>
          <p:cNvPr id="30" name="Shape 22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дело — …</a:t>
            </a:r>
            <a:endParaRPr lang="en-US" sz="1450" dirty="0"/>
          </a:p>
        </p:txBody>
      </p:sp>
      <p:pic>
        <p:nvPicPr>
          <p:cNvPr id="34" name="LEAF_5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3360420"/>
            <a:ext cx="292608" cy="292608"/>
          </a:xfrm>
          <a:prstGeom prst="rect">
            <a:avLst/>
          </a:prstGeom>
        </p:spPr>
      </p:pic>
      <p:sp>
        <p:nvSpPr>
          <p:cNvPr id="35" name="ANS_5"/>
          <p:cNvSpPr txBox="1"/>
          <p:nvPr/>
        </p:nvSpPr>
        <p:spPr>
          <a:xfrm>
            <a:off x="5212080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гуляй смело.</a:t>
            </a:r>
            <a:endParaRPr lang="en-US" sz="1450" dirty="0"/>
          </a:p>
        </p:txBody>
      </p:sp>
      <p:sp>
        <p:nvSpPr>
          <p:cNvPr id="36" name="Shape 27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28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раз отмерь — …</a:t>
            </a:r>
            <a:endParaRPr lang="en-US" sz="1450" dirty="0"/>
          </a:p>
        </p:txBody>
      </p:sp>
      <p:pic>
        <p:nvPicPr>
          <p:cNvPr id="40" name="LEAF_6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320" y="3858768"/>
            <a:ext cx="292608" cy="292608"/>
          </a:xfrm>
          <a:prstGeom prst="rect">
            <a:avLst/>
          </a:prstGeom>
        </p:spPr>
      </p:pic>
      <p:sp>
        <p:nvSpPr>
          <p:cNvPr id="41" name="ANS_6"/>
          <p:cNvSpPr txBox="1"/>
          <p:nvPr/>
        </p:nvSpPr>
        <p:spPr>
          <a:xfrm>
            <a:off x="5212080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раз отрежь.</a:t>
            </a:r>
            <a:endParaRPr lang="en-US" sz="1450" dirty="0"/>
          </a:p>
        </p:txBody>
      </p:sp>
      <p:sp>
        <p:nvSpPr>
          <p:cNvPr id="42" name="Shape 32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3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34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35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Яблоко от яблони …</a:t>
            </a:r>
            <a:endParaRPr lang="en-US" sz="1450" dirty="0"/>
          </a:p>
        </p:txBody>
      </p:sp>
      <p:pic>
        <p:nvPicPr>
          <p:cNvPr id="46" name="LEAF_7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6320" y="4357116"/>
            <a:ext cx="292608" cy="292608"/>
          </a:xfrm>
          <a:prstGeom prst="rect">
            <a:avLst/>
          </a:prstGeom>
        </p:spPr>
      </p:pic>
      <p:sp>
        <p:nvSpPr>
          <p:cNvPr id="47" name="ANS_7"/>
          <p:cNvSpPr txBox="1"/>
          <p:nvPr/>
        </p:nvSpPr>
        <p:spPr>
          <a:xfrm>
            <a:off x="5212080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недалеко падает.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строчку из знакомой песни — команда поёт продолжение. Хором, громко и обязательно с душой! Проверяем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1–4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«Буквы разные писать тонким пёрышком в тетрадь…»</a:t>
            </a:r>
            <a:endParaRPr lang="en-US" sz="1400" dirty="0"/>
          </a:p>
        </p:txBody>
      </p:sp>
      <p:pic>
        <p:nvPicPr>
          <p:cNvPr id="10" name="LEAF_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1527048"/>
            <a:ext cx="347472" cy="347472"/>
          </a:xfrm>
          <a:prstGeom prst="rect">
            <a:avLst/>
          </a:prstGeom>
        </p:spPr>
      </p:pic>
      <p:sp>
        <p:nvSpPr>
          <p:cNvPr id="11" name="ANS_1"/>
          <p:cNvSpPr txBox="1"/>
          <p:nvPr/>
        </p:nvSpPr>
        <p:spPr>
          <a:xfrm>
            <a:off x="5038344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…учат в школе, учат в школе, учат в школе!»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7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 улыбки хмурый день светлей…»</a:t>
            </a:r>
            <a:endParaRPr lang="en-US" sz="1400" dirty="0"/>
          </a:p>
        </p:txBody>
      </p:sp>
      <p:pic>
        <p:nvPicPr>
          <p:cNvPr id="16" name="LEAF_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720" y="2368296"/>
            <a:ext cx="347472" cy="347472"/>
          </a:xfrm>
          <a:prstGeom prst="rect">
            <a:avLst/>
          </a:prstGeom>
        </p:spPr>
      </p:pic>
      <p:sp>
        <p:nvSpPr>
          <p:cNvPr id="17" name="ANS_2"/>
          <p:cNvSpPr txBox="1"/>
          <p:nvPr/>
        </p:nvSpPr>
        <p:spPr>
          <a:xfrm>
            <a:off x="5038344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…от улыбки в небе радуга проснётся»</a:t>
            </a:r>
            <a:endParaRPr lang="en-US" sz="1500" dirty="0"/>
          </a:p>
        </p:txBody>
      </p:sp>
      <p:sp>
        <p:nvSpPr>
          <p:cNvPr id="18" name="Shape 10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1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6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«Вместе весело шагать по просторам…»</a:t>
            </a:r>
            <a:endParaRPr lang="en-US" sz="1400" dirty="0"/>
          </a:p>
        </p:txBody>
      </p:sp>
      <p:pic>
        <p:nvPicPr>
          <p:cNvPr id="22" name="LEAF_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7720" y="3209544"/>
            <a:ext cx="347472" cy="347472"/>
          </a:xfrm>
          <a:prstGeom prst="rect">
            <a:avLst/>
          </a:prstGeom>
        </p:spPr>
      </p:pic>
      <p:sp>
        <p:nvSpPr>
          <p:cNvPr id="23" name="ANS_3"/>
          <p:cNvSpPr txBox="1"/>
          <p:nvPr/>
        </p:nvSpPr>
        <p:spPr>
          <a:xfrm>
            <a:off x="5038344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…и, конечно, припевать лучше хором»</a:t>
            </a:r>
            <a:endParaRPr lang="en-US" sz="1500" dirty="0"/>
          </a:p>
        </p:txBody>
      </p:sp>
      <p:sp>
        <p:nvSpPr>
          <p:cNvPr id="24" name="Shape 14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5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8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«Пусть бегут неуклюже пешеходы по лужам…»</a:t>
            </a:r>
            <a:endParaRPr lang="en-US" sz="1400" dirty="0"/>
          </a:p>
        </p:txBody>
      </p:sp>
      <p:pic>
        <p:nvPicPr>
          <p:cNvPr id="28" name="LEAF_4" descr="/tmp/claude-0/-home-user-heinrich-mario/e7688653-8e48-5480-a009-7b18c0e4f8cc/scratchpad/art/leaf_ru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7720" y="4050792"/>
            <a:ext cx="347472" cy="347472"/>
          </a:xfrm>
          <a:prstGeom prst="rect">
            <a:avLst/>
          </a:prstGeom>
        </p:spPr>
      </p:pic>
      <p:sp>
        <p:nvSpPr>
          <p:cNvPr id="29" name="ANS_4"/>
          <p:cNvSpPr txBox="1"/>
          <p:nvPr/>
        </p:nvSpPr>
        <p:spPr>
          <a:xfrm>
            <a:off x="5038344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 вода по асфальту рекой»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5–8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«Антошка, Антошка…»</a:t>
            </a:r>
            <a:endParaRPr lang="en-US" sz="1400" dirty="0"/>
          </a:p>
        </p:txBody>
      </p:sp>
      <p:pic>
        <p:nvPicPr>
          <p:cNvPr id="10" name="LEAF_1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1527048"/>
            <a:ext cx="347472" cy="347472"/>
          </a:xfrm>
          <a:prstGeom prst="rect">
            <a:avLst/>
          </a:prstGeom>
        </p:spPr>
      </p:pic>
      <p:sp>
        <p:nvSpPr>
          <p:cNvPr id="11" name="ANS_1"/>
          <p:cNvSpPr txBox="1"/>
          <p:nvPr/>
        </p:nvSpPr>
        <p:spPr>
          <a:xfrm>
            <a:off x="5038344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…пойдём копать картошку!»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7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«Листья жёлтые над городом кружатся…»</a:t>
            </a:r>
            <a:endParaRPr lang="en-US" sz="1400" dirty="0"/>
          </a:p>
        </p:txBody>
      </p:sp>
      <p:pic>
        <p:nvPicPr>
          <p:cNvPr id="16" name="LEAF_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720" y="2368296"/>
            <a:ext cx="347472" cy="347472"/>
          </a:xfrm>
          <a:prstGeom prst="rect">
            <a:avLst/>
          </a:prstGeom>
        </p:spPr>
      </p:pic>
      <p:sp>
        <p:nvSpPr>
          <p:cNvPr id="17" name="ANS_2"/>
          <p:cNvSpPr txBox="1"/>
          <p:nvPr/>
        </p:nvSpPr>
        <p:spPr>
          <a:xfrm>
            <a:off x="5038344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…с тихим шорохом нам под ноги ложатся»</a:t>
            </a:r>
            <a:endParaRPr lang="en-US" sz="1500" dirty="0"/>
          </a:p>
        </p:txBody>
      </p:sp>
      <p:sp>
        <p:nvSpPr>
          <p:cNvPr id="18" name="Shape 10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1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6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такое осень? Это небо…»</a:t>
            </a:r>
            <a:endParaRPr lang="en-US" sz="1400" dirty="0"/>
          </a:p>
        </p:txBody>
      </p:sp>
      <p:pic>
        <p:nvPicPr>
          <p:cNvPr id="22" name="LEAF_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7720" y="3209544"/>
            <a:ext cx="347472" cy="347472"/>
          </a:xfrm>
          <a:prstGeom prst="rect">
            <a:avLst/>
          </a:prstGeom>
        </p:spPr>
      </p:pic>
      <p:sp>
        <p:nvSpPr>
          <p:cNvPr id="23" name="ANS_3"/>
          <p:cNvSpPr txBox="1"/>
          <p:nvPr/>
        </p:nvSpPr>
        <p:spPr>
          <a:xfrm>
            <a:off x="5038344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…плачущее небо под ногами»</a:t>
            </a:r>
            <a:endParaRPr lang="en-US" sz="1500" dirty="0"/>
          </a:p>
        </p:txBody>
      </p:sp>
      <p:sp>
        <p:nvSpPr>
          <p:cNvPr id="24" name="Shape 14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5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8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«Дважды два — четыре, дважды два — четыре…»</a:t>
            </a:r>
            <a:endParaRPr lang="en-US" sz="1400" dirty="0"/>
          </a:p>
        </p:txBody>
      </p:sp>
      <p:pic>
        <p:nvPicPr>
          <p:cNvPr id="28" name="LEAF_4" descr="/tmp/claude-0/-home-user-heinrich-mario/e7688653-8e48-5480-a009-7b18c0e4f8cc/scratchpad/art/leaf_ru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7720" y="4050792"/>
            <a:ext cx="347472" cy="347472"/>
          </a:xfrm>
          <a:prstGeom prst="rect">
            <a:avLst/>
          </a:prstGeom>
        </p:spPr>
      </p:pic>
      <p:sp>
        <p:nvSpPr>
          <p:cNvPr id="29" name="ANS_4"/>
          <p:cNvSpPr txBox="1"/>
          <p:nvPr/>
        </p:nvSpPr>
        <p:spPr>
          <a:xfrm>
            <a:off x="5038344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…это всем известно в целом мире»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ro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ФИНАЛ</a:t>
            </a:r>
            <a:endParaRPr lang="en-US" sz="8000" dirty="0"/>
          </a:p>
        </p:txBody>
      </p:sp>
      <p:sp>
        <p:nvSpPr>
          <p:cNvPr id="10" name="Text 2"/>
          <p:cNvSpPr txBox="1"/>
          <p:nvPr/>
        </p:nvSpPr>
        <p:spPr>
          <a:xfrm>
            <a:off x="1097280" y="278892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осенние листья и награждаем победителей!</a:t>
            </a:r>
            <a:endParaRPr lang="en-US" sz="2000" dirty="0"/>
          </a:p>
        </p:txBody>
      </p:sp>
      <p:sp>
        <p:nvSpPr>
          <p:cNvPr id="11" name="Text 3"/>
          <p:cNvSpPr txBox="1"/>
          <p:nvPr/>
        </p:nvSpPr>
        <p:spPr>
          <a:xfrm>
            <a:off x="1097280" y="329184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Днём воспитателя, дорогие коллеги!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 Днём воспитателя — осенний конкурс</dc:title>
  <dc:subject>PptxGenJS Presentation</dc:subject>
  <dc:creator>PptxGenJS</dc:creator>
  <cp:lastModifiedBy>PptxGenJS</cp:lastModifiedBy>
  <cp:revision>1</cp:revision>
  <dcterms:created xsi:type="dcterms:W3CDTF">2026-09-24T18:08:29Z</dcterms:created>
  <dcterms:modified xsi:type="dcterms:W3CDTF">2026-09-24T18:08:29Z</dcterms:modified>
</cp:coreProperties>
</file>