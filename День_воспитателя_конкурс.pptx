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e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Открытка ко Дню воспитателя (27 сентября). Слайд-заставка перед началом конкурса.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Ведущий приветствует воспитателей, объясняет правила: команды, четыре раунда, за верный ответ — 1 очко. В финале считаем очки.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Раунд 1. Показываем 8 фото. На каждом слайде с фото идёт отсчёт 45 секунд, затем слайд сам переходит к ответу (можно и раньше — щелчком).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Фото № 1 — Людмила Виолетта Владимировна. В показе идёт отсчёт 45 секунд, после чего слайд сам переходит к ответу.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Ответ к фото № 1: Людмила Виолетта Владимировна. Подпись «воспитатель нашей школы» можно заменить на класс или группу.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Фото № 2 — Леонова Ирина Александровна. В показе идёт отсчёт 45 секунд, после чего слайд сам переходит к ответу.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Ответ к фото № 2: Леонова Ирина Александровна. Подпись «воспитатель нашей школы» можно заменить на класс или группу.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Фото № 3 — Литвиненко Алёна Александровна. В показе идёт отсчёт 45 секунд, после чего слайд сам переходит к ответу.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Ответ к фото № 3: Литвиненко Алёна Александровна. Подпись «воспитатель нашей школы» можно заменить на класс или группу.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Фото № 4 — Король Жанна Владимировна. В показе идёт отсчёт 45 секунд, после чего слайд сам переходит к ответу.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Ответ к фото № 4: Король Жанна Владимировна. Подпись «воспитатель нашей школы» можно заменить на класс или группу.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Фото № 5 — Исупова Наталия Ростиславовна. В показе идёт отсчёт 45 секунд, после чего слайд сам переходит к ответу.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Ответ к фото № 5: Исупова Наталия Ростиславовна. Подпись «воспитатель нашей школы» можно заменить на класс или группу.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Фото № 6 — Белик Людмила Владимировна. В показе идёт отсчёт 45 секунд, после чего слайд сам переходит к ответу.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Ответ к фото № 6: Белик Людмила Владимировна. Подпись «воспитатель нашей школы» можно заменить на класс или группу.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Фото № 7 — Царькова Анастасия Вячеславовна. В показе идёт отсчёт 45 секунд, после чего слайд сам переходит к ответу.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Ответ к фото № 7: Царькова Анастасия Вячеславовна. Подпись «воспитатель нашей школы» можно заменить на класс или группу.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Фото № 8 — Захарова Ирина Алексеевна. В показе идёт отсчёт 45 секунд, после чего слайд сам переходит к ответу.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Ответ к фото № 8: Захарова Ирина Алексеевна. Подпись «воспитатель нашей школы» можно заменить на класс или группу.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Раунд 2. Десять вопросов на двух слайдах. Каждый щелчок (или стрелка) открывает ответ на очередной вопрос. Ответы также в заметках.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Ответы (появляются по щелчку, за верный ответ — 1 очко): 1) 27 сентября; 2) Группа продлённого дня; 3) 45 минут; 4) Перемена; 5) День знаний.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Ответы (появляются по щелчку, за верный ответ — 1 очко): 6) В дневник; 7) Пять; 8) Классный журнал; 9) Осень; 10) Конечно, воспитатель!.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Раунд 3. Четырнадцать пословиц на двух слайдах. Каждый щелчок открывает окончание очередной пословицы.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Ответы (по щелчку): 1) Ученье — свет, а неученье — тьма. 2) Без труда не вытащишь и рыбку из пруда. 3) Повторенье — мать ученья. 4) Терпенье и труд всё перетрут. 5) Век живи — век учись. 6) Грамоте учиться — всегда пригодится. 7) Что посеешь, то и пожнёшь.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Ответы (по щелчку): 8) Не стыдно не знать, стыдно не учиться. 9) Корень ученья горек, да плод его сладок. 10) Кто много читает, тот много знает. 11) Делу время, потехе час. 12) Сделал дело — гуляй смело. 13) Семь раз отмерь — один раз отрежь. 14) Яблоко от яблони недалеко падает.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Раунд 4. Восемь песен — школьных и осенних, на двух слайдах. Каждый щелчок открывает продолжение очередной песни.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Продолжения (по щелчку): 1) …учат в школе, учат в школе, учат в школе!» 2) …от улыбки в небе радуга проснётся» 3) …и, конечно, припевать лучше хором» 4) …а вода по асфальту рекой»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Продолжения (по щелчку): 5) …пойдём копать картошку!» 6) …с тихим шорохом нам под ноги ложатся» 7) …плачущее небо под ногами» 8) …это всем известно в целом мире»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Финал: подсчёт очков, награждение всех участников, поздравление.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Заключительный слайд с подписью автора.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PHOTO_Q-image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PHOTO_A-image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LAI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HOTO_Q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pic" idx="100" hasCustomPrompt="1"/>
          </p:nvPr>
        </p:nvSpPr>
        <p:spPr>
          <a:xfrm>
            <a:off x="658368" y="841248"/>
            <a:ext cx="3072384" cy="375818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Щёлкните значок, чтобы вставить фото коллеги</a:t>
            </a:r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HOTO_A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pic" idx="100" hasCustomPrompt="1"/>
          </p:nvPr>
        </p:nvSpPr>
        <p:spPr>
          <a:xfrm>
            <a:off x="658368" y="1005840"/>
            <a:ext cx="2615184" cy="330098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Щёлкните значок, чтобы вставить фото коллеги</a:t>
            </a:r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image" Target="../media/image-4-2.jpg"/><Relationship Id="rId3" Type="http://schemas.openxmlformats.org/officeDocument/2006/relationships/image" Target="../media/image-4-3.gif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image" Target="../media/image-5-2.jp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image" Target="../media/image-6-2.jpg"/><Relationship Id="rId3" Type="http://schemas.openxmlformats.org/officeDocument/2006/relationships/image" Target="../media/image-6-3.gif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image" Target="../media/image-7-2.jp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image" Target="../media/image-8-2.jpg"/><Relationship Id="rId3" Type="http://schemas.openxmlformats.org/officeDocument/2006/relationships/image" Target="../media/image-8-3.gif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image" Target="../media/image-9-2.jp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image" Target="../media/image-10-2.jpg"/><Relationship Id="rId3" Type="http://schemas.openxmlformats.org/officeDocument/2006/relationships/image" Target="../media/image-10-3.gif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image" Target="../media/image-11-2.jp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image" Target="../media/image-12-2.jpg"/><Relationship Id="rId3" Type="http://schemas.openxmlformats.org/officeDocument/2006/relationships/image" Target="../media/image-12-3.gif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image" Target="../media/image-13-2.jp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image" Target="../media/image-14-2.jpg"/><Relationship Id="rId3" Type="http://schemas.openxmlformats.org/officeDocument/2006/relationships/image" Target="../media/image-14-3.gif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jpeg"/><Relationship Id="rId2" Type="http://schemas.openxmlformats.org/officeDocument/2006/relationships/image" Target="../media/image-15-2.jp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jpeg"/><Relationship Id="rId2" Type="http://schemas.openxmlformats.org/officeDocument/2006/relationships/image" Target="../media/image-16-2.jpg"/><Relationship Id="rId3" Type="http://schemas.openxmlformats.org/officeDocument/2006/relationships/image" Target="../media/image-16-3.gif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image" Target="../media/image-17-2.jp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jpeg"/><Relationship Id="rId2" Type="http://schemas.openxmlformats.org/officeDocument/2006/relationships/image" Target="../media/image-18-2.jpg"/><Relationship Id="rId3" Type="http://schemas.openxmlformats.org/officeDocument/2006/relationships/image" Target="../media/image-18-3.gif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jpeg"/><Relationship Id="rId2" Type="http://schemas.openxmlformats.org/officeDocument/2006/relationships/image" Target="../media/image-19-2.jp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jpe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jpe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jpe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jpe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jpe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4.png"/><Relationship Id="rId6" Type="http://schemas.openxmlformats.org/officeDocument/2006/relationships/image" Target="../media/image-27-4.png"/><Relationship Id="rId7" Type="http://schemas.openxmlformats.org/officeDocument/2006/relationships/image" Target="../media/image-27-4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jpe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image" Target="../media/image-28-4.png"/><Relationship Id="rId6" Type="http://schemas.openxmlformats.org/officeDocument/2006/relationships/image" Target="../media/image-28-4.png"/><Relationship Id="rId7" Type="http://schemas.openxmlformats.org/officeDocument/2006/relationships/image" Target="../media/image-28-4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image" Target="../media/image-29-4.png"/><Relationship Id="rId5" Type="http://schemas.openxmlformats.org/officeDocument/2006/relationships/image" Target="../media/image-29-5.png"/><Relationship Id="rId6" Type="http://schemas.openxmlformats.org/officeDocument/2006/relationships/image" Target="../media/image-29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heinrich-mario/e7688653-8e48-5480-a009-7b18c0e4f8cc/scratchpad/img/lake.jpg">    </p:cNvPr>
          <p:cNvPicPr>
            <a:picLocks noChangeAspect="1"/>
          </p:cNvPicPr>
          <p:nvPr/>
        </p:nvPicPr>
        <p:blipFill>
          <a:blip r:embed="rId1"/>
          <a:srcRect l="0" r="0" t="14167" b="14167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/tmp/claude-0/-home-user-heinrich-mario/e7688653-8e48-5480-a009-7b18c0e4f8cc/scratchpad/art/overlay_botto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274320" y="274320"/>
            <a:ext cx="8595360" cy="4594860"/>
          </a:xfrm>
          <a:prstGeom prst="rect">
            <a:avLst/>
          </a:prstGeom>
          <a:ln w="19050">
            <a:solidFill>
              <a:srgbClr val="EBB021"/>
            </a:solidFill>
            <a:prstDash val="solid"/>
          </a:ln>
        </p:spPr>
      </p:sp>
      <p:pic>
        <p:nvPicPr>
          <p:cNvPr id="5" name="Image 2" descr="/tmp/claude-0/-home-user-heinrich-mario/e7688653-8e48-5480-a009-7b18c0e4f8cc/scratchpad/art/leaf_r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384048"/>
            <a:ext cx="1143000" cy="1143000"/>
          </a:xfrm>
          <a:prstGeom prst="rect">
            <a:avLst/>
          </a:prstGeom>
        </p:spPr>
      </p:pic>
      <p:pic>
        <p:nvPicPr>
          <p:cNvPr id="6" name="Image 3" descr="/tmp/claude-0/-home-user-heinrich-mario/e7688653-8e48-5480-a009-7b18c0e4f8cc/scratchpad/art/leaf_gol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35240" y="320040"/>
            <a:ext cx="1188720" cy="1188720"/>
          </a:xfrm>
          <a:prstGeom prst="rect">
            <a:avLst/>
          </a:prstGeom>
        </p:spPr>
      </p:pic>
      <p:pic>
        <p:nvPicPr>
          <p:cNvPr id="7" name="Image 4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6680" y="3611880"/>
            <a:ext cx="1097280" cy="1097280"/>
          </a:xfrm>
          <a:prstGeom prst="rect">
            <a:avLst/>
          </a:prstGeom>
        </p:spPr>
      </p:pic>
      <p:pic>
        <p:nvPicPr>
          <p:cNvPr id="8" name="Image 5" descr="/tmp/claude-0/-home-user-heinrich-mario/e7688653-8e48-5480-a009-7b18c0e4f8cc/scratchpad/art/leaf_win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5760" y="3703320"/>
            <a:ext cx="1051560" cy="1051560"/>
          </a:xfrm>
          <a:prstGeom prst="rect">
            <a:avLst/>
          </a:prstGeom>
        </p:spPr>
      </p:pic>
      <p:sp>
        <p:nvSpPr>
          <p:cNvPr id="9" name="Text 1"/>
          <p:cNvSpPr txBox="1"/>
          <p:nvPr/>
        </p:nvSpPr>
        <p:spPr>
          <a:xfrm>
            <a:off x="914400" y="1325880"/>
            <a:ext cx="7315200" cy="36576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600" kern="0" dirty="0">
                <a:solidFill>
                  <a:srgbClr val="EBB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СЕНТЯБРЯ</a:t>
            </a:r>
            <a:endParaRPr lang="en-US" sz="1600" dirty="0"/>
          </a:p>
        </p:txBody>
      </p:sp>
      <p:sp>
        <p:nvSpPr>
          <p:cNvPr id="10" name="Text 2"/>
          <p:cNvSpPr txBox="1"/>
          <p:nvPr/>
        </p:nvSpPr>
        <p:spPr>
          <a:xfrm>
            <a:off x="457200" y="1737360"/>
            <a:ext cx="8229600" cy="96012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 Днём воспитателя!</a:t>
            </a:r>
            <a:endParaRPr lang="en-US" sz="4600" dirty="0"/>
          </a:p>
        </p:txBody>
      </p:sp>
      <p:sp>
        <p:nvSpPr>
          <p:cNvPr id="11" name="Text 3"/>
          <p:cNvSpPr txBox="1"/>
          <p:nvPr/>
        </p:nvSpPr>
        <p:spPr>
          <a:xfrm>
            <a:off x="1463040" y="2880360"/>
            <a:ext cx="6217920" cy="86868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i="1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Дорогие воспитатели нашей школы! Пусть эта осень дарит вам тепло, а работа — радость, вдохновение и благодарные улыбки детей.</a:t>
            </a:r>
            <a:endParaRPr lang="en-US" sz="1700" dirty="0"/>
          </a:p>
        </p:txBody>
      </p:sp>
      <p:sp>
        <p:nvSpPr>
          <p:cNvPr id="13" name="Text 4"/>
          <p:cNvSpPr txBox="1"/>
          <p:nvPr/>
        </p:nvSpPr>
        <p:spPr>
          <a:xfrm>
            <a:off x="274320" y="487375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i="1" spc="100" kern="0" dirty="0">
                <a:solidFill>
                  <a:srgbClr val="D9B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by Heinrich Himmelreich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heinrich-mario/e7688653-8e48-5480-a009-7b18c0e4f8cc/scratchpad/art/leaves_roun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57200"/>
            <a:ext cx="3657600" cy="422910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3" name="Text 0"/>
          <p:cNvSpPr txBox="1"/>
          <p:nvPr/>
        </p:nvSpPr>
        <p:spPr>
          <a:xfrm>
            <a:off x="4526280" y="45720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КОНКУРС ДЛЯ ВОСПИТАТЕЛЕЙ ШКОЛЫ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4526280" y="731520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Воспитатели в теме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4526280" y="1874520"/>
            <a:ext cx="4160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Дорогие коллеги! Сегодня никто никого не проверяет: мы вспоминаем, поём и радуемся друг другу. Вас ждут четыре раунда и финал.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4526280" y="2624328"/>
            <a:ext cx="292608" cy="292608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4526280" y="26243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4937760" y="2606040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Узнай коллегу по фото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526280" y="2971800"/>
            <a:ext cx="292608" cy="292608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4526280" y="29718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4937760" y="2953512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Блиц-опрос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4526280" y="3319272"/>
            <a:ext cx="292608" cy="292608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4526280" y="33192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4937760" y="3300984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Закончи пословицу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4526280" y="3666744"/>
            <a:ext cx="292608" cy="292608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4526280" y="36667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4937760" y="3648456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Продолжи песню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526280" y="4014216"/>
            <a:ext cx="292608" cy="292608"/>
          </a:xfrm>
          <a:prstGeom prst="ellipse">
            <a:avLst/>
          </a:prstGeom>
          <a:solidFill>
            <a:srgbClr val="B5451B"/>
          </a:solidFill>
          <a:ln w="12700">
            <a:solidFill>
              <a:srgbClr val="B5451B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4526280" y="40142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4937760" y="3995928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Финал и награждение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4526280" y="4389120"/>
            <a:ext cx="4160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8A6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 каждый верный ответ команда получает 1 очко. Побеждает команда, набравшая к финалу больше всех очков!</a:t>
            </a:r>
            <a:endParaRPr lang="en-US" sz="1150" dirty="0"/>
          </a:p>
        </p:txBody>
      </p:sp>
      <p:sp>
        <p:nvSpPr>
          <p:cNvPr id="23" name="Text 19"/>
          <p:cNvSpPr txBox="1"/>
          <p:nvPr/>
        </p:nvSpPr>
        <p:spPr>
          <a:xfrm>
            <a:off x="274320" y="487375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i="1" spc="100" kern="0" dirty="0">
                <a:solidFill>
                  <a:srgbClr val="8A6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by Heinrich Himmelreich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heinrich-mario/e7688653-8e48-5480-a009-7b18c0e4f8cc/scratchpad/img/forest.jpg">    </p:cNvPr>
          <p:cNvPicPr>
            <a:picLocks noChangeAspect="1"/>
          </p:cNvPicPr>
          <p:nvPr/>
        </p:nvPicPr>
        <p:blipFill>
          <a:blip r:embed="rId1"/>
          <a:srcRect l="0" r="0" t="7977" b="7977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/tmp/claude-0/-home-user-heinrich-mario/e7688653-8e48-5480-a009-7b18c0e4f8cc/scratchpad/art/overlay_fla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822960" y="1600200"/>
            <a:ext cx="1554480" cy="1554480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5" name="Text 1"/>
          <p:cNvSpPr txBox="1"/>
          <p:nvPr/>
        </p:nvSpPr>
        <p:spPr>
          <a:xfrm>
            <a:off x="822960" y="160020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5400" dirty="0"/>
          </a:p>
        </p:txBody>
      </p:sp>
      <p:sp>
        <p:nvSpPr>
          <p:cNvPr id="6" name="Text 2"/>
          <p:cNvSpPr txBox="1"/>
          <p:nvPr/>
        </p:nvSpPr>
        <p:spPr>
          <a:xfrm>
            <a:off x="2743200" y="1417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EBB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1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2743200" y="1691640"/>
            <a:ext cx="5943600" cy="118872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Узнай коллегу по фото</a:t>
            </a:r>
            <a:endParaRPr lang="en-US" sz="3600" dirty="0"/>
          </a:p>
        </p:txBody>
      </p:sp>
      <p:sp>
        <p:nvSpPr>
          <p:cNvPr id="8" name="Text 4"/>
          <p:cNvSpPr txBox="1"/>
          <p:nvPr/>
        </p:nvSpPr>
        <p:spPr>
          <a:xfrm>
            <a:off x="2743200" y="3017520"/>
            <a:ext cx="56692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экране — детская фотография коллеги. Кто это? Обсуждайте в командах: на ответ — 45 секунд, затем экран покажет, кто это.</a:t>
            </a:r>
            <a:endParaRPr lang="en-US" sz="1600" dirty="0"/>
          </a:p>
        </p:txBody>
      </p:sp>
      <p:pic>
        <p:nvPicPr>
          <p:cNvPr id="9" name="Image 2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3840480"/>
            <a:ext cx="1005840" cy="1005840"/>
          </a:xfrm>
          <a:prstGeom prst="rect">
            <a:avLst/>
          </a:prstGeom>
        </p:spPr>
      </p:pic>
      <p:pic>
        <p:nvPicPr>
          <p:cNvPr id="10" name="Image 3" descr="/tmp/claude-0/-home-user-heinrich-mario/e7688653-8e48-5480-a009-7b18c0e4f8cc/scratchpad/art/leaf_r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40" y="3931920"/>
            <a:ext cx="868680" cy="868680"/>
          </a:xfrm>
          <a:prstGeom prst="rect">
            <a:avLst/>
          </a:prstGeom>
        </p:spPr>
      </p:pic>
      <p:sp>
        <p:nvSpPr>
          <p:cNvPr id="12" name="Text 5"/>
          <p:cNvSpPr txBox="1"/>
          <p:nvPr/>
        </p:nvSpPr>
        <p:spPr>
          <a:xfrm>
            <a:off x="274320" y="487375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i="1" spc="100" kern="0" dirty="0">
                <a:solidFill>
                  <a:srgbClr val="D9B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by Heinrich Himmelreich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1 · УЗНАЙ КОЛЛЕГУ ПО ФОТО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731520"/>
            <a:ext cx="2632915" cy="3977640"/>
          </a:xfrm>
          <a:prstGeom prst="roundRect">
            <a:avLst>
              <a:gd name="adj" fmla="val 3473"/>
            </a:avLst>
          </a:prstGeom>
          <a:solidFill>
            <a:srgbClr val="FFFFFF"/>
          </a:solidFill>
          <a:ln w="38100">
            <a:solidFill>
              <a:srgbClr val="EBB02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4" name="Image 0" descr="/tmp/claude-0/-home-user-heinrich-mario/e7688653-8e48-5480-a009-7b18c0e4f8cc/scratchpad/photos/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841248"/>
            <a:ext cx="2413459" cy="375818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294097" y="868680"/>
            <a:ext cx="1554480" cy="1554480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pic>
        <p:nvPicPr>
          <p:cNvPr id="6" name="TIMER_GIF" descr="/tmp/claude-0/-home-user-heinrich-mario/e7688653-8e48-5480-a009-7b18c0e4f8cc/scratchpad/art/countdown.gif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94097" y="868680"/>
            <a:ext cx="1554480" cy="15544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3455875" y="2468880"/>
            <a:ext cx="523092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8A6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секунд на ответ</a:t>
            </a:r>
            <a:endParaRPr 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3455875" y="2880360"/>
            <a:ext cx="523092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 № 1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3455875" y="3200400"/>
            <a:ext cx="523092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Кто это?</a:t>
            </a:r>
            <a:endParaRPr lang="en-US" sz="3600" dirty="0"/>
          </a:p>
        </p:txBody>
      </p:sp>
      <p:sp>
        <p:nvSpPr>
          <p:cNvPr id="10" name="Text 6"/>
          <p:cNvSpPr txBox="1"/>
          <p:nvPr/>
        </p:nvSpPr>
        <p:spPr>
          <a:xfrm>
            <a:off x="3455875" y="3840480"/>
            <a:ext cx="523092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6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Узнали? Назовите имя коллеги!</a:t>
            </a:r>
            <a:endParaRPr lang="en-US" sz="1400" dirty="0"/>
          </a:p>
        </p:txBody>
      </p:sp>
      <p:pic>
        <p:nvPicPr>
          <p:cNvPr id="11" name="Image 2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1000" y="4160520"/>
            <a:ext cx="777240" cy="777240"/>
          </a:xfrm>
          <a:prstGeom prst="rect">
            <a:avLst/>
          </a:prstGeom>
        </p:spPr>
      </p:pic>
      <p:pic>
        <p:nvPicPr>
          <p:cNvPr id="12" name="Image 3" descr="/tmp/claude-0/-home-user-heinrich-mario/e7688653-8e48-5480-a009-7b18c0e4f8cc/scratchpad/art/leaf_r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47315" y="4251960"/>
            <a:ext cx="640080" cy="640080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274320" y="487375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i="1" spc="100" kern="0" dirty="0">
                <a:solidFill>
                  <a:srgbClr val="8A6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by Heinrich Himmelreich</a:t>
            </a:r>
            <a:endParaRPr lang="en-US" sz="900" dirty="0"/>
          </a:p>
        </p:txBody>
      </p:sp>
    </p:spTree>
  </p:cSld>
  <p:clrMapOvr>
    <a:masterClrMapping/>
  </p:clrMapOvr>
  <p:transition spd="med" advTm="450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EBB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1 · ОТВЕТ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896112"/>
            <a:ext cx="2339307" cy="3520440"/>
          </a:xfrm>
          <a:prstGeom prst="roundRect">
            <a:avLst>
              <a:gd name="adj" fmla="val 3909"/>
            </a:avLst>
          </a:prstGeom>
          <a:solidFill>
            <a:srgbClr val="FFFFFF"/>
          </a:solidFill>
          <a:ln w="38100">
            <a:solidFill>
              <a:srgbClr val="EBB02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4" name="Image 0" descr="/tmp/claude-0/-home-user-heinrich-mario/e7688653-8e48-5480-a009-7b18c0e4f8cc/scratchpad/photos/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005840"/>
            <a:ext cx="2119851" cy="330098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3345147" y="1051560"/>
            <a:ext cx="534165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EBB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 № 1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3345147" y="1463040"/>
            <a:ext cx="534165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Это —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3345147" y="1874520"/>
            <a:ext cx="5341653" cy="169164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BB0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Людмила Виолетта Владимировна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3345147" y="3611880"/>
            <a:ext cx="534165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воспитатель нашей школы</a:t>
            </a:r>
            <a:endParaRPr lang="en-US" sz="1500" dirty="0"/>
          </a:p>
        </p:txBody>
      </p:sp>
      <p:pic>
        <p:nvPicPr>
          <p:cNvPr id="9" name="Image 1" descr="/tmp/claude-0/-home-user-heinrich-mario/e7688653-8e48-5480-a009-7b18c0e4f8cc/scratchpad/art/leaf_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0" y="3977640"/>
            <a:ext cx="868680" cy="868680"/>
          </a:xfrm>
          <a:prstGeom prst="rect">
            <a:avLst/>
          </a:prstGeom>
        </p:spPr>
      </p:pic>
      <p:pic>
        <p:nvPicPr>
          <p:cNvPr id="10" name="Image 2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36587" y="4069080"/>
            <a:ext cx="685800" cy="68580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274320" y="487375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i="1" spc="100" kern="0" dirty="0">
                <a:solidFill>
                  <a:srgbClr val="D9B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by Heinrich Himmelreich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1 · УЗНАЙ КОЛЛЕГУ ПО ФОТО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731520"/>
            <a:ext cx="2333435" cy="3977640"/>
          </a:xfrm>
          <a:prstGeom prst="roundRect">
            <a:avLst>
              <a:gd name="adj" fmla="val 3919"/>
            </a:avLst>
          </a:prstGeom>
          <a:solidFill>
            <a:srgbClr val="FFFFFF"/>
          </a:solidFill>
          <a:ln w="38100">
            <a:solidFill>
              <a:srgbClr val="EBB02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4" name="Image 0" descr="/tmp/claude-0/-home-user-heinrich-mario/e7688653-8e48-5480-a009-7b18c0e4f8cc/scratchpad/photos/2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841248"/>
            <a:ext cx="2113979" cy="375818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144357" y="868680"/>
            <a:ext cx="1554480" cy="1554480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pic>
        <p:nvPicPr>
          <p:cNvPr id="6" name="TIMER_GIF" descr="/tmp/claude-0/-home-user-heinrich-mario/e7688653-8e48-5480-a009-7b18c0e4f8cc/scratchpad/art/countdown.gif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4357" y="868680"/>
            <a:ext cx="1554480" cy="15544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3156395" y="2468880"/>
            <a:ext cx="553040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8A6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секунд на ответ</a:t>
            </a:r>
            <a:endParaRPr 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3156395" y="2880360"/>
            <a:ext cx="553040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 № 2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3156395" y="3200400"/>
            <a:ext cx="553040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Кто это?</a:t>
            </a:r>
            <a:endParaRPr lang="en-US" sz="3600" dirty="0"/>
          </a:p>
        </p:txBody>
      </p:sp>
      <p:sp>
        <p:nvSpPr>
          <p:cNvPr id="10" name="Text 6"/>
          <p:cNvSpPr txBox="1"/>
          <p:nvPr/>
        </p:nvSpPr>
        <p:spPr>
          <a:xfrm>
            <a:off x="3156395" y="3840480"/>
            <a:ext cx="553040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6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Узнали? Назовите имя коллеги!</a:t>
            </a:r>
            <a:endParaRPr lang="en-US" sz="1400" dirty="0"/>
          </a:p>
        </p:txBody>
      </p:sp>
      <p:pic>
        <p:nvPicPr>
          <p:cNvPr id="11" name="Image 2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1000" y="4160520"/>
            <a:ext cx="777240" cy="777240"/>
          </a:xfrm>
          <a:prstGeom prst="rect">
            <a:avLst/>
          </a:prstGeom>
        </p:spPr>
      </p:pic>
      <p:pic>
        <p:nvPicPr>
          <p:cNvPr id="12" name="Image 3" descr="/tmp/claude-0/-home-user-heinrich-mario/e7688653-8e48-5480-a009-7b18c0e4f8cc/scratchpad/art/leaf_r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47835" y="4251960"/>
            <a:ext cx="640080" cy="640080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274320" y="487375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i="1" spc="100" kern="0" dirty="0">
                <a:solidFill>
                  <a:srgbClr val="8A6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by Heinrich Himmelreich</a:t>
            </a:r>
            <a:endParaRPr lang="en-US" sz="900" dirty="0"/>
          </a:p>
        </p:txBody>
      </p:sp>
    </p:spTree>
  </p:cSld>
  <p:clrMapOvr>
    <a:masterClrMapping/>
  </p:clrMapOvr>
  <p:transition spd="med" advTm="450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EBB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1 · ОТВЕТ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896112"/>
            <a:ext cx="2076260" cy="3520440"/>
          </a:xfrm>
          <a:prstGeom prst="roundRect">
            <a:avLst>
              <a:gd name="adj" fmla="val 4404"/>
            </a:avLst>
          </a:prstGeom>
          <a:solidFill>
            <a:srgbClr val="FFFFFF"/>
          </a:solidFill>
          <a:ln w="38100">
            <a:solidFill>
              <a:srgbClr val="EBB02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4" name="Image 0" descr="/tmp/claude-0/-home-user-heinrich-mario/e7688653-8e48-5480-a009-7b18c0e4f8cc/scratchpad/photos/2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005840"/>
            <a:ext cx="1856804" cy="330098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3082100" y="1051560"/>
            <a:ext cx="560470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EBB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 № 2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3082100" y="1463040"/>
            <a:ext cx="560470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Это —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3082100" y="1874520"/>
            <a:ext cx="5604701" cy="169164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BB0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Леонова Ирина Александровна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3082100" y="3611880"/>
            <a:ext cx="5604701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воспитатель нашей школы</a:t>
            </a:r>
            <a:endParaRPr lang="en-US" sz="1500" dirty="0"/>
          </a:p>
        </p:txBody>
      </p:sp>
      <p:pic>
        <p:nvPicPr>
          <p:cNvPr id="9" name="Image 1" descr="/tmp/claude-0/-home-user-heinrich-mario/e7688653-8e48-5480-a009-7b18c0e4f8cc/scratchpad/art/leaf_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0" y="3977640"/>
            <a:ext cx="868680" cy="868680"/>
          </a:xfrm>
          <a:prstGeom prst="rect">
            <a:avLst/>
          </a:prstGeom>
        </p:spPr>
      </p:pic>
      <p:pic>
        <p:nvPicPr>
          <p:cNvPr id="10" name="Image 2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3540" y="4069080"/>
            <a:ext cx="685800" cy="68580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274320" y="487375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i="1" spc="100" kern="0" dirty="0">
                <a:solidFill>
                  <a:srgbClr val="D9B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by Heinrich Himmelreich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1 · УЗНАЙ КОЛЛЕГУ ПО ФОТО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731520"/>
            <a:ext cx="2900098" cy="3977640"/>
          </a:xfrm>
          <a:prstGeom prst="roundRect">
            <a:avLst>
              <a:gd name="adj" fmla="val 3153"/>
            </a:avLst>
          </a:prstGeom>
          <a:solidFill>
            <a:srgbClr val="FFFFFF"/>
          </a:solidFill>
          <a:ln w="38100">
            <a:solidFill>
              <a:srgbClr val="EBB02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4" name="Image 0" descr="/tmp/claude-0/-home-user-heinrich-mario/e7688653-8e48-5480-a009-7b18c0e4f8cc/scratchpad/photos/3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841248"/>
            <a:ext cx="2680642" cy="375818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27689" y="868680"/>
            <a:ext cx="1554480" cy="1554480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pic>
        <p:nvPicPr>
          <p:cNvPr id="6" name="TIMER_GIF" descr="/tmp/claude-0/-home-user-heinrich-mario/e7688653-8e48-5480-a009-7b18c0e4f8cc/scratchpad/art/countdown.gif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27689" y="868680"/>
            <a:ext cx="1554480" cy="15544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3723058" y="2468880"/>
            <a:ext cx="496374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8A6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секунд на ответ</a:t>
            </a:r>
            <a:endParaRPr 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3723058" y="2880360"/>
            <a:ext cx="496374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 № 3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3723058" y="3200400"/>
            <a:ext cx="496374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Кто это?</a:t>
            </a:r>
            <a:endParaRPr lang="en-US" sz="3600" dirty="0"/>
          </a:p>
        </p:txBody>
      </p:sp>
      <p:sp>
        <p:nvSpPr>
          <p:cNvPr id="10" name="Text 6"/>
          <p:cNvSpPr txBox="1"/>
          <p:nvPr/>
        </p:nvSpPr>
        <p:spPr>
          <a:xfrm>
            <a:off x="3723058" y="3840480"/>
            <a:ext cx="496374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6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Узнали? Назовите имя коллеги!</a:t>
            </a:r>
            <a:endParaRPr lang="en-US" sz="1400" dirty="0"/>
          </a:p>
        </p:txBody>
      </p:sp>
      <p:pic>
        <p:nvPicPr>
          <p:cNvPr id="11" name="Image 2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1000" y="4160520"/>
            <a:ext cx="777240" cy="777240"/>
          </a:xfrm>
          <a:prstGeom prst="rect">
            <a:avLst/>
          </a:prstGeom>
        </p:spPr>
      </p:pic>
      <p:pic>
        <p:nvPicPr>
          <p:cNvPr id="12" name="Image 3" descr="/tmp/claude-0/-home-user-heinrich-mario/e7688653-8e48-5480-a009-7b18c0e4f8cc/scratchpad/art/leaf_r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4498" y="4251960"/>
            <a:ext cx="640080" cy="640080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274320" y="487375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i="1" spc="100" kern="0" dirty="0">
                <a:solidFill>
                  <a:srgbClr val="8A6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by Heinrich Himmelreich</a:t>
            </a:r>
            <a:endParaRPr lang="en-US" sz="900" dirty="0"/>
          </a:p>
        </p:txBody>
      </p:sp>
    </p:spTree>
  </p:cSld>
  <p:clrMapOvr>
    <a:masterClrMapping/>
  </p:clrMapOvr>
  <p:transition spd="med" advTm="450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EBB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1 · ОТВЕТ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896112"/>
            <a:ext cx="2573986" cy="3520440"/>
          </a:xfrm>
          <a:prstGeom prst="roundRect">
            <a:avLst>
              <a:gd name="adj" fmla="val 3552"/>
            </a:avLst>
          </a:prstGeom>
          <a:solidFill>
            <a:srgbClr val="FFFFFF"/>
          </a:solidFill>
          <a:ln w="38100">
            <a:solidFill>
              <a:srgbClr val="EBB02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4" name="Image 0" descr="/tmp/claude-0/-home-user-heinrich-mario/e7688653-8e48-5480-a009-7b18c0e4f8cc/scratchpad/photos/3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005840"/>
            <a:ext cx="2354530" cy="330098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3579826" y="1051560"/>
            <a:ext cx="510697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EBB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 № 3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3579826" y="1463040"/>
            <a:ext cx="51069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Это —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3579826" y="1874520"/>
            <a:ext cx="5106974" cy="169164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BB0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Литвиненко Алёна Александровна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3579826" y="3611880"/>
            <a:ext cx="510697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воспитатель нашей школы</a:t>
            </a:r>
            <a:endParaRPr lang="en-US" sz="1500" dirty="0"/>
          </a:p>
        </p:txBody>
      </p:sp>
      <p:pic>
        <p:nvPicPr>
          <p:cNvPr id="9" name="Image 1" descr="/tmp/claude-0/-home-user-heinrich-mario/e7688653-8e48-5480-a009-7b18c0e4f8cc/scratchpad/art/leaf_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0" y="3977640"/>
            <a:ext cx="868680" cy="868680"/>
          </a:xfrm>
          <a:prstGeom prst="rect">
            <a:avLst/>
          </a:prstGeom>
        </p:spPr>
      </p:pic>
      <p:pic>
        <p:nvPicPr>
          <p:cNvPr id="10" name="Image 2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71266" y="4069080"/>
            <a:ext cx="685800" cy="68580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274320" y="487375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i="1" spc="100" kern="0" dirty="0">
                <a:solidFill>
                  <a:srgbClr val="D9B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by Heinrich Himmelreich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1 · УЗНАЙ КОЛЛЕГУ ПО ФОТО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731520"/>
            <a:ext cx="2756230" cy="3977640"/>
          </a:xfrm>
          <a:prstGeom prst="roundRect">
            <a:avLst>
              <a:gd name="adj" fmla="val 3318"/>
            </a:avLst>
          </a:prstGeom>
          <a:solidFill>
            <a:srgbClr val="FFFFFF"/>
          </a:solidFill>
          <a:ln w="38100">
            <a:solidFill>
              <a:srgbClr val="EBB02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4" name="Image 0" descr="/tmp/claude-0/-home-user-heinrich-mario/e7688653-8e48-5480-a009-7b18c0e4f8cc/scratchpad/photos/4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841248"/>
            <a:ext cx="2536774" cy="375818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355755" y="868680"/>
            <a:ext cx="1554480" cy="1554480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pic>
        <p:nvPicPr>
          <p:cNvPr id="6" name="TIMER_GIF" descr="/tmp/claude-0/-home-user-heinrich-mario/e7688653-8e48-5480-a009-7b18c0e4f8cc/scratchpad/art/countdown.gif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55755" y="868680"/>
            <a:ext cx="1554480" cy="15544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3579190" y="2468880"/>
            <a:ext cx="510761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8A6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секунд на ответ</a:t>
            </a:r>
            <a:endParaRPr 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3579190" y="2880360"/>
            <a:ext cx="510761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 № 4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3579190" y="3200400"/>
            <a:ext cx="510761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Кто это?</a:t>
            </a:r>
            <a:endParaRPr lang="en-US" sz="3600" dirty="0"/>
          </a:p>
        </p:txBody>
      </p:sp>
      <p:sp>
        <p:nvSpPr>
          <p:cNvPr id="10" name="Text 6"/>
          <p:cNvSpPr txBox="1"/>
          <p:nvPr/>
        </p:nvSpPr>
        <p:spPr>
          <a:xfrm>
            <a:off x="3579190" y="3840480"/>
            <a:ext cx="510761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6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Узнали? Назовите имя коллеги!</a:t>
            </a:r>
            <a:endParaRPr lang="en-US" sz="1400" dirty="0"/>
          </a:p>
        </p:txBody>
      </p:sp>
      <p:pic>
        <p:nvPicPr>
          <p:cNvPr id="11" name="Image 2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1000" y="4160520"/>
            <a:ext cx="777240" cy="777240"/>
          </a:xfrm>
          <a:prstGeom prst="rect">
            <a:avLst/>
          </a:prstGeom>
        </p:spPr>
      </p:pic>
      <p:pic>
        <p:nvPicPr>
          <p:cNvPr id="12" name="Image 3" descr="/tmp/claude-0/-home-user-heinrich-mario/e7688653-8e48-5480-a009-7b18c0e4f8cc/scratchpad/art/leaf_r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70630" y="4251960"/>
            <a:ext cx="640080" cy="640080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274320" y="487375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i="1" spc="100" kern="0" dirty="0">
                <a:solidFill>
                  <a:srgbClr val="8A6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by Heinrich Himmelreich</a:t>
            </a:r>
            <a:endParaRPr lang="en-US" sz="900" dirty="0"/>
          </a:p>
        </p:txBody>
      </p:sp>
    </p:spTree>
  </p:cSld>
  <p:clrMapOvr>
    <a:masterClrMapping/>
  </p:clrMapOvr>
  <p:transition spd="med" advTm="450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EBB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1 · ОТВЕТ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896112"/>
            <a:ext cx="2447620" cy="3520440"/>
          </a:xfrm>
          <a:prstGeom prst="roundRect">
            <a:avLst>
              <a:gd name="adj" fmla="val 3736"/>
            </a:avLst>
          </a:prstGeom>
          <a:solidFill>
            <a:srgbClr val="FFFFFF"/>
          </a:solidFill>
          <a:ln w="38100">
            <a:solidFill>
              <a:srgbClr val="EBB02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4" name="Image 0" descr="/tmp/claude-0/-home-user-heinrich-mario/e7688653-8e48-5480-a009-7b18c0e4f8cc/scratchpad/photos/4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005840"/>
            <a:ext cx="2228164" cy="330098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3453460" y="1051560"/>
            <a:ext cx="52333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EBB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 № 4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3453460" y="1463040"/>
            <a:ext cx="52333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Это —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3453460" y="1874520"/>
            <a:ext cx="5233340" cy="169164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BB0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Король Жанна Владимировна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3453460" y="3611880"/>
            <a:ext cx="52333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воспитатель нашей школы</a:t>
            </a:r>
            <a:endParaRPr lang="en-US" sz="1500" dirty="0"/>
          </a:p>
        </p:txBody>
      </p:sp>
      <p:pic>
        <p:nvPicPr>
          <p:cNvPr id="9" name="Image 1" descr="/tmp/claude-0/-home-user-heinrich-mario/e7688653-8e48-5480-a009-7b18c0e4f8cc/scratchpad/art/leaf_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0" y="3977640"/>
            <a:ext cx="868680" cy="868680"/>
          </a:xfrm>
          <a:prstGeom prst="rect">
            <a:avLst/>
          </a:prstGeom>
        </p:spPr>
      </p:pic>
      <p:pic>
        <p:nvPicPr>
          <p:cNvPr id="10" name="Image 2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44900" y="4069080"/>
            <a:ext cx="685800" cy="68580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274320" y="487375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i="1" spc="100" kern="0" dirty="0">
                <a:solidFill>
                  <a:srgbClr val="D9B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by Heinrich Himmelreich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1 · УЗНАЙ КОЛЛЕГУ ПО ФОТО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731520"/>
            <a:ext cx="2327562" cy="3977640"/>
          </a:xfrm>
          <a:prstGeom prst="roundRect">
            <a:avLst>
              <a:gd name="adj" fmla="val 3929"/>
            </a:avLst>
          </a:prstGeom>
          <a:solidFill>
            <a:srgbClr val="FFFFFF"/>
          </a:solidFill>
          <a:ln w="38100">
            <a:solidFill>
              <a:srgbClr val="EBB02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4" name="Image 0" descr="/tmp/claude-0/-home-user-heinrich-mario/e7688653-8e48-5480-a009-7b18c0e4f8cc/scratchpad/photos/5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841248"/>
            <a:ext cx="2108106" cy="375818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141421" y="868680"/>
            <a:ext cx="1554480" cy="1554480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pic>
        <p:nvPicPr>
          <p:cNvPr id="6" name="TIMER_GIF" descr="/tmp/claude-0/-home-user-heinrich-mario/e7688653-8e48-5480-a009-7b18c0e4f8cc/scratchpad/art/countdown.gif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1421" y="868680"/>
            <a:ext cx="1554480" cy="15544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3150522" y="2468880"/>
            <a:ext cx="55362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8A6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секунд на ответ</a:t>
            </a:r>
            <a:endParaRPr 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3150522" y="2880360"/>
            <a:ext cx="55362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 № 5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3150522" y="3200400"/>
            <a:ext cx="55362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Кто это?</a:t>
            </a:r>
            <a:endParaRPr lang="en-US" sz="3600" dirty="0"/>
          </a:p>
        </p:txBody>
      </p:sp>
      <p:sp>
        <p:nvSpPr>
          <p:cNvPr id="10" name="Text 6"/>
          <p:cNvSpPr txBox="1"/>
          <p:nvPr/>
        </p:nvSpPr>
        <p:spPr>
          <a:xfrm>
            <a:off x="3150522" y="3840480"/>
            <a:ext cx="55362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6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Узнали? Назовите имя коллеги!</a:t>
            </a:r>
            <a:endParaRPr lang="en-US" sz="1400" dirty="0"/>
          </a:p>
        </p:txBody>
      </p:sp>
      <p:pic>
        <p:nvPicPr>
          <p:cNvPr id="11" name="Image 2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1000" y="4160520"/>
            <a:ext cx="777240" cy="777240"/>
          </a:xfrm>
          <a:prstGeom prst="rect">
            <a:avLst/>
          </a:prstGeom>
        </p:spPr>
      </p:pic>
      <p:pic>
        <p:nvPicPr>
          <p:cNvPr id="12" name="Image 3" descr="/tmp/claude-0/-home-user-heinrich-mario/e7688653-8e48-5480-a009-7b18c0e4f8cc/scratchpad/art/leaf_r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41962" y="4251960"/>
            <a:ext cx="640080" cy="640080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274320" y="487375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i="1" spc="100" kern="0" dirty="0">
                <a:solidFill>
                  <a:srgbClr val="8A6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by Heinrich Himmelreich</a:t>
            </a:r>
            <a:endParaRPr lang="en-US" sz="900" dirty="0"/>
          </a:p>
        </p:txBody>
      </p:sp>
    </p:spTree>
  </p:cSld>
  <p:clrMapOvr>
    <a:masterClrMapping/>
  </p:clrMapOvr>
  <p:transition spd="med" advTm="45000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EBB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1 · ОТВЕТ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896112"/>
            <a:ext cx="2071102" cy="3520440"/>
          </a:xfrm>
          <a:prstGeom prst="roundRect">
            <a:avLst>
              <a:gd name="adj" fmla="val 4415"/>
            </a:avLst>
          </a:prstGeom>
          <a:solidFill>
            <a:srgbClr val="FFFFFF"/>
          </a:solidFill>
          <a:ln w="38100">
            <a:solidFill>
              <a:srgbClr val="EBB02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4" name="Image 0" descr="/tmp/claude-0/-home-user-heinrich-mario/e7688653-8e48-5480-a009-7b18c0e4f8cc/scratchpad/photos/5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005840"/>
            <a:ext cx="1851646" cy="330098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3076942" y="1051560"/>
            <a:ext cx="56098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EBB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 № 5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3076942" y="1463040"/>
            <a:ext cx="56098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Это —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3076942" y="1874520"/>
            <a:ext cx="5609858" cy="169164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BB0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Исупова Наталия Ростиславовна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3076942" y="3611880"/>
            <a:ext cx="56098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воспитатель нашей школы</a:t>
            </a:r>
            <a:endParaRPr lang="en-US" sz="1500" dirty="0"/>
          </a:p>
        </p:txBody>
      </p:sp>
      <p:pic>
        <p:nvPicPr>
          <p:cNvPr id="9" name="Image 1" descr="/tmp/claude-0/-home-user-heinrich-mario/e7688653-8e48-5480-a009-7b18c0e4f8cc/scratchpad/art/leaf_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0" y="3977640"/>
            <a:ext cx="868680" cy="868680"/>
          </a:xfrm>
          <a:prstGeom prst="rect">
            <a:avLst/>
          </a:prstGeom>
        </p:spPr>
      </p:pic>
      <p:pic>
        <p:nvPicPr>
          <p:cNvPr id="10" name="Image 2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68382" y="4069080"/>
            <a:ext cx="685800" cy="68580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274320" y="487375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i="1" spc="100" kern="0" dirty="0">
                <a:solidFill>
                  <a:srgbClr val="D9B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by Heinrich Himmelreich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1 · УЗНАЙ КОЛЛЕГУ ПО ФОТО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876167"/>
            <a:ext cx="4754880" cy="3688347"/>
          </a:xfrm>
          <a:prstGeom prst="roundRect">
            <a:avLst>
              <a:gd name="adj" fmla="val 2479"/>
            </a:avLst>
          </a:prstGeom>
          <a:solidFill>
            <a:srgbClr val="FFFFFF"/>
          </a:solidFill>
          <a:ln w="38100">
            <a:solidFill>
              <a:srgbClr val="EBB02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4" name="Image 0" descr="/tmp/claude-0/-home-user-heinrich-mario/e7688653-8e48-5480-a009-7b18c0e4f8cc/scratchpad/photos/6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985895"/>
            <a:ext cx="4535424" cy="3468891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355080" y="868680"/>
            <a:ext cx="1554480" cy="1554480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pic>
        <p:nvPicPr>
          <p:cNvPr id="6" name="TIMER_GIF" descr="/tmp/claude-0/-home-user-heinrich-mario/e7688653-8e48-5480-a009-7b18c0e4f8cc/scratchpad/art/countdown.gif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868680"/>
            <a:ext cx="1554480" cy="15544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577840" y="246888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8A6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секунд на ответ</a:t>
            </a:r>
            <a:endParaRPr 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5577840" y="28803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 № 6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5577840" y="320040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Кто это?</a:t>
            </a:r>
            <a:endParaRPr lang="en-US" sz="3600" dirty="0"/>
          </a:p>
        </p:txBody>
      </p:sp>
      <p:sp>
        <p:nvSpPr>
          <p:cNvPr id="10" name="Text 6"/>
          <p:cNvSpPr txBox="1"/>
          <p:nvPr/>
        </p:nvSpPr>
        <p:spPr>
          <a:xfrm>
            <a:off x="5577840" y="38404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6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Узнали? Назовите имя коллеги!</a:t>
            </a:r>
            <a:endParaRPr lang="en-US" sz="1400" dirty="0"/>
          </a:p>
        </p:txBody>
      </p:sp>
      <p:pic>
        <p:nvPicPr>
          <p:cNvPr id="11" name="Image 2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1000" y="4160520"/>
            <a:ext cx="777240" cy="777240"/>
          </a:xfrm>
          <a:prstGeom prst="rect">
            <a:avLst/>
          </a:prstGeom>
        </p:spPr>
      </p:pic>
      <p:pic>
        <p:nvPicPr>
          <p:cNvPr id="12" name="Image 3" descr="/tmp/claude-0/-home-user-heinrich-mario/e7688653-8e48-5480-a009-7b18c0e4f8cc/scratchpad/art/leaf_r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69280" y="4251960"/>
            <a:ext cx="640080" cy="640080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274320" y="487375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i="1" spc="100" kern="0" dirty="0">
                <a:solidFill>
                  <a:srgbClr val="8A6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by Heinrich Himmelreich</a:t>
            </a:r>
            <a:endParaRPr lang="en-US" sz="900" dirty="0"/>
          </a:p>
        </p:txBody>
      </p:sp>
    </p:spTree>
  </p:cSld>
  <p:clrMapOvr>
    <a:masterClrMapping/>
  </p:clrMapOvr>
  <p:transition spd="med" advTm="45000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EBB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1 · ОТВЕТ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1091908"/>
            <a:ext cx="4023360" cy="3128848"/>
          </a:xfrm>
          <a:prstGeom prst="roundRect">
            <a:avLst>
              <a:gd name="adj" fmla="val 2922"/>
            </a:avLst>
          </a:prstGeom>
          <a:solidFill>
            <a:srgbClr val="FFFFFF"/>
          </a:solidFill>
          <a:ln w="38100">
            <a:solidFill>
              <a:srgbClr val="EBB02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4" name="Image 0" descr="/tmp/claude-0/-home-user-heinrich-mario/e7688653-8e48-5480-a009-7b18c0e4f8cc/scratchpad/photos/6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201636"/>
            <a:ext cx="3803904" cy="290939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029200" y="10515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EBB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 № 6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5029200" y="14630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Это —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5029200" y="1874520"/>
            <a:ext cx="3657600" cy="169164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BB0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Белик Людмила Владимировна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5029200" y="361188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воспитатель нашей школы</a:t>
            </a:r>
            <a:endParaRPr lang="en-US" sz="1500" dirty="0"/>
          </a:p>
        </p:txBody>
      </p:sp>
      <p:pic>
        <p:nvPicPr>
          <p:cNvPr id="9" name="Image 1" descr="/tmp/claude-0/-home-user-heinrich-mario/e7688653-8e48-5480-a009-7b18c0e4f8cc/scratchpad/art/leaf_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0" y="3977640"/>
            <a:ext cx="868680" cy="868680"/>
          </a:xfrm>
          <a:prstGeom prst="rect">
            <a:avLst/>
          </a:prstGeom>
        </p:spPr>
      </p:pic>
      <p:pic>
        <p:nvPicPr>
          <p:cNvPr id="10" name="Image 2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0640" y="4069080"/>
            <a:ext cx="685800" cy="68580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274320" y="487375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i="1" spc="100" kern="0" dirty="0">
                <a:solidFill>
                  <a:srgbClr val="D9B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by Heinrich Himmelreich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1 · УЗНАЙ КОЛЛЕГУ ПО ФОТО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731520"/>
            <a:ext cx="2782655" cy="3977640"/>
          </a:xfrm>
          <a:prstGeom prst="roundRect">
            <a:avLst>
              <a:gd name="adj" fmla="val 3286"/>
            </a:avLst>
          </a:prstGeom>
          <a:solidFill>
            <a:srgbClr val="FFFFFF"/>
          </a:solidFill>
          <a:ln w="38100">
            <a:solidFill>
              <a:srgbClr val="EBB02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4" name="Image 0" descr="/tmp/claude-0/-home-user-heinrich-mario/e7688653-8e48-5480-a009-7b18c0e4f8cc/scratchpad/photos/7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841248"/>
            <a:ext cx="2563199" cy="375818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368967" y="868680"/>
            <a:ext cx="1554480" cy="1554480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pic>
        <p:nvPicPr>
          <p:cNvPr id="6" name="TIMER_GIF" descr="/tmp/claude-0/-home-user-heinrich-mario/e7688653-8e48-5480-a009-7b18c0e4f8cc/scratchpad/art/countdown.gif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8967" y="868680"/>
            <a:ext cx="1554480" cy="15544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3605615" y="2468880"/>
            <a:ext cx="508118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8A6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секунд на ответ</a:t>
            </a:r>
            <a:endParaRPr 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3605615" y="2880360"/>
            <a:ext cx="508118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 № 7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3605615" y="3200400"/>
            <a:ext cx="508118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Кто это?</a:t>
            </a:r>
            <a:endParaRPr lang="en-US" sz="3600" dirty="0"/>
          </a:p>
        </p:txBody>
      </p:sp>
      <p:sp>
        <p:nvSpPr>
          <p:cNvPr id="10" name="Text 6"/>
          <p:cNvSpPr txBox="1"/>
          <p:nvPr/>
        </p:nvSpPr>
        <p:spPr>
          <a:xfrm>
            <a:off x="3605615" y="3840480"/>
            <a:ext cx="508118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6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Узнали? Назовите имя коллеги!</a:t>
            </a:r>
            <a:endParaRPr lang="en-US" sz="1400" dirty="0"/>
          </a:p>
        </p:txBody>
      </p:sp>
      <p:pic>
        <p:nvPicPr>
          <p:cNvPr id="11" name="Image 2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1000" y="4160520"/>
            <a:ext cx="777240" cy="777240"/>
          </a:xfrm>
          <a:prstGeom prst="rect">
            <a:avLst/>
          </a:prstGeom>
        </p:spPr>
      </p:pic>
      <p:pic>
        <p:nvPicPr>
          <p:cNvPr id="12" name="Image 3" descr="/tmp/claude-0/-home-user-heinrich-mario/e7688653-8e48-5480-a009-7b18c0e4f8cc/scratchpad/art/leaf_r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97055" y="4251960"/>
            <a:ext cx="640080" cy="640080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274320" y="487375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i="1" spc="100" kern="0" dirty="0">
                <a:solidFill>
                  <a:srgbClr val="8A6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by Heinrich Himmelreich</a:t>
            </a:r>
            <a:endParaRPr lang="en-US" sz="900" dirty="0"/>
          </a:p>
        </p:txBody>
      </p:sp>
    </p:spTree>
  </p:cSld>
  <p:clrMapOvr>
    <a:masterClrMapping/>
  </p:clrMapOvr>
  <p:transition spd="med" advTm="45000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EBB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1 · ОТВЕТ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896112"/>
            <a:ext cx="2470830" cy="3520440"/>
          </a:xfrm>
          <a:prstGeom prst="roundRect">
            <a:avLst>
              <a:gd name="adj" fmla="val 3701"/>
            </a:avLst>
          </a:prstGeom>
          <a:solidFill>
            <a:srgbClr val="FFFFFF"/>
          </a:solidFill>
          <a:ln w="38100">
            <a:solidFill>
              <a:srgbClr val="EBB02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4" name="Image 0" descr="/tmp/claude-0/-home-user-heinrich-mario/e7688653-8e48-5480-a009-7b18c0e4f8cc/scratchpad/photos/7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005840"/>
            <a:ext cx="2251374" cy="330098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3476670" y="1051560"/>
            <a:ext cx="521013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EBB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 № 7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3476670" y="1463040"/>
            <a:ext cx="521013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Это —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3476670" y="1874520"/>
            <a:ext cx="5210130" cy="169164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BB0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Царькова Анастасия Вячеславовна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3476670" y="3611880"/>
            <a:ext cx="52101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воспитатель нашей школы</a:t>
            </a:r>
            <a:endParaRPr lang="en-US" sz="1500" dirty="0"/>
          </a:p>
        </p:txBody>
      </p:sp>
      <p:pic>
        <p:nvPicPr>
          <p:cNvPr id="9" name="Image 1" descr="/tmp/claude-0/-home-user-heinrich-mario/e7688653-8e48-5480-a009-7b18c0e4f8cc/scratchpad/art/leaf_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0" y="3977640"/>
            <a:ext cx="868680" cy="868680"/>
          </a:xfrm>
          <a:prstGeom prst="rect">
            <a:avLst/>
          </a:prstGeom>
        </p:spPr>
      </p:pic>
      <p:pic>
        <p:nvPicPr>
          <p:cNvPr id="10" name="Image 2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8110" y="4069080"/>
            <a:ext cx="685800" cy="68580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274320" y="487375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i="1" spc="100" kern="0" dirty="0">
                <a:solidFill>
                  <a:srgbClr val="D9B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by Heinrich Himmelreich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1 · УЗНАЙ КОЛЛЕГУ ПО ФОТО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731520"/>
            <a:ext cx="2970564" cy="3977640"/>
          </a:xfrm>
          <a:prstGeom prst="roundRect">
            <a:avLst>
              <a:gd name="adj" fmla="val 3078"/>
            </a:avLst>
          </a:prstGeom>
          <a:solidFill>
            <a:srgbClr val="FFFFFF"/>
          </a:solidFill>
          <a:ln w="38100">
            <a:solidFill>
              <a:srgbClr val="EBB02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4" name="Image 0" descr="/tmp/claude-0/-home-user-heinrich-mario/e7688653-8e48-5480-a009-7b18c0e4f8cc/scratchpad/photos/8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841248"/>
            <a:ext cx="2751108" cy="375818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62922" y="868680"/>
            <a:ext cx="1554480" cy="1554480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pic>
        <p:nvPicPr>
          <p:cNvPr id="6" name="TIMER_GIF" descr="/tmp/claude-0/-home-user-heinrich-mario/e7688653-8e48-5480-a009-7b18c0e4f8cc/scratchpad/art/countdown.gif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2922" y="868680"/>
            <a:ext cx="1554480" cy="15544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3793524" y="2468880"/>
            <a:ext cx="48932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8A6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секунд на ответ</a:t>
            </a:r>
            <a:endParaRPr 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3793524" y="2880360"/>
            <a:ext cx="48932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 № 8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3793524" y="3200400"/>
            <a:ext cx="48932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Кто это?</a:t>
            </a:r>
            <a:endParaRPr lang="en-US" sz="3600" dirty="0"/>
          </a:p>
        </p:txBody>
      </p:sp>
      <p:sp>
        <p:nvSpPr>
          <p:cNvPr id="10" name="Text 6"/>
          <p:cNvSpPr txBox="1"/>
          <p:nvPr/>
        </p:nvSpPr>
        <p:spPr>
          <a:xfrm>
            <a:off x="3793524" y="3840480"/>
            <a:ext cx="48932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6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Узнали? Назовите имя коллеги!</a:t>
            </a:r>
            <a:endParaRPr lang="en-US" sz="1400" dirty="0"/>
          </a:p>
        </p:txBody>
      </p:sp>
      <p:pic>
        <p:nvPicPr>
          <p:cNvPr id="11" name="Image 2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1000" y="4160520"/>
            <a:ext cx="777240" cy="777240"/>
          </a:xfrm>
          <a:prstGeom prst="rect">
            <a:avLst/>
          </a:prstGeom>
        </p:spPr>
      </p:pic>
      <p:pic>
        <p:nvPicPr>
          <p:cNvPr id="12" name="Image 3" descr="/tmp/claude-0/-home-user-heinrich-mario/e7688653-8e48-5480-a009-7b18c0e4f8cc/scratchpad/art/leaf_r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84964" y="4251960"/>
            <a:ext cx="640080" cy="640080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274320" y="487375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i="1" spc="100" kern="0" dirty="0">
                <a:solidFill>
                  <a:srgbClr val="8A6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by Heinrich Himmelreich</a:t>
            </a:r>
            <a:endParaRPr lang="en-US" sz="900" dirty="0"/>
          </a:p>
        </p:txBody>
      </p:sp>
    </p:spTree>
  </p:cSld>
  <p:clrMapOvr>
    <a:masterClrMapping/>
  </p:clrMapOvr>
  <p:transition spd="med" advTm="45000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EBB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1 · ОТВЕТ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896112"/>
            <a:ext cx="2635879" cy="3520440"/>
          </a:xfrm>
          <a:prstGeom prst="roundRect">
            <a:avLst>
              <a:gd name="adj" fmla="val 3469"/>
            </a:avLst>
          </a:prstGeom>
          <a:solidFill>
            <a:srgbClr val="FFFFFF"/>
          </a:solidFill>
          <a:ln w="38100">
            <a:solidFill>
              <a:srgbClr val="EBB02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4" name="Image 0" descr="/tmp/claude-0/-home-user-heinrich-mario/e7688653-8e48-5480-a009-7b18c0e4f8cc/scratchpad/photos/8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005840"/>
            <a:ext cx="2416423" cy="330098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3641719" y="1051560"/>
            <a:ext cx="504508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EBB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 № 8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3641719" y="1463040"/>
            <a:ext cx="50450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Это —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3641719" y="1874520"/>
            <a:ext cx="5045081" cy="169164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BB0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Захарова Ирина Алексеевна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3641719" y="3611880"/>
            <a:ext cx="5045081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воспитатель нашей школы</a:t>
            </a:r>
            <a:endParaRPr lang="en-US" sz="1500" dirty="0"/>
          </a:p>
        </p:txBody>
      </p:sp>
      <p:pic>
        <p:nvPicPr>
          <p:cNvPr id="9" name="Image 1" descr="/tmp/claude-0/-home-user-heinrich-mario/e7688653-8e48-5480-a009-7b18c0e4f8cc/scratchpad/art/leaf_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0" y="3977640"/>
            <a:ext cx="868680" cy="868680"/>
          </a:xfrm>
          <a:prstGeom prst="rect">
            <a:avLst/>
          </a:prstGeom>
        </p:spPr>
      </p:pic>
      <p:pic>
        <p:nvPicPr>
          <p:cNvPr id="10" name="Image 2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33159" y="4069080"/>
            <a:ext cx="685800" cy="68580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274320" y="487375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i="1" spc="100" kern="0" dirty="0">
                <a:solidFill>
                  <a:srgbClr val="D9B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by Heinrich Himmelreich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heinrich-mario/e7688653-8e48-5480-a009-7b18c0e4f8cc/scratchpad/img/forest.jpg">    </p:cNvPr>
          <p:cNvPicPr>
            <a:picLocks noChangeAspect="1"/>
          </p:cNvPicPr>
          <p:nvPr/>
        </p:nvPicPr>
        <p:blipFill>
          <a:blip r:embed="rId1"/>
          <a:srcRect l="0" r="0" t="7977" b="7977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/tmp/claude-0/-home-user-heinrich-mario/e7688653-8e48-5480-a009-7b18c0e4f8cc/scratchpad/art/overlay_fla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822960" y="1600200"/>
            <a:ext cx="1554480" cy="1554480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5" name="Text 1"/>
          <p:cNvSpPr txBox="1"/>
          <p:nvPr/>
        </p:nvSpPr>
        <p:spPr>
          <a:xfrm>
            <a:off x="822960" y="160020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5400" dirty="0"/>
          </a:p>
        </p:txBody>
      </p:sp>
      <p:sp>
        <p:nvSpPr>
          <p:cNvPr id="6" name="Text 2"/>
          <p:cNvSpPr txBox="1"/>
          <p:nvPr/>
        </p:nvSpPr>
        <p:spPr>
          <a:xfrm>
            <a:off x="2743200" y="1417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EBB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2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2743200" y="1691640"/>
            <a:ext cx="5943600" cy="118872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Блиц-опрос</a:t>
            </a:r>
            <a:endParaRPr lang="en-US" sz="3600" dirty="0"/>
          </a:p>
        </p:txBody>
      </p:sp>
      <p:sp>
        <p:nvSpPr>
          <p:cNvPr id="8" name="Text 4"/>
          <p:cNvSpPr txBox="1"/>
          <p:nvPr/>
        </p:nvSpPr>
        <p:spPr>
          <a:xfrm>
            <a:off x="2743200" y="3017520"/>
            <a:ext cx="56692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Быстрые вопросы — быстрые ответы. Отвечает команда, первой поднявшая руку. Правильный ответ появляется на экране по щелчку.</a:t>
            </a:r>
            <a:endParaRPr lang="en-US" sz="1600" dirty="0"/>
          </a:p>
        </p:txBody>
      </p:sp>
      <p:pic>
        <p:nvPicPr>
          <p:cNvPr id="9" name="Image 2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3840480"/>
            <a:ext cx="1005840" cy="1005840"/>
          </a:xfrm>
          <a:prstGeom prst="rect">
            <a:avLst/>
          </a:prstGeom>
        </p:spPr>
      </p:pic>
      <p:pic>
        <p:nvPicPr>
          <p:cNvPr id="10" name="Image 3" descr="/tmp/claude-0/-home-user-heinrich-mario/e7688653-8e48-5480-a009-7b18c0e4f8cc/scratchpad/art/leaf_r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40" y="3931920"/>
            <a:ext cx="868680" cy="868680"/>
          </a:xfrm>
          <a:prstGeom prst="rect">
            <a:avLst/>
          </a:prstGeom>
        </p:spPr>
      </p:pic>
      <p:sp>
        <p:nvSpPr>
          <p:cNvPr id="12" name="Text 5"/>
          <p:cNvSpPr txBox="1"/>
          <p:nvPr/>
        </p:nvSpPr>
        <p:spPr>
          <a:xfrm>
            <a:off x="274320" y="487375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i="1" spc="100" kern="0" dirty="0">
                <a:solidFill>
                  <a:srgbClr val="D9B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by Heinrich Himmelreich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2 · ВОПРОСЫ 1–5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Блиц-опрос</a:t>
            </a:r>
            <a:endParaRPr lang="en-US" sz="3400" dirty="0"/>
          </a:p>
        </p:txBody>
      </p:sp>
      <p:pic>
        <p:nvPicPr>
          <p:cNvPr id="4" name="Image 0" descr="/tmp/claude-0/-home-user-heinrich-mario/e7688653-8e48-5480-a009-7b18c0e4f8cc/scratchpad/art/leaf_r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0" y="274320"/>
            <a:ext cx="868680" cy="868680"/>
          </a:xfrm>
          <a:prstGeom prst="rect">
            <a:avLst/>
          </a:prstGeom>
        </p:spPr>
      </p:pic>
      <p:pic>
        <p:nvPicPr>
          <p:cNvPr id="5" name="Image 1" descr="/tmp/claude-0/-home-user-heinrich-mario/e7688653-8e48-5480-a009-7b18c0e4f8cc/scratchpad/art/leaf_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9480" y="502920"/>
            <a:ext cx="594360" cy="59436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548640" y="1371600"/>
            <a:ext cx="804672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7" name="Shape 3"/>
          <p:cNvSpPr/>
          <p:nvPr/>
        </p:nvSpPr>
        <p:spPr>
          <a:xfrm>
            <a:off x="658368" y="1453896"/>
            <a:ext cx="384048" cy="384048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658368" y="1453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1188720" y="1371600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Какого числа отмечается День воспитателя?</a:t>
            </a:r>
            <a:endParaRPr lang="en-US" sz="1600" dirty="0"/>
          </a:p>
        </p:txBody>
      </p:sp>
      <p:sp>
        <p:nvSpPr>
          <p:cNvPr id="10" name="BADGE_1"/>
          <p:cNvSpPr txBox="1"/>
          <p:nvPr/>
        </p:nvSpPr>
        <p:spPr>
          <a:xfrm>
            <a:off x="5623560" y="1463040"/>
            <a:ext cx="365760" cy="365760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200" dirty="0"/>
          </a:p>
        </p:txBody>
      </p:sp>
      <p:sp>
        <p:nvSpPr>
          <p:cNvPr id="11" name="ANS_1"/>
          <p:cNvSpPr txBox="1"/>
          <p:nvPr/>
        </p:nvSpPr>
        <p:spPr>
          <a:xfrm>
            <a:off x="6062472" y="137160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сентября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548640" y="2029968"/>
            <a:ext cx="804672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658368" y="2112264"/>
            <a:ext cx="384048" cy="384048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14" name="Text 10"/>
          <p:cNvSpPr txBox="1"/>
          <p:nvPr/>
        </p:nvSpPr>
        <p:spPr>
          <a:xfrm>
            <a:off x="658368" y="2112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1188720" y="2029968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расшифровывается ГПД?</a:t>
            </a:r>
            <a:endParaRPr lang="en-US" sz="1600" dirty="0"/>
          </a:p>
        </p:txBody>
      </p:sp>
      <p:sp>
        <p:nvSpPr>
          <p:cNvPr id="16" name="BADGE_2"/>
          <p:cNvSpPr txBox="1"/>
          <p:nvPr/>
        </p:nvSpPr>
        <p:spPr>
          <a:xfrm>
            <a:off x="5623560" y="2121408"/>
            <a:ext cx="365760" cy="365760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200" dirty="0"/>
          </a:p>
        </p:txBody>
      </p:sp>
      <p:sp>
        <p:nvSpPr>
          <p:cNvPr id="17" name="ANS_2"/>
          <p:cNvSpPr txBox="1"/>
          <p:nvPr/>
        </p:nvSpPr>
        <p:spPr>
          <a:xfrm>
            <a:off x="6062472" y="202996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Группа продлённого дня</a:t>
            </a:r>
            <a:endParaRPr lang="en-US" sz="1600" dirty="0"/>
          </a:p>
        </p:txBody>
      </p:sp>
      <p:sp>
        <p:nvSpPr>
          <p:cNvPr id="18" name="Shape 14"/>
          <p:cNvSpPr/>
          <p:nvPr/>
        </p:nvSpPr>
        <p:spPr>
          <a:xfrm>
            <a:off x="548640" y="2688336"/>
            <a:ext cx="804672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658368" y="2770632"/>
            <a:ext cx="384048" cy="384048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20" name="Text 16"/>
          <p:cNvSpPr txBox="1"/>
          <p:nvPr/>
        </p:nvSpPr>
        <p:spPr>
          <a:xfrm>
            <a:off x="658368" y="2770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7"/>
          <p:cNvSpPr txBox="1"/>
          <p:nvPr/>
        </p:nvSpPr>
        <p:spPr>
          <a:xfrm>
            <a:off x="1188720" y="2688336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Сколько минут длится обычный урок?</a:t>
            </a:r>
            <a:endParaRPr lang="en-US" sz="1600" dirty="0"/>
          </a:p>
        </p:txBody>
      </p:sp>
      <p:sp>
        <p:nvSpPr>
          <p:cNvPr id="22" name="BADGE_3"/>
          <p:cNvSpPr txBox="1"/>
          <p:nvPr/>
        </p:nvSpPr>
        <p:spPr>
          <a:xfrm>
            <a:off x="5623560" y="2779776"/>
            <a:ext cx="365760" cy="365760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200" dirty="0"/>
          </a:p>
        </p:txBody>
      </p:sp>
      <p:sp>
        <p:nvSpPr>
          <p:cNvPr id="23" name="ANS_3"/>
          <p:cNvSpPr txBox="1"/>
          <p:nvPr/>
        </p:nvSpPr>
        <p:spPr>
          <a:xfrm>
            <a:off x="6062472" y="2688336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минут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548640" y="3346704"/>
            <a:ext cx="804672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25" name="Shape 21"/>
          <p:cNvSpPr/>
          <p:nvPr/>
        </p:nvSpPr>
        <p:spPr>
          <a:xfrm>
            <a:off x="658368" y="3429000"/>
            <a:ext cx="384048" cy="384048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26" name="Text 22"/>
          <p:cNvSpPr txBox="1"/>
          <p:nvPr/>
        </p:nvSpPr>
        <p:spPr>
          <a:xfrm>
            <a:off x="658368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1188720" y="3346704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называется перерыв между уроками?</a:t>
            </a:r>
            <a:endParaRPr lang="en-US" sz="1600" dirty="0"/>
          </a:p>
        </p:txBody>
      </p:sp>
      <p:sp>
        <p:nvSpPr>
          <p:cNvPr id="28" name="BADGE_4"/>
          <p:cNvSpPr txBox="1"/>
          <p:nvPr/>
        </p:nvSpPr>
        <p:spPr>
          <a:xfrm>
            <a:off x="5623560" y="3438144"/>
            <a:ext cx="365760" cy="365760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200" dirty="0"/>
          </a:p>
        </p:txBody>
      </p:sp>
      <p:sp>
        <p:nvSpPr>
          <p:cNvPr id="29" name="ANS_4"/>
          <p:cNvSpPr txBox="1"/>
          <p:nvPr/>
        </p:nvSpPr>
        <p:spPr>
          <a:xfrm>
            <a:off x="6062472" y="3346704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Перемена</a:t>
            </a:r>
            <a:endParaRPr lang="en-US" sz="1600" dirty="0"/>
          </a:p>
        </p:txBody>
      </p:sp>
      <p:sp>
        <p:nvSpPr>
          <p:cNvPr id="30" name="Shape 26"/>
          <p:cNvSpPr/>
          <p:nvPr/>
        </p:nvSpPr>
        <p:spPr>
          <a:xfrm>
            <a:off x="548640" y="4005072"/>
            <a:ext cx="804672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31" name="Shape 27"/>
          <p:cNvSpPr/>
          <p:nvPr/>
        </p:nvSpPr>
        <p:spPr>
          <a:xfrm>
            <a:off x="658368" y="4087368"/>
            <a:ext cx="384048" cy="384048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32" name="Text 28"/>
          <p:cNvSpPr txBox="1"/>
          <p:nvPr/>
        </p:nvSpPr>
        <p:spPr>
          <a:xfrm>
            <a:off x="658368" y="40873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33" name="Text 29"/>
          <p:cNvSpPr txBox="1"/>
          <p:nvPr/>
        </p:nvSpPr>
        <p:spPr>
          <a:xfrm>
            <a:off x="1188720" y="4005072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Какой праздник отмечают 1 сентября?</a:t>
            </a:r>
            <a:endParaRPr lang="en-US" sz="1600" dirty="0"/>
          </a:p>
        </p:txBody>
      </p:sp>
      <p:sp>
        <p:nvSpPr>
          <p:cNvPr id="34" name="BADGE_5"/>
          <p:cNvSpPr txBox="1"/>
          <p:nvPr/>
        </p:nvSpPr>
        <p:spPr>
          <a:xfrm>
            <a:off x="5623560" y="4096512"/>
            <a:ext cx="365760" cy="365760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200" dirty="0"/>
          </a:p>
        </p:txBody>
      </p:sp>
      <p:sp>
        <p:nvSpPr>
          <p:cNvPr id="35" name="ANS_5"/>
          <p:cNvSpPr txBox="1"/>
          <p:nvPr/>
        </p:nvSpPr>
        <p:spPr>
          <a:xfrm>
            <a:off x="6062472" y="4005072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День знаний</a:t>
            </a:r>
            <a:endParaRPr lang="en-US" sz="1600" dirty="0"/>
          </a:p>
        </p:txBody>
      </p:sp>
      <p:sp>
        <p:nvSpPr>
          <p:cNvPr id="37" name="Text 32"/>
          <p:cNvSpPr txBox="1"/>
          <p:nvPr/>
        </p:nvSpPr>
        <p:spPr>
          <a:xfrm>
            <a:off x="274320" y="487375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i="1" spc="100" kern="0" dirty="0">
                <a:solidFill>
                  <a:srgbClr val="8A6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by Heinrich Himmelreich</a:t>
            </a:r>
            <a:endParaRPr lang="en-US" sz="9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7" grpId="0"/>
      <p:bldP spid="23" grpId="0"/>
      <p:bldP spid="29" grpId="0"/>
      <p:bldP spid="35" grpId="0"/>
      <p:bldP spid="10" grpId="0" animBg="1"/>
      <p:bldP spid="16" grpId="0" animBg="1"/>
      <p:bldP spid="22" grpId="0" animBg="1"/>
      <p:bldP spid="28" grpId="0" animBg="1"/>
      <p:bldP spid="34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2 · ВОПРОСЫ 6–10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Блиц-опрос</a:t>
            </a:r>
            <a:endParaRPr lang="en-US" sz="3400" dirty="0"/>
          </a:p>
        </p:txBody>
      </p:sp>
      <p:pic>
        <p:nvPicPr>
          <p:cNvPr id="4" name="Image 0" descr="/tmp/claude-0/-home-user-heinrich-mario/e7688653-8e48-5480-a009-7b18c0e4f8cc/scratchpad/art/leaf_r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0" y="274320"/>
            <a:ext cx="868680" cy="868680"/>
          </a:xfrm>
          <a:prstGeom prst="rect">
            <a:avLst/>
          </a:prstGeom>
        </p:spPr>
      </p:pic>
      <p:pic>
        <p:nvPicPr>
          <p:cNvPr id="5" name="Image 1" descr="/tmp/claude-0/-home-user-heinrich-mario/e7688653-8e48-5480-a009-7b18c0e4f8cc/scratchpad/art/leaf_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9480" y="502920"/>
            <a:ext cx="594360" cy="59436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548640" y="1371600"/>
            <a:ext cx="804672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7" name="Shape 3"/>
          <p:cNvSpPr/>
          <p:nvPr/>
        </p:nvSpPr>
        <p:spPr>
          <a:xfrm>
            <a:off x="658368" y="1453896"/>
            <a:ext cx="384048" cy="384048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658368" y="1453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1188720" y="1371600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Куда ученик записывает домашнее задание?</a:t>
            </a:r>
            <a:endParaRPr lang="en-US" sz="1600" dirty="0"/>
          </a:p>
        </p:txBody>
      </p:sp>
      <p:sp>
        <p:nvSpPr>
          <p:cNvPr id="10" name="BADGE_1"/>
          <p:cNvSpPr txBox="1"/>
          <p:nvPr/>
        </p:nvSpPr>
        <p:spPr>
          <a:xfrm>
            <a:off x="5623560" y="1463040"/>
            <a:ext cx="365760" cy="365760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200" dirty="0"/>
          </a:p>
        </p:txBody>
      </p:sp>
      <p:sp>
        <p:nvSpPr>
          <p:cNvPr id="11" name="ANS_1"/>
          <p:cNvSpPr txBox="1"/>
          <p:nvPr/>
        </p:nvSpPr>
        <p:spPr>
          <a:xfrm>
            <a:off x="6062472" y="137160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дневник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548640" y="2029968"/>
            <a:ext cx="804672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658368" y="2112264"/>
            <a:ext cx="384048" cy="384048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14" name="Text 10"/>
          <p:cNvSpPr txBox="1"/>
          <p:nvPr/>
        </p:nvSpPr>
        <p:spPr>
          <a:xfrm>
            <a:off x="658368" y="2112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1188720" y="2029968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Сколько дней в учебной неделе при пятидневке?</a:t>
            </a:r>
            <a:endParaRPr lang="en-US" sz="1600" dirty="0"/>
          </a:p>
        </p:txBody>
      </p:sp>
      <p:sp>
        <p:nvSpPr>
          <p:cNvPr id="16" name="BADGE_2"/>
          <p:cNvSpPr txBox="1"/>
          <p:nvPr/>
        </p:nvSpPr>
        <p:spPr>
          <a:xfrm>
            <a:off x="5623560" y="2121408"/>
            <a:ext cx="365760" cy="365760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200" dirty="0"/>
          </a:p>
        </p:txBody>
      </p:sp>
      <p:sp>
        <p:nvSpPr>
          <p:cNvPr id="17" name="ANS_2"/>
          <p:cNvSpPr txBox="1"/>
          <p:nvPr/>
        </p:nvSpPr>
        <p:spPr>
          <a:xfrm>
            <a:off x="6062472" y="202996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Пять</a:t>
            </a:r>
            <a:endParaRPr lang="en-US" sz="1600" dirty="0"/>
          </a:p>
        </p:txBody>
      </p:sp>
      <p:sp>
        <p:nvSpPr>
          <p:cNvPr id="18" name="Shape 14"/>
          <p:cNvSpPr/>
          <p:nvPr/>
        </p:nvSpPr>
        <p:spPr>
          <a:xfrm>
            <a:off x="548640" y="2688336"/>
            <a:ext cx="804672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658368" y="2770632"/>
            <a:ext cx="384048" cy="384048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20" name="Text 16"/>
          <p:cNvSpPr txBox="1"/>
          <p:nvPr/>
        </p:nvSpPr>
        <p:spPr>
          <a:xfrm>
            <a:off x="658368" y="2770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21" name="Text 17"/>
          <p:cNvSpPr txBox="1"/>
          <p:nvPr/>
        </p:nvSpPr>
        <p:spPr>
          <a:xfrm>
            <a:off x="1188720" y="2688336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называется главный документ класса с отметками?</a:t>
            </a:r>
            <a:endParaRPr lang="en-US" sz="1600" dirty="0"/>
          </a:p>
        </p:txBody>
      </p:sp>
      <p:sp>
        <p:nvSpPr>
          <p:cNvPr id="22" name="BADGE_3"/>
          <p:cNvSpPr txBox="1"/>
          <p:nvPr/>
        </p:nvSpPr>
        <p:spPr>
          <a:xfrm>
            <a:off x="5623560" y="2779776"/>
            <a:ext cx="365760" cy="365760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200" dirty="0"/>
          </a:p>
        </p:txBody>
      </p:sp>
      <p:sp>
        <p:nvSpPr>
          <p:cNvPr id="23" name="ANS_3"/>
          <p:cNvSpPr txBox="1"/>
          <p:nvPr/>
        </p:nvSpPr>
        <p:spPr>
          <a:xfrm>
            <a:off x="6062472" y="2688336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Классный журнал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548640" y="3346704"/>
            <a:ext cx="804672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25" name="Shape 21"/>
          <p:cNvSpPr/>
          <p:nvPr/>
        </p:nvSpPr>
        <p:spPr>
          <a:xfrm>
            <a:off x="658368" y="3429000"/>
            <a:ext cx="384048" cy="384048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26" name="Text 22"/>
          <p:cNvSpPr txBox="1"/>
          <p:nvPr/>
        </p:nvSpPr>
        <p:spPr>
          <a:xfrm>
            <a:off x="658368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1188720" y="3346704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Какое время года открывает учебный год?</a:t>
            </a:r>
            <a:endParaRPr lang="en-US" sz="1600" dirty="0"/>
          </a:p>
        </p:txBody>
      </p:sp>
      <p:sp>
        <p:nvSpPr>
          <p:cNvPr id="28" name="BADGE_4"/>
          <p:cNvSpPr txBox="1"/>
          <p:nvPr/>
        </p:nvSpPr>
        <p:spPr>
          <a:xfrm>
            <a:off x="5623560" y="3438144"/>
            <a:ext cx="365760" cy="365760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200" dirty="0"/>
          </a:p>
        </p:txBody>
      </p:sp>
      <p:sp>
        <p:nvSpPr>
          <p:cNvPr id="29" name="ANS_4"/>
          <p:cNvSpPr txBox="1"/>
          <p:nvPr/>
        </p:nvSpPr>
        <p:spPr>
          <a:xfrm>
            <a:off x="6062472" y="3346704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Осень</a:t>
            </a:r>
            <a:endParaRPr lang="en-US" sz="1600" dirty="0"/>
          </a:p>
        </p:txBody>
      </p:sp>
      <p:sp>
        <p:nvSpPr>
          <p:cNvPr id="30" name="Shape 26"/>
          <p:cNvSpPr/>
          <p:nvPr/>
        </p:nvSpPr>
        <p:spPr>
          <a:xfrm>
            <a:off x="548640" y="4005072"/>
            <a:ext cx="804672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31" name="Shape 27"/>
          <p:cNvSpPr/>
          <p:nvPr/>
        </p:nvSpPr>
        <p:spPr>
          <a:xfrm>
            <a:off x="658368" y="4087368"/>
            <a:ext cx="384048" cy="384048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32" name="Text 28"/>
          <p:cNvSpPr txBox="1"/>
          <p:nvPr/>
        </p:nvSpPr>
        <p:spPr>
          <a:xfrm>
            <a:off x="658368" y="40873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  <p:sp>
        <p:nvSpPr>
          <p:cNvPr id="33" name="Text 29"/>
          <p:cNvSpPr txBox="1"/>
          <p:nvPr/>
        </p:nvSpPr>
        <p:spPr>
          <a:xfrm>
            <a:off x="1188720" y="4005072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Кто в школе «и швец, и жнец, и на дуде игрец»?</a:t>
            </a:r>
            <a:endParaRPr lang="en-US" sz="1600" dirty="0"/>
          </a:p>
        </p:txBody>
      </p:sp>
      <p:sp>
        <p:nvSpPr>
          <p:cNvPr id="34" name="BADGE_5"/>
          <p:cNvSpPr txBox="1"/>
          <p:nvPr/>
        </p:nvSpPr>
        <p:spPr>
          <a:xfrm>
            <a:off x="5623560" y="4096512"/>
            <a:ext cx="365760" cy="365760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200" dirty="0"/>
          </a:p>
        </p:txBody>
      </p:sp>
      <p:sp>
        <p:nvSpPr>
          <p:cNvPr id="35" name="ANS_5"/>
          <p:cNvSpPr txBox="1"/>
          <p:nvPr/>
        </p:nvSpPr>
        <p:spPr>
          <a:xfrm>
            <a:off x="6062472" y="4005072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Конечно, воспитатель!</a:t>
            </a:r>
            <a:endParaRPr lang="en-US" sz="1600" dirty="0"/>
          </a:p>
        </p:txBody>
      </p:sp>
      <p:sp>
        <p:nvSpPr>
          <p:cNvPr id="37" name="Text 32"/>
          <p:cNvSpPr txBox="1"/>
          <p:nvPr/>
        </p:nvSpPr>
        <p:spPr>
          <a:xfrm>
            <a:off x="274320" y="487375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i="1" spc="100" kern="0" dirty="0">
                <a:solidFill>
                  <a:srgbClr val="8A6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by Heinrich Himmelreich</a:t>
            </a:r>
            <a:endParaRPr lang="en-US" sz="9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7" grpId="0"/>
      <p:bldP spid="23" grpId="0"/>
      <p:bldP spid="29" grpId="0"/>
      <p:bldP spid="35" grpId="0"/>
      <p:bldP spid="10" grpId="0" animBg="1"/>
      <p:bldP spid="16" grpId="0" animBg="1"/>
      <p:bldP spid="22" grpId="0" animBg="1"/>
      <p:bldP spid="28" grpId="0" animBg="1"/>
      <p:bldP spid="34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heinrich-mario/e7688653-8e48-5480-a009-7b18c0e4f8cc/scratchpad/img/forest.jpg">    </p:cNvPr>
          <p:cNvPicPr>
            <a:picLocks noChangeAspect="1"/>
          </p:cNvPicPr>
          <p:nvPr/>
        </p:nvPicPr>
        <p:blipFill>
          <a:blip r:embed="rId1"/>
          <a:srcRect l="0" r="0" t="7977" b="7977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/tmp/claude-0/-home-user-heinrich-mario/e7688653-8e48-5480-a009-7b18c0e4f8cc/scratchpad/art/overlay_fla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822960" y="1600200"/>
            <a:ext cx="1554480" cy="1554480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5" name="Text 1"/>
          <p:cNvSpPr txBox="1"/>
          <p:nvPr/>
        </p:nvSpPr>
        <p:spPr>
          <a:xfrm>
            <a:off x="822960" y="160020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5400" dirty="0"/>
          </a:p>
        </p:txBody>
      </p:sp>
      <p:sp>
        <p:nvSpPr>
          <p:cNvPr id="6" name="Text 2"/>
          <p:cNvSpPr txBox="1"/>
          <p:nvPr/>
        </p:nvSpPr>
        <p:spPr>
          <a:xfrm>
            <a:off x="2743200" y="1417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EBB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3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2743200" y="1691640"/>
            <a:ext cx="5943600" cy="118872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Закончи пословицу</a:t>
            </a:r>
            <a:endParaRPr lang="en-US" sz="3600" dirty="0"/>
          </a:p>
        </p:txBody>
      </p:sp>
      <p:sp>
        <p:nvSpPr>
          <p:cNvPr id="8" name="Text 4"/>
          <p:cNvSpPr txBox="1"/>
          <p:nvPr/>
        </p:nvSpPr>
        <p:spPr>
          <a:xfrm>
            <a:off x="2743200" y="3017520"/>
            <a:ext cx="56692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Ведущий читает начало народной мудрости — команда договаривает конец. Пословицы про ученье, труд и детей. Ответ появится по щелчку.</a:t>
            </a:r>
            <a:endParaRPr lang="en-US" sz="1600" dirty="0"/>
          </a:p>
        </p:txBody>
      </p:sp>
      <p:pic>
        <p:nvPicPr>
          <p:cNvPr id="9" name="Image 2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3840480"/>
            <a:ext cx="1005840" cy="1005840"/>
          </a:xfrm>
          <a:prstGeom prst="rect">
            <a:avLst/>
          </a:prstGeom>
        </p:spPr>
      </p:pic>
      <p:pic>
        <p:nvPicPr>
          <p:cNvPr id="10" name="Image 3" descr="/tmp/claude-0/-home-user-heinrich-mario/e7688653-8e48-5480-a009-7b18c0e4f8cc/scratchpad/art/leaf_r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40" y="3931920"/>
            <a:ext cx="868680" cy="868680"/>
          </a:xfrm>
          <a:prstGeom prst="rect">
            <a:avLst/>
          </a:prstGeom>
        </p:spPr>
      </p:pic>
      <p:sp>
        <p:nvSpPr>
          <p:cNvPr id="12" name="Text 5"/>
          <p:cNvSpPr txBox="1"/>
          <p:nvPr/>
        </p:nvSpPr>
        <p:spPr>
          <a:xfrm>
            <a:off x="274320" y="487375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i="1" spc="100" kern="0" dirty="0">
                <a:solidFill>
                  <a:srgbClr val="D9B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by Heinrich Himmelreich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3 · ПОСЛОВИЦЫ 1–7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Закончи пословицу</a:t>
            </a:r>
            <a:endParaRPr lang="en-US" sz="3400" dirty="0"/>
          </a:p>
        </p:txBody>
      </p:sp>
      <p:pic>
        <p:nvPicPr>
          <p:cNvPr id="4" name="Image 0" descr="/tmp/claude-0/-home-user-heinrich-mario/e7688653-8e48-5480-a009-7b18c0e4f8cc/scratchpad/art/leaf_r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0" y="274320"/>
            <a:ext cx="868680" cy="868680"/>
          </a:xfrm>
          <a:prstGeom prst="rect">
            <a:avLst/>
          </a:prstGeom>
        </p:spPr>
      </p:pic>
      <p:pic>
        <p:nvPicPr>
          <p:cNvPr id="5" name="Image 1" descr="/tmp/claude-0/-home-user-heinrich-mario/e7688653-8e48-5480-a009-7b18c0e4f8cc/scratchpad/art/leaf_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9480" y="502920"/>
            <a:ext cx="594360" cy="59436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548640" y="1298448"/>
            <a:ext cx="8046720" cy="429768"/>
          </a:xfrm>
          <a:prstGeom prst="roundRect">
            <a:avLst>
              <a:gd name="adj" fmla="val 255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7" name="Shape 3"/>
          <p:cNvSpPr/>
          <p:nvPr/>
        </p:nvSpPr>
        <p:spPr>
          <a:xfrm>
            <a:off x="658368" y="1348740"/>
            <a:ext cx="329184" cy="329184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658368" y="13487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1188720" y="1298448"/>
            <a:ext cx="35661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Ученье — свет, …</a:t>
            </a:r>
            <a:endParaRPr lang="en-US" sz="1450" dirty="0"/>
          </a:p>
        </p:txBody>
      </p:sp>
      <p:sp>
        <p:nvSpPr>
          <p:cNvPr id="10" name="BADGE_1"/>
          <p:cNvSpPr txBox="1"/>
          <p:nvPr/>
        </p:nvSpPr>
        <p:spPr>
          <a:xfrm>
            <a:off x="4846320" y="1348740"/>
            <a:ext cx="329184" cy="329184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100" dirty="0"/>
          </a:p>
        </p:txBody>
      </p:sp>
      <p:sp>
        <p:nvSpPr>
          <p:cNvPr id="11" name="ANS_1"/>
          <p:cNvSpPr txBox="1"/>
          <p:nvPr/>
        </p:nvSpPr>
        <p:spPr>
          <a:xfrm>
            <a:off x="5248656" y="1298448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 неученье — тьма.</a:t>
            </a:r>
            <a:endParaRPr lang="en-US" sz="1450" dirty="0"/>
          </a:p>
        </p:txBody>
      </p:sp>
      <p:sp>
        <p:nvSpPr>
          <p:cNvPr id="12" name="Shape 8"/>
          <p:cNvSpPr/>
          <p:nvPr/>
        </p:nvSpPr>
        <p:spPr>
          <a:xfrm>
            <a:off x="548640" y="1796796"/>
            <a:ext cx="8046720" cy="429768"/>
          </a:xfrm>
          <a:prstGeom prst="roundRect">
            <a:avLst>
              <a:gd name="adj" fmla="val 255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658368" y="1847088"/>
            <a:ext cx="329184" cy="329184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14" name="Text 10"/>
          <p:cNvSpPr txBox="1"/>
          <p:nvPr/>
        </p:nvSpPr>
        <p:spPr>
          <a:xfrm>
            <a:off x="658368" y="18470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1188720" y="1796796"/>
            <a:ext cx="35661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 труда …</a:t>
            </a:r>
            <a:endParaRPr lang="en-US" sz="1450" dirty="0"/>
          </a:p>
        </p:txBody>
      </p:sp>
      <p:sp>
        <p:nvSpPr>
          <p:cNvPr id="16" name="BADGE_2"/>
          <p:cNvSpPr txBox="1"/>
          <p:nvPr/>
        </p:nvSpPr>
        <p:spPr>
          <a:xfrm>
            <a:off x="4846320" y="1847088"/>
            <a:ext cx="329184" cy="329184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100" dirty="0"/>
          </a:p>
        </p:txBody>
      </p:sp>
      <p:sp>
        <p:nvSpPr>
          <p:cNvPr id="17" name="ANS_2"/>
          <p:cNvSpPr txBox="1"/>
          <p:nvPr/>
        </p:nvSpPr>
        <p:spPr>
          <a:xfrm>
            <a:off x="5248656" y="1796796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вытащишь и рыбку из пруда.</a:t>
            </a:r>
            <a:endParaRPr lang="en-US" sz="1450" dirty="0"/>
          </a:p>
        </p:txBody>
      </p:sp>
      <p:sp>
        <p:nvSpPr>
          <p:cNvPr id="18" name="Shape 14"/>
          <p:cNvSpPr/>
          <p:nvPr/>
        </p:nvSpPr>
        <p:spPr>
          <a:xfrm>
            <a:off x="548640" y="2295144"/>
            <a:ext cx="8046720" cy="429768"/>
          </a:xfrm>
          <a:prstGeom prst="roundRect">
            <a:avLst>
              <a:gd name="adj" fmla="val 255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658368" y="2345436"/>
            <a:ext cx="329184" cy="329184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20" name="Text 16"/>
          <p:cNvSpPr txBox="1"/>
          <p:nvPr/>
        </p:nvSpPr>
        <p:spPr>
          <a:xfrm>
            <a:off x="658368" y="23454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7"/>
          <p:cNvSpPr txBox="1"/>
          <p:nvPr/>
        </p:nvSpPr>
        <p:spPr>
          <a:xfrm>
            <a:off x="1188720" y="2295144"/>
            <a:ext cx="35661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Повторенье — …</a:t>
            </a:r>
            <a:endParaRPr lang="en-US" sz="1450" dirty="0"/>
          </a:p>
        </p:txBody>
      </p:sp>
      <p:sp>
        <p:nvSpPr>
          <p:cNvPr id="22" name="BADGE_3"/>
          <p:cNvSpPr txBox="1"/>
          <p:nvPr/>
        </p:nvSpPr>
        <p:spPr>
          <a:xfrm>
            <a:off x="4846320" y="2345436"/>
            <a:ext cx="329184" cy="329184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100" dirty="0"/>
          </a:p>
        </p:txBody>
      </p:sp>
      <p:sp>
        <p:nvSpPr>
          <p:cNvPr id="23" name="ANS_3"/>
          <p:cNvSpPr txBox="1"/>
          <p:nvPr/>
        </p:nvSpPr>
        <p:spPr>
          <a:xfrm>
            <a:off x="5248656" y="2295144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мать ученья.</a:t>
            </a:r>
            <a:endParaRPr lang="en-US" sz="1450" dirty="0"/>
          </a:p>
        </p:txBody>
      </p:sp>
      <p:sp>
        <p:nvSpPr>
          <p:cNvPr id="24" name="Shape 20"/>
          <p:cNvSpPr/>
          <p:nvPr/>
        </p:nvSpPr>
        <p:spPr>
          <a:xfrm>
            <a:off x="548640" y="2793492"/>
            <a:ext cx="8046720" cy="429768"/>
          </a:xfrm>
          <a:prstGeom prst="roundRect">
            <a:avLst>
              <a:gd name="adj" fmla="val 255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25" name="Shape 21"/>
          <p:cNvSpPr/>
          <p:nvPr/>
        </p:nvSpPr>
        <p:spPr>
          <a:xfrm>
            <a:off x="658368" y="2843784"/>
            <a:ext cx="329184" cy="329184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26" name="Text 22"/>
          <p:cNvSpPr txBox="1"/>
          <p:nvPr/>
        </p:nvSpPr>
        <p:spPr>
          <a:xfrm>
            <a:off x="658368" y="2843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1188720" y="2793492"/>
            <a:ext cx="35661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Терпенье и труд …</a:t>
            </a:r>
            <a:endParaRPr lang="en-US" sz="1450" dirty="0"/>
          </a:p>
        </p:txBody>
      </p:sp>
      <p:sp>
        <p:nvSpPr>
          <p:cNvPr id="28" name="BADGE_4"/>
          <p:cNvSpPr txBox="1"/>
          <p:nvPr/>
        </p:nvSpPr>
        <p:spPr>
          <a:xfrm>
            <a:off x="4846320" y="2843784"/>
            <a:ext cx="329184" cy="329184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100" dirty="0"/>
          </a:p>
        </p:txBody>
      </p:sp>
      <p:sp>
        <p:nvSpPr>
          <p:cNvPr id="29" name="ANS_4"/>
          <p:cNvSpPr txBox="1"/>
          <p:nvPr/>
        </p:nvSpPr>
        <p:spPr>
          <a:xfrm>
            <a:off x="5248656" y="2793492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всё перетрут.</a:t>
            </a:r>
            <a:endParaRPr lang="en-US" sz="1450" dirty="0"/>
          </a:p>
        </p:txBody>
      </p:sp>
      <p:sp>
        <p:nvSpPr>
          <p:cNvPr id="30" name="Shape 26"/>
          <p:cNvSpPr/>
          <p:nvPr/>
        </p:nvSpPr>
        <p:spPr>
          <a:xfrm>
            <a:off x="548640" y="3291840"/>
            <a:ext cx="8046720" cy="429768"/>
          </a:xfrm>
          <a:prstGeom prst="roundRect">
            <a:avLst>
              <a:gd name="adj" fmla="val 255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31" name="Shape 27"/>
          <p:cNvSpPr/>
          <p:nvPr/>
        </p:nvSpPr>
        <p:spPr>
          <a:xfrm>
            <a:off x="658368" y="3342132"/>
            <a:ext cx="329184" cy="329184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32" name="Text 28"/>
          <p:cNvSpPr txBox="1"/>
          <p:nvPr/>
        </p:nvSpPr>
        <p:spPr>
          <a:xfrm>
            <a:off x="658368" y="33421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33" name="Text 29"/>
          <p:cNvSpPr txBox="1"/>
          <p:nvPr/>
        </p:nvSpPr>
        <p:spPr>
          <a:xfrm>
            <a:off x="1188720" y="3291840"/>
            <a:ext cx="35661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Век живи — …</a:t>
            </a:r>
            <a:endParaRPr lang="en-US" sz="1450" dirty="0"/>
          </a:p>
        </p:txBody>
      </p:sp>
      <p:sp>
        <p:nvSpPr>
          <p:cNvPr id="34" name="BADGE_5"/>
          <p:cNvSpPr txBox="1"/>
          <p:nvPr/>
        </p:nvSpPr>
        <p:spPr>
          <a:xfrm>
            <a:off x="4846320" y="3342132"/>
            <a:ext cx="329184" cy="329184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100" dirty="0"/>
          </a:p>
        </p:txBody>
      </p:sp>
      <p:sp>
        <p:nvSpPr>
          <p:cNvPr id="35" name="ANS_5"/>
          <p:cNvSpPr txBox="1"/>
          <p:nvPr/>
        </p:nvSpPr>
        <p:spPr>
          <a:xfrm>
            <a:off x="5248656" y="329184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век учись.</a:t>
            </a:r>
            <a:endParaRPr lang="en-US" sz="1450" dirty="0"/>
          </a:p>
        </p:txBody>
      </p:sp>
      <p:sp>
        <p:nvSpPr>
          <p:cNvPr id="36" name="Shape 32"/>
          <p:cNvSpPr/>
          <p:nvPr/>
        </p:nvSpPr>
        <p:spPr>
          <a:xfrm>
            <a:off x="548640" y="3790188"/>
            <a:ext cx="8046720" cy="429768"/>
          </a:xfrm>
          <a:prstGeom prst="roundRect">
            <a:avLst>
              <a:gd name="adj" fmla="val 255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37" name="Shape 33"/>
          <p:cNvSpPr/>
          <p:nvPr/>
        </p:nvSpPr>
        <p:spPr>
          <a:xfrm>
            <a:off x="658368" y="3840480"/>
            <a:ext cx="329184" cy="329184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38" name="Text 34"/>
          <p:cNvSpPr txBox="1"/>
          <p:nvPr/>
        </p:nvSpPr>
        <p:spPr>
          <a:xfrm>
            <a:off x="658368" y="38404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39" name="Text 35"/>
          <p:cNvSpPr txBox="1"/>
          <p:nvPr/>
        </p:nvSpPr>
        <p:spPr>
          <a:xfrm>
            <a:off x="1188720" y="3790188"/>
            <a:ext cx="35661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Грамоте учиться — …</a:t>
            </a:r>
            <a:endParaRPr lang="en-US" sz="1450" dirty="0"/>
          </a:p>
        </p:txBody>
      </p:sp>
      <p:sp>
        <p:nvSpPr>
          <p:cNvPr id="40" name="BADGE_6"/>
          <p:cNvSpPr txBox="1"/>
          <p:nvPr/>
        </p:nvSpPr>
        <p:spPr>
          <a:xfrm>
            <a:off x="4846320" y="3840480"/>
            <a:ext cx="329184" cy="329184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100" dirty="0"/>
          </a:p>
        </p:txBody>
      </p:sp>
      <p:sp>
        <p:nvSpPr>
          <p:cNvPr id="41" name="ANS_6"/>
          <p:cNvSpPr txBox="1"/>
          <p:nvPr/>
        </p:nvSpPr>
        <p:spPr>
          <a:xfrm>
            <a:off x="5248656" y="3790188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всегда пригодится.</a:t>
            </a:r>
            <a:endParaRPr lang="en-US" sz="1450" dirty="0"/>
          </a:p>
        </p:txBody>
      </p:sp>
      <p:sp>
        <p:nvSpPr>
          <p:cNvPr id="42" name="Shape 38"/>
          <p:cNvSpPr/>
          <p:nvPr/>
        </p:nvSpPr>
        <p:spPr>
          <a:xfrm>
            <a:off x="548640" y="4288536"/>
            <a:ext cx="8046720" cy="429768"/>
          </a:xfrm>
          <a:prstGeom prst="roundRect">
            <a:avLst>
              <a:gd name="adj" fmla="val 255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43" name="Shape 39"/>
          <p:cNvSpPr/>
          <p:nvPr/>
        </p:nvSpPr>
        <p:spPr>
          <a:xfrm>
            <a:off x="658368" y="4338828"/>
            <a:ext cx="329184" cy="329184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44" name="Text 40"/>
          <p:cNvSpPr txBox="1"/>
          <p:nvPr/>
        </p:nvSpPr>
        <p:spPr>
          <a:xfrm>
            <a:off x="658368" y="43388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200" dirty="0"/>
          </a:p>
        </p:txBody>
      </p:sp>
      <p:sp>
        <p:nvSpPr>
          <p:cNvPr id="45" name="Text 41"/>
          <p:cNvSpPr txBox="1"/>
          <p:nvPr/>
        </p:nvSpPr>
        <p:spPr>
          <a:xfrm>
            <a:off x="1188720" y="4288536"/>
            <a:ext cx="35661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посеешь, …</a:t>
            </a:r>
            <a:endParaRPr lang="en-US" sz="1450" dirty="0"/>
          </a:p>
        </p:txBody>
      </p:sp>
      <p:sp>
        <p:nvSpPr>
          <p:cNvPr id="46" name="BADGE_7"/>
          <p:cNvSpPr txBox="1"/>
          <p:nvPr/>
        </p:nvSpPr>
        <p:spPr>
          <a:xfrm>
            <a:off x="4846320" y="4338828"/>
            <a:ext cx="329184" cy="329184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100" dirty="0"/>
          </a:p>
        </p:txBody>
      </p:sp>
      <p:sp>
        <p:nvSpPr>
          <p:cNvPr id="47" name="ANS_7"/>
          <p:cNvSpPr txBox="1"/>
          <p:nvPr/>
        </p:nvSpPr>
        <p:spPr>
          <a:xfrm>
            <a:off x="5248656" y="4288536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 и пожнёшь.</a:t>
            </a:r>
            <a:endParaRPr lang="en-US" sz="1450" dirty="0"/>
          </a:p>
        </p:txBody>
      </p:sp>
      <p:sp>
        <p:nvSpPr>
          <p:cNvPr id="49" name="Text 44"/>
          <p:cNvSpPr txBox="1"/>
          <p:nvPr/>
        </p:nvSpPr>
        <p:spPr>
          <a:xfrm>
            <a:off x="274320" y="487375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i="1" spc="100" kern="0" dirty="0">
                <a:solidFill>
                  <a:srgbClr val="8A6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by Heinrich Himmelreich</a:t>
            </a:r>
            <a:endParaRPr lang="en-US" sz="9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7" grpId="0"/>
      <p:bldP spid="23" grpId="0"/>
      <p:bldP spid="29" grpId="0"/>
      <p:bldP spid="35" grpId="0"/>
      <p:bldP spid="41" grpId="0"/>
      <p:bldP spid="47" grpId="0"/>
      <p:bldP spid="10" grpId="0" animBg="1"/>
      <p:bldP spid="16" grpId="0" animBg="1"/>
      <p:bldP spid="22" grpId="0" animBg="1"/>
      <p:bldP spid="28" grpId="0" animBg="1"/>
      <p:bldP spid="34" grpId="0" animBg="1"/>
      <p:bldP spid="40" grpId="0" animBg="1"/>
      <p:bldP spid="46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3 · ПОСЛОВИЦЫ 8–14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Закончи пословицу</a:t>
            </a:r>
            <a:endParaRPr lang="en-US" sz="3400" dirty="0"/>
          </a:p>
        </p:txBody>
      </p:sp>
      <p:pic>
        <p:nvPicPr>
          <p:cNvPr id="4" name="Image 0" descr="/tmp/claude-0/-home-user-heinrich-mario/e7688653-8e48-5480-a009-7b18c0e4f8cc/scratchpad/art/leaf_r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0" y="274320"/>
            <a:ext cx="868680" cy="868680"/>
          </a:xfrm>
          <a:prstGeom prst="rect">
            <a:avLst/>
          </a:prstGeom>
        </p:spPr>
      </p:pic>
      <p:pic>
        <p:nvPicPr>
          <p:cNvPr id="5" name="Image 1" descr="/tmp/claude-0/-home-user-heinrich-mario/e7688653-8e48-5480-a009-7b18c0e4f8cc/scratchpad/art/leaf_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9480" y="502920"/>
            <a:ext cx="594360" cy="59436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548640" y="1298448"/>
            <a:ext cx="8046720" cy="429768"/>
          </a:xfrm>
          <a:prstGeom prst="roundRect">
            <a:avLst>
              <a:gd name="adj" fmla="val 255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7" name="Shape 3"/>
          <p:cNvSpPr/>
          <p:nvPr/>
        </p:nvSpPr>
        <p:spPr>
          <a:xfrm>
            <a:off x="658368" y="1348740"/>
            <a:ext cx="329184" cy="329184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658368" y="13487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1188720" y="1298448"/>
            <a:ext cx="35661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стыдно не знать, …</a:t>
            </a:r>
            <a:endParaRPr lang="en-US" sz="1450" dirty="0"/>
          </a:p>
        </p:txBody>
      </p:sp>
      <p:sp>
        <p:nvSpPr>
          <p:cNvPr id="10" name="BADGE_1"/>
          <p:cNvSpPr txBox="1"/>
          <p:nvPr/>
        </p:nvSpPr>
        <p:spPr>
          <a:xfrm>
            <a:off x="4846320" y="1348740"/>
            <a:ext cx="329184" cy="329184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100" dirty="0"/>
          </a:p>
        </p:txBody>
      </p:sp>
      <p:sp>
        <p:nvSpPr>
          <p:cNvPr id="11" name="ANS_1"/>
          <p:cNvSpPr txBox="1"/>
          <p:nvPr/>
        </p:nvSpPr>
        <p:spPr>
          <a:xfrm>
            <a:off x="5248656" y="1298448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стыдно не учиться.</a:t>
            </a:r>
            <a:endParaRPr lang="en-US" sz="1450" dirty="0"/>
          </a:p>
        </p:txBody>
      </p:sp>
      <p:sp>
        <p:nvSpPr>
          <p:cNvPr id="12" name="Shape 8"/>
          <p:cNvSpPr/>
          <p:nvPr/>
        </p:nvSpPr>
        <p:spPr>
          <a:xfrm>
            <a:off x="548640" y="1796796"/>
            <a:ext cx="8046720" cy="429768"/>
          </a:xfrm>
          <a:prstGeom prst="roundRect">
            <a:avLst>
              <a:gd name="adj" fmla="val 255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658368" y="1847088"/>
            <a:ext cx="329184" cy="329184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14" name="Text 10"/>
          <p:cNvSpPr txBox="1"/>
          <p:nvPr/>
        </p:nvSpPr>
        <p:spPr>
          <a:xfrm>
            <a:off x="658368" y="18470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1188720" y="1796796"/>
            <a:ext cx="35661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Корень ученья горек, …</a:t>
            </a:r>
            <a:endParaRPr lang="en-US" sz="1450" dirty="0"/>
          </a:p>
        </p:txBody>
      </p:sp>
      <p:sp>
        <p:nvSpPr>
          <p:cNvPr id="16" name="BADGE_2"/>
          <p:cNvSpPr txBox="1"/>
          <p:nvPr/>
        </p:nvSpPr>
        <p:spPr>
          <a:xfrm>
            <a:off x="4846320" y="1847088"/>
            <a:ext cx="329184" cy="329184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100" dirty="0"/>
          </a:p>
        </p:txBody>
      </p:sp>
      <p:sp>
        <p:nvSpPr>
          <p:cNvPr id="17" name="ANS_2"/>
          <p:cNvSpPr txBox="1"/>
          <p:nvPr/>
        </p:nvSpPr>
        <p:spPr>
          <a:xfrm>
            <a:off x="5248656" y="1796796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 плод его сладок.</a:t>
            </a:r>
            <a:endParaRPr lang="en-US" sz="1450" dirty="0"/>
          </a:p>
        </p:txBody>
      </p:sp>
      <p:sp>
        <p:nvSpPr>
          <p:cNvPr id="18" name="Shape 14"/>
          <p:cNvSpPr/>
          <p:nvPr/>
        </p:nvSpPr>
        <p:spPr>
          <a:xfrm>
            <a:off x="548640" y="2295144"/>
            <a:ext cx="8046720" cy="429768"/>
          </a:xfrm>
          <a:prstGeom prst="roundRect">
            <a:avLst>
              <a:gd name="adj" fmla="val 255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658368" y="2345436"/>
            <a:ext cx="329184" cy="329184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20" name="Text 16"/>
          <p:cNvSpPr txBox="1"/>
          <p:nvPr/>
        </p:nvSpPr>
        <p:spPr>
          <a:xfrm>
            <a:off x="658368" y="23454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200" dirty="0"/>
          </a:p>
        </p:txBody>
      </p:sp>
      <p:sp>
        <p:nvSpPr>
          <p:cNvPr id="21" name="Text 17"/>
          <p:cNvSpPr txBox="1"/>
          <p:nvPr/>
        </p:nvSpPr>
        <p:spPr>
          <a:xfrm>
            <a:off x="1188720" y="2295144"/>
            <a:ext cx="35661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Кто много читает, …</a:t>
            </a:r>
            <a:endParaRPr lang="en-US" sz="1450" dirty="0"/>
          </a:p>
        </p:txBody>
      </p:sp>
      <p:sp>
        <p:nvSpPr>
          <p:cNvPr id="22" name="BADGE_3"/>
          <p:cNvSpPr txBox="1"/>
          <p:nvPr/>
        </p:nvSpPr>
        <p:spPr>
          <a:xfrm>
            <a:off x="4846320" y="2345436"/>
            <a:ext cx="329184" cy="329184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100" dirty="0"/>
          </a:p>
        </p:txBody>
      </p:sp>
      <p:sp>
        <p:nvSpPr>
          <p:cNvPr id="23" name="ANS_3"/>
          <p:cNvSpPr txBox="1"/>
          <p:nvPr/>
        </p:nvSpPr>
        <p:spPr>
          <a:xfrm>
            <a:off x="5248656" y="2295144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тот много знает.</a:t>
            </a:r>
            <a:endParaRPr lang="en-US" sz="1450" dirty="0"/>
          </a:p>
        </p:txBody>
      </p:sp>
      <p:sp>
        <p:nvSpPr>
          <p:cNvPr id="24" name="Shape 20"/>
          <p:cNvSpPr/>
          <p:nvPr/>
        </p:nvSpPr>
        <p:spPr>
          <a:xfrm>
            <a:off x="548640" y="2793492"/>
            <a:ext cx="8046720" cy="429768"/>
          </a:xfrm>
          <a:prstGeom prst="roundRect">
            <a:avLst>
              <a:gd name="adj" fmla="val 255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25" name="Shape 21"/>
          <p:cNvSpPr/>
          <p:nvPr/>
        </p:nvSpPr>
        <p:spPr>
          <a:xfrm>
            <a:off x="658368" y="2843784"/>
            <a:ext cx="329184" cy="329184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26" name="Text 22"/>
          <p:cNvSpPr txBox="1"/>
          <p:nvPr/>
        </p:nvSpPr>
        <p:spPr>
          <a:xfrm>
            <a:off x="658368" y="2843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1188720" y="2793492"/>
            <a:ext cx="35661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Делу время, …</a:t>
            </a:r>
            <a:endParaRPr lang="en-US" sz="1450" dirty="0"/>
          </a:p>
        </p:txBody>
      </p:sp>
      <p:sp>
        <p:nvSpPr>
          <p:cNvPr id="28" name="BADGE_4"/>
          <p:cNvSpPr txBox="1"/>
          <p:nvPr/>
        </p:nvSpPr>
        <p:spPr>
          <a:xfrm>
            <a:off x="4846320" y="2843784"/>
            <a:ext cx="329184" cy="329184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100" dirty="0"/>
          </a:p>
        </p:txBody>
      </p:sp>
      <p:sp>
        <p:nvSpPr>
          <p:cNvPr id="29" name="ANS_4"/>
          <p:cNvSpPr txBox="1"/>
          <p:nvPr/>
        </p:nvSpPr>
        <p:spPr>
          <a:xfrm>
            <a:off x="5248656" y="2793492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потехе час.</a:t>
            </a:r>
            <a:endParaRPr lang="en-US" sz="1450" dirty="0"/>
          </a:p>
        </p:txBody>
      </p:sp>
      <p:sp>
        <p:nvSpPr>
          <p:cNvPr id="30" name="Shape 26"/>
          <p:cNvSpPr/>
          <p:nvPr/>
        </p:nvSpPr>
        <p:spPr>
          <a:xfrm>
            <a:off x="548640" y="3291840"/>
            <a:ext cx="8046720" cy="429768"/>
          </a:xfrm>
          <a:prstGeom prst="roundRect">
            <a:avLst>
              <a:gd name="adj" fmla="val 255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31" name="Shape 27"/>
          <p:cNvSpPr/>
          <p:nvPr/>
        </p:nvSpPr>
        <p:spPr>
          <a:xfrm>
            <a:off x="658368" y="3342132"/>
            <a:ext cx="329184" cy="329184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32" name="Text 28"/>
          <p:cNvSpPr txBox="1"/>
          <p:nvPr/>
        </p:nvSpPr>
        <p:spPr>
          <a:xfrm>
            <a:off x="658368" y="33421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200" dirty="0"/>
          </a:p>
        </p:txBody>
      </p:sp>
      <p:sp>
        <p:nvSpPr>
          <p:cNvPr id="33" name="Text 29"/>
          <p:cNvSpPr txBox="1"/>
          <p:nvPr/>
        </p:nvSpPr>
        <p:spPr>
          <a:xfrm>
            <a:off x="1188720" y="3291840"/>
            <a:ext cx="35661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Сделал дело — …</a:t>
            </a:r>
            <a:endParaRPr lang="en-US" sz="1450" dirty="0"/>
          </a:p>
        </p:txBody>
      </p:sp>
      <p:sp>
        <p:nvSpPr>
          <p:cNvPr id="34" name="BADGE_5"/>
          <p:cNvSpPr txBox="1"/>
          <p:nvPr/>
        </p:nvSpPr>
        <p:spPr>
          <a:xfrm>
            <a:off x="4846320" y="3342132"/>
            <a:ext cx="329184" cy="329184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100" dirty="0"/>
          </a:p>
        </p:txBody>
      </p:sp>
      <p:sp>
        <p:nvSpPr>
          <p:cNvPr id="35" name="ANS_5"/>
          <p:cNvSpPr txBox="1"/>
          <p:nvPr/>
        </p:nvSpPr>
        <p:spPr>
          <a:xfrm>
            <a:off x="5248656" y="329184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гуляй смело.</a:t>
            </a:r>
            <a:endParaRPr lang="en-US" sz="1450" dirty="0"/>
          </a:p>
        </p:txBody>
      </p:sp>
      <p:sp>
        <p:nvSpPr>
          <p:cNvPr id="36" name="Shape 32"/>
          <p:cNvSpPr/>
          <p:nvPr/>
        </p:nvSpPr>
        <p:spPr>
          <a:xfrm>
            <a:off x="548640" y="3790188"/>
            <a:ext cx="8046720" cy="429768"/>
          </a:xfrm>
          <a:prstGeom prst="roundRect">
            <a:avLst>
              <a:gd name="adj" fmla="val 255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37" name="Shape 33"/>
          <p:cNvSpPr/>
          <p:nvPr/>
        </p:nvSpPr>
        <p:spPr>
          <a:xfrm>
            <a:off x="658368" y="3840480"/>
            <a:ext cx="329184" cy="329184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38" name="Text 34"/>
          <p:cNvSpPr txBox="1"/>
          <p:nvPr/>
        </p:nvSpPr>
        <p:spPr>
          <a:xfrm>
            <a:off x="658368" y="38404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200" dirty="0"/>
          </a:p>
        </p:txBody>
      </p:sp>
      <p:sp>
        <p:nvSpPr>
          <p:cNvPr id="39" name="Text 35"/>
          <p:cNvSpPr txBox="1"/>
          <p:nvPr/>
        </p:nvSpPr>
        <p:spPr>
          <a:xfrm>
            <a:off x="1188720" y="3790188"/>
            <a:ext cx="35661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Семь раз отмерь — …</a:t>
            </a:r>
            <a:endParaRPr lang="en-US" sz="1450" dirty="0"/>
          </a:p>
        </p:txBody>
      </p:sp>
      <p:sp>
        <p:nvSpPr>
          <p:cNvPr id="40" name="BADGE_6"/>
          <p:cNvSpPr txBox="1"/>
          <p:nvPr/>
        </p:nvSpPr>
        <p:spPr>
          <a:xfrm>
            <a:off x="4846320" y="3840480"/>
            <a:ext cx="329184" cy="329184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100" dirty="0"/>
          </a:p>
        </p:txBody>
      </p:sp>
      <p:sp>
        <p:nvSpPr>
          <p:cNvPr id="41" name="ANS_6"/>
          <p:cNvSpPr txBox="1"/>
          <p:nvPr/>
        </p:nvSpPr>
        <p:spPr>
          <a:xfrm>
            <a:off x="5248656" y="3790188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раз отрежь.</a:t>
            </a:r>
            <a:endParaRPr lang="en-US" sz="1450" dirty="0"/>
          </a:p>
        </p:txBody>
      </p:sp>
      <p:sp>
        <p:nvSpPr>
          <p:cNvPr id="42" name="Shape 38"/>
          <p:cNvSpPr/>
          <p:nvPr/>
        </p:nvSpPr>
        <p:spPr>
          <a:xfrm>
            <a:off x="548640" y="4288536"/>
            <a:ext cx="8046720" cy="429768"/>
          </a:xfrm>
          <a:prstGeom prst="roundRect">
            <a:avLst>
              <a:gd name="adj" fmla="val 255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43" name="Shape 39"/>
          <p:cNvSpPr/>
          <p:nvPr/>
        </p:nvSpPr>
        <p:spPr>
          <a:xfrm>
            <a:off x="658368" y="4338828"/>
            <a:ext cx="329184" cy="329184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44" name="Text 40"/>
          <p:cNvSpPr txBox="1"/>
          <p:nvPr/>
        </p:nvSpPr>
        <p:spPr>
          <a:xfrm>
            <a:off x="658368" y="43388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200" dirty="0"/>
          </a:p>
        </p:txBody>
      </p:sp>
      <p:sp>
        <p:nvSpPr>
          <p:cNvPr id="45" name="Text 41"/>
          <p:cNvSpPr txBox="1"/>
          <p:nvPr/>
        </p:nvSpPr>
        <p:spPr>
          <a:xfrm>
            <a:off x="1188720" y="4288536"/>
            <a:ext cx="35661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Яблоко от яблони …</a:t>
            </a:r>
            <a:endParaRPr lang="en-US" sz="1450" dirty="0"/>
          </a:p>
        </p:txBody>
      </p:sp>
      <p:sp>
        <p:nvSpPr>
          <p:cNvPr id="46" name="BADGE_7"/>
          <p:cNvSpPr txBox="1"/>
          <p:nvPr/>
        </p:nvSpPr>
        <p:spPr>
          <a:xfrm>
            <a:off x="4846320" y="4338828"/>
            <a:ext cx="329184" cy="329184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100" dirty="0"/>
          </a:p>
        </p:txBody>
      </p:sp>
      <p:sp>
        <p:nvSpPr>
          <p:cNvPr id="47" name="ANS_7"/>
          <p:cNvSpPr txBox="1"/>
          <p:nvPr/>
        </p:nvSpPr>
        <p:spPr>
          <a:xfrm>
            <a:off x="5248656" y="4288536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недалеко падает.</a:t>
            </a:r>
            <a:endParaRPr lang="en-US" sz="1450" dirty="0"/>
          </a:p>
        </p:txBody>
      </p:sp>
      <p:sp>
        <p:nvSpPr>
          <p:cNvPr id="49" name="Text 44"/>
          <p:cNvSpPr txBox="1"/>
          <p:nvPr/>
        </p:nvSpPr>
        <p:spPr>
          <a:xfrm>
            <a:off x="274320" y="487375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i="1" spc="100" kern="0" dirty="0">
                <a:solidFill>
                  <a:srgbClr val="8A6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by Heinrich Himmelreich</a:t>
            </a:r>
            <a:endParaRPr lang="en-US" sz="9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7" grpId="0"/>
      <p:bldP spid="23" grpId="0"/>
      <p:bldP spid="29" grpId="0"/>
      <p:bldP spid="35" grpId="0"/>
      <p:bldP spid="41" grpId="0"/>
      <p:bldP spid="47" grpId="0"/>
      <p:bldP spid="10" grpId="0" animBg="1"/>
      <p:bldP spid="16" grpId="0" animBg="1"/>
      <p:bldP spid="22" grpId="0" animBg="1"/>
      <p:bldP spid="28" grpId="0" animBg="1"/>
      <p:bldP spid="34" grpId="0" animBg="1"/>
      <p:bldP spid="40" grpId="0" animBg="1"/>
      <p:bldP spid="46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heinrich-mario/e7688653-8e48-5480-a009-7b18c0e4f8cc/scratchpad/img/forest.jpg">    </p:cNvPr>
          <p:cNvPicPr>
            <a:picLocks noChangeAspect="1"/>
          </p:cNvPicPr>
          <p:nvPr/>
        </p:nvPicPr>
        <p:blipFill>
          <a:blip r:embed="rId1"/>
          <a:srcRect l="0" r="0" t="7977" b="7977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/tmp/claude-0/-home-user-heinrich-mario/e7688653-8e48-5480-a009-7b18c0e4f8cc/scratchpad/art/overlay_fla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822960" y="1600200"/>
            <a:ext cx="1554480" cy="1554480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5" name="Text 1"/>
          <p:cNvSpPr txBox="1"/>
          <p:nvPr/>
        </p:nvSpPr>
        <p:spPr>
          <a:xfrm>
            <a:off x="822960" y="160020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5400" dirty="0"/>
          </a:p>
        </p:txBody>
      </p:sp>
      <p:sp>
        <p:nvSpPr>
          <p:cNvPr id="6" name="Text 2"/>
          <p:cNvSpPr txBox="1"/>
          <p:nvPr/>
        </p:nvSpPr>
        <p:spPr>
          <a:xfrm>
            <a:off x="2743200" y="1417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EBB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4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2743200" y="1691640"/>
            <a:ext cx="5943600" cy="118872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Продолжи песню</a:t>
            </a:r>
            <a:endParaRPr lang="en-US" sz="3600" dirty="0"/>
          </a:p>
        </p:txBody>
      </p:sp>
      <p:sp>
        <p:nvSpPr>
          <p:cNvPr id="8" name="Text 4"/>
          <p:cNvSpPr txBox="1"/>
          <p:nvPr/>
        </p:nvSpPr>
        <p:spPr>
          <a:xfrm>
            <a:off x="2743200" y="3017520"/>
            <a:ext cx="56692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Ведущий читает строчку из знакомой песни — команда поёт продолжение. Хором, громко и обязательно с душой! Проверяем по щелчку.</a:t>
            </a:r>
            <a:endParaRPr lang="en-US" sz="1600" dirty="0"/>
          </a:p>
        </p:txBody>
      </p:sp>
      <p:pic>
        <p:nvPicPr>
          <p:cNvPr id="9" name="Image 2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3840480"/>
            <a:ext cx="1005840" cy="1005840"/>
          </a:xfrm>
          <a:prstGeom prst="rect">
            <a:avLst/>
          </a:prstGeom>
        </p:spPr>
      </p:pic>
      <p:pic>
        <p:nvPicPr>
          <p:cNvPr id="10" name="Image 3" descr="/tmp/claude-0/-home-user-heinrich-mario/e7688653-8e48-5480-a009-7b18c0e4f8cc/scratchpad/art/leaf_r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40" y="3931920"/>
            <a:ext cx="868680" cy="868680"/>
          </a:xfrm>
          <a:prstGeom prst="rect">
            <a:avLst/>
          </a:prstGeom>
        </p:spPr>
      </p:pic>
      <p:sp>
        <p:nvSpPr>
          <p:cNvPr id="12" name="Text 5"/>
          <p:cNvSpPr txBox="1"/>
          <p:nvPr/>
        </p:nvSpPr>
        <p:spPr>
          <a:xfrm>
            <a:off x="274320" y="487375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i="1" spc="100" kern="0" dirty="0">
                <a:solidFill>
                  <a:srgbClr val="D9B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by Heinrich Himmelreich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4 · ПЕСНИ 1–4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Продолжи песню</a:t>
            </a:r>
            <a:endParaRPr lang="en-US" sz="3400" dirty="0"/>
          </a:p>
        </p:txBody>
      </p:sp>
      <p:pic>
        <p:nvPicPr>
          <p:cNvPr id="4" name="Image 0" descr="/tmp/claude-0/-home-user-heinrich-mario/e7688653-8e48-5480-a009-7b18c0e4f8cc/scratchpad/art/leaf_r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0" y="274320"/>
            <a:ext cx="868680" cy="868680"/>
          </a:xfrm>
          <a:prstGeom prst="rect">
            <a:avLst/>
          </a:prstGeom>
        </p:spPr>
      </p:pic>
      <p:pic>
        <p:nvPicPr>
          <p:cNvPr id="5" name="Image 1" descr="/tmp/claude-0/-home-user-heinrich-mario/e7688653-8e48-5480-a009-7b18c0e4f8cc/scratchpad/art/leaf_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9480" y="502920"/>
            <a:ext cx="594360" cy="59436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548640" y="1325880"/>
            <a:ext cx="804672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7" name="Shape 3"/>
          <p:cNvSpPr/>
          <p:nvPr/>
        </p:nvSpPr>
        <p:spPr>
          <a:xfrm>
            <a:off x="658368" y="1499616"/>
            <a:ext cx="402336" cy="402336"/>
          </a:xfrm>
          <a:prstGeom prst="ellipse">
            <a:avLst/>
          </a:prstGeom>
          <a:solidFill>
            <a:srgbClr val="B5451B"/>
          </a:solidFill>
          <a:ln w="12700">
            <a:solidFill>
              <a:srgbClr val="B5451B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pic>
        <p:nvPicPr>
          <p:cNvPr id="8" name="Image 2" descr="/tmp/claude-0/-home-user-heinrich-mario/e7688653-8e48-5480-a009-7b18c0e4f8cc/scratchpad/art/no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8835" y="1580083"/>
            <a:ext cx="241402" cy="241402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188720" y="1325880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«Буквы разные писать тонким пёрышком в тетрадь…»</a:t>
            </a:r>
            <a:endParaRPr lang="en-US" sz="1400" dirty="0"/>
          </a:p>
        </p:txBody>
      </p:sp>
      <p:sp>
        <p:nvSpPr>
          <p:cNvPr id="10" name="BADGE_1"/>
          <p:cNvSpPr txBox="1"/>
          <p:nvPr/>
        </p:nvSpPr>
        <p:spPr>
          <a:xfrm>
            <a:off x="4617720" y="1508760"/>
            <a:ext cx="384048" cy="384048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200" dirty="0"/>
          </a:p>
        </p:txBody>
      </p:sp>
      <p:sp>
        <p:nvSpPr>
          <p:cNvPr id="11" name="ANS_1"/>
          <p:cNvSpPr txBox="1"/>
          <p:nvPr/>
        </p:nvSpPr>
        <p:spPr>
          <a:xfrm>
            <a:off x="5074920" y="1325880"/>
            <a:ext cx="3657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…учат в школе, учат в школе, учат в школе!»</a:t>
            </a:r>
            <a:endParaRPr lang="en-US" sz="1500" dirty="0"/>
          </a:p>
        </p:txBody>
      </p:sp>
      <p:sp>
        <p:nvSpPr>
          <p:cNvPr id="12" name="Shape 7"/>
          <p:cNvSpPr/>
          <p:nvPr/>
        </p:nvSpPr>
        <p:spPr>
          <a:xfrm>
            <a:off x="548640" y="2167128"/>
            <a:ext cx="804672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13" name="Shape 8"/>
          <p:cNvSpPr/>
          <p:nvPr/>
        </p:nvSpPr>
        <p:spPr>
          <a:xfrm>
            <a:off x="658368" y="2340864"/>
            <a:ext cx="402336" cy="402336"/>
          </a:xfrm>
          <a:prstGeom prst="ellipse">
            <a:avLst/>
          </a:prstGeom>
          <a:solidFill>
            <a:srgbClr val="B5451B"/>
          </a:solidFill>
          <a:ln w="12700">
            <a:solidFill>
              <a:srgbClr val="B5451B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pic>
        <p:nvPicPr>
          <p:cNvPr id="14" name="Image 3" descr="/tmp/claude-0/-home-user-heinrich-mario/e7688653-8e48-5480-a009-7b18c0e4f8cc/scratchpad/art/no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8835" y="2421331"/>
            <a:ext cx="241402" cy="241402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188720" y="2167128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«От улыбки хмурый день светлей…»</a:t>
            </a:r>
            <a:endParaRPr lang="en-US" sz="1400" dirty="0"/>
          </a:p>
        </p:txBody>
      </p:sp>
      <p:sp>
        <p:nvSpPr>
          <p:cNvPr id="16" name="BADGE_2"/>
          <p:cNvSpPr txBox="1"/>
          <p:nvPr/>
        </p:nvSpPr>
        <p:spPr>
          <a:xfrm>
            <a:off x="4617720" y="2350008"/>
            <a:ext cx="384048" cy="384048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200" dirty="0"/>
          </a:p>
        </p:txBody>
      </p:sp>
      <p:sp>
        <p:nvSpPr>
          <p:cNvPr id="17" name="ANS_2"/>
          <p:cNvSpPr txBox="1"/>
          <p:nvPr/>
        </p:nvSpPr>
        <p:spPr>
          <a:xfrm>
            <a:off x="5074920" y="2167128"/>
            <a:ext cx="3657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…от улыбки в небе радуга проснётся»</a:t>
            </a:r>
            <a:endParaRPr lang="en-US" sz="1500" dirty="0"/>
          </a:p>
        </p:txBody>
      </p:sp>
      <p:sp>
        <p:nvSpPr>
          <p:cNvPr id="18" name="Shape 12"/>
          <p:cNvSpPr/>
          <p:nvPr/>
        </p:nvSpPr>
        <p:spPr>
          <a:xfrm>
            <a:off x="548640" y="3008376"/>
            <a:ext cx="804672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58368" y="3182112"/>
            <a:ext cx="402336" cy="402336"/>
          </a:xfrm>
          <a:prstGeom prst="ellipse">
            <a:avLst/>
          </a:prstGeom>
          <a:solidFill>
            <a:srgbClr val="B5451B"/>
          </a:solidFill>
          <a:ln w="12700">
            <a:solidFill>
              <a:srgbClr val="B5451B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pic>
        <p:nvPicPr>
          <p:cNvPr id="20" name="Image 4" descr="/tmp/claude-0/-home-user-heinrich-mario/e7688653-8e48-5480-a009-7b18c0e4f8cc/scratchpad/art/not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8835" y="3262579"/>
            <a:ext cx="241402" cy="241402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188720" y="3008376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«Вместе весело шагать по просторам…»</a:t>
            </a:r>
            <a:endParaRPr lang="en-US" sz="1400" dirty="0"/>
          </a:p>
        </p:txBody>
      </p:sp>
      <p:sp>
        <p:nvSpPr>
          <p:cNvPr id="22" name="BADGE_3"/>
          <p:cNvSpPr txBox="1"/>
          <p:nvPr/>
        </p:nvSpPr>
        <p:spPr>
          <a:xfrm>
            <a:off x="4617720" y="3191256"/>
            <a:ext cx="384048" cy="384048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200" dirty="0"/>
          </a:p>
        </p:txBody>
      </p:sp>
      <p:sp>
        <p:nvSpPr>
          <p:cNvPr id="23" name="ANS_3"/>
          <p:cNvSpPr txBox="1"/>
          <p:nvPr/>
        </p:nvSpPr>
        <p:spPr>
          <a:xfrm>
            <a:off x="5074920" y="3008376"/>
            <a:ext cx="3657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…и, конечно, припевать лучше хором»</a:t>
            </a:r>
            <a:endParaRPr lang="en-US" sz="1500" dirty="0"/>
          </a:p>
        </p:txBody>
      </p:sp>
      <p:sp>
        <p:nvSpPr>
          <p:cNvPr id="24" name="Shape 17"/>
          <p:cNvSpPr/>
          <p:nvPr/>
        </p:nvSpPr>
        <p:spPr>
          <a:xfrm>
            <a:off x="548640" y="3849624"/>
            <a:ext cx="804672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25" name="Shape 18"/>
          <p:cNvSpPr/>
          <p:nvPr/>
        </p:nvSpPr>
        <p:spPr>
          <a:xfrm>
            <a:off x="658368" y="4023360"/>
            <a:ext cx="402336" cy="402336"/>
          </a:xfrm>
          <a:prstGeom prst="ellipse">
            <a:avLst/>
          </a:prstGeom>
          <a:solidFill>
            <a:srgbClr val="B5451B"/>
          </a:solidFill>
          <a:ln w="12700">
            <a:solidFill>
              <a:srgbClr val="B5451B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pic>
        <p:nvPicPr>
          <p:cNvPr id="26" name="Image 5" descr="/tmp/claude-0/-home-user-heinrich-mario/e7688653-8e48-5480-a009-7b18c0e4f8cc/scratchpad/art/not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8835" y="4103827"/>
            <a:ext cx="241402" cy="241402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1188720" y="3849624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«Пусть бегут неуклюже пешеходы по лужам…»</a:t>
            </a:r>
            <a:endParaRPr lang="en-US" sz="1400" dirty="0"/>
          </a:p>
        </p:txBody>
      </p:sp>
      <p:sp>
        <p:nvSpPr>
          <p:cNvPr id="28" name="BADGE_4"/>
          <p:cNvSpPr txBox="1"/>
          <p:nvPr/>
        </p:nvSpPr>
        <p:spPr>
          <a:xfrm>
            <a:off x="4617720" y="4032504"/>
            <a:ext cx="384048" cy="384048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200" dirty="0"/>
          </a:p>
        </p:txBody>
      </p:sp>
      <p:sp>
        <p:nvSpPr>
          <p:cNvPr id="29" name="ANS_4"/>
          <p:cNvSpPr txBox="1"/>
          <p:nvPr/>
        </p:nvSpPr>
        <p:spPr>
          <a:xfrm>
            <a:off x="5074920" y="3849624"/>
            <a:ext cx="3657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…а вода по асфальту рекой»</a:t>
            </a:r>
            <a:endParaRPr lang="en-US" sz="1500" dirty="0"/>
          </a:p>
        </p:txBody>
      </p:sp>
      <p:sp>
        <p:nvSpPr>
          <p:cNvPr id="31" name="Text 22"/>
          <p:cNvSpPr txBox="1"/>
          <p:nvPr/>
        </p:nvSpPr>
        <p:spPr>
          <a:xfrm>
            <a:off x="274320" y="487375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i="1" spc="100" kern="0" dirty="0">
                <a:solidFill>
                  <a:srgbClr val="8A6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by Heinrich Himmelreich</a:t>
            </a:r>
            <a:endParaRPr lang="en-US" sz="9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7" grpId="0"/>
      <p:bldP spid="23" grpId="0"/>
      <p:bldP spid="29" grpId="0"/>
      <p:bldP spid="10" grpId="0" animBg="1"/>
      <p:bldP spid="16" grpId="0" animBg="1"/>
      <p:bldP spid="22" grpId="0" animBg="1"/>
      <p:bldP spid="28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4 · ПЕСНИ 5–8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Продолжи песню</a:t>
            </a:r>
            <a:endParaRPr lang="en-US" sz="3400" dirty="0"/>
          </a:p>
        </p:txBody>
      </p:sp>
      <p:pic>
        <p:nvPicPr>
          <p:cNvPr id="4" name="Image 0" descr="/tmp/claude-0/-home-user-heinrich-mario/e7688653-8e48-5480-a009-7b18c0e4f8cc/scratchpad/art/leaf_r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0" y="274320"/>
            <a:ext cx="868680" cy="868680"/>
          </a:xfrm>
          <a:prstGeom prst="rect">
            <a:avLst/>
          </a:prstGeom>
        </p:spPr>
      </p:pic>
      <p:pic>
        <p:nvPicPr>
          <p:cNvPr id="5" name="Image 1" descr="/tmp/claude-0/-home-user-heinrich-mario/e7688653-8e48-5480-a009-7b18c0e4f8cc/scratchpad/art/leaf_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9480" y="502920"/>
            <a:ext cx="594360" cy="59436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548640" y="1325880"/>
            <a:ext cx="804672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7" name="Shape 3"/>
          <p:cNvSpPr/>
          <p:nvPr/>
        </p:nvSpPr>
        <p:spPr>
          <a:xfrm>
            <a:off x="658368" y="1499616"/>
            <a:ext cx="402336" cy="402336"/>
          </a:xfrm>
          <a:prstGeom prst="ellipse">
            <a:avLst/>
          </a:prstGeom>
          <a:solidFill>
            <a:srgbClr val="B5451B"/>
          </a:solidFill>
          <a:ln w="12700">
            <a:solidFill>
              <a:srgbClr val="B5451B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pic>
        <p:nvPicPr>
          <p:cNvPr id="8" name="Image 2" descr="/tmp/claude-0/-home-user-heinrich-mario/e7688653-8e48-5480-a009-7b18c0e4f8cc/scratchpad/art/no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8835" y="1580083"/>
            <a:ext cx="241402" cy="241402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188720" y="1325880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«Антошка, Антошка…»</a:t>
            </a:r>
            <a:endParaRPr lang="en-US" sz="1400" dirty="0"/>
          </a:p>
        </p:txBody>
      </p:sp>
      <p:sp>
        <p:nvSpPr>
          <p:cNvPr id="10" name="BADGE_1"/>
          <p:cNvSpPr txBox="1"/>
          <p:nvPr/>
        </p:nvSpPr>
        <p:spPr>
          <a:xfrm>
            <a:off x="4617720" y="1508760"/>
            <a:ext cx="384048" cy="384048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200" dirty="0"/>
          </a:p>
        </p:txBody>
      </p:sp>
      <p:sp>
        <p:nvSpPr>
          <p:cNvPr id="11" name="ANS_1"/>
          <p:cNvSpPr txBox="1"/>
          <p:nvPr/>
        </p:nvSpPr>
        <p:spPr>
          <a:xfrm>
            <a:off x="5074920" y="1325880"/>
            <a:ext cx="3657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…пойдём копать картошку!»</a:t>
            </a:r>
            <a:endParaRPr lang="en-US" sz="1500" dirty="0"/>
          </a:p>
        </p:txBody>
      </p:sp>
      <p:sp>
        <p:nvSpPr>
          <p:cNvPr id="12" name="Shape 7"/>
          <p:cNvSpPr/>
          <p:nvPr/>
        </p:nvSpPr>
        <p:spPr>
          <a:xfrm>
            <a:off x="548640" y="2167128"/>
            <a:ext cx="804672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13" name="Shape 8"/>
          <p:cNvSpPr/>
          <p:nvPr/>
        </p:nvSpPr>
        <p:spPr>
          <a:xfrm>
            <a:off x="658368" y="2340864"/>
            <a:ext cx="402336" cy="402336"/>
          </a:xfrm>
          <a:prstGeom prst="ellipse">
            <a:avLst/>
          </a:prstGeom>
          <a:solidFill>
            <a:srgbClr val="B5451B"/>
          </a:solidFill>
          <a:ln w="12700">
            <a:solidFill>
              <a:srgbClr val="B5451B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pic>
        <p:nvPicPr>
          <p:cNvPr id="14" name="Image 3" descr="/tmp/claude-0/-home-user-heinrich-mario/e7688653-8e48-5480-a009-7b18c0e4f8cc/scratchpad/art/no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8835" y="2421331"/>
            <a:ext cx="241402" cy="241402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188720" y="2167128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«Листья жёлтые над городом кружатся…»</a:t>
            </a:r>
            <a:endParaRPr lang="en-US" sz="1400" dirty="0"/>
          </a:p>
        </p:txBody>
      </p:sp>
      <p:sp>
        <p:nvSpPr>
          <p:cNvPr id="16" name="BADGE_2"/>
          <p:cNvSpPr txBox="1"/>
          <p:nvPr/>
        </p:nvSpPr>
        <p:spPr>
          <a:xfrm>
            <a:off x="4617720" y="2350008"/>
            <a:ext cx="384048" cy="384048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200" dirty="0"/>
          </a:p>
        </p:txBody>
      </p:sp>
      <p:sp>
        <p:nvSpPr>
          <p:cNvPr id="17" name="ANS_2"/>
          <p:cNvSpPr txBox="1"/>
          <p:nvPr/>
        </p:nvSpPr>
        <p:spPr>
          <a:xfrm>
            <a:off x="5074920" y="2167128"/>
            <a:ext cx="3657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…с тихим шорохом нам под ноги ложатся»</a:t>
            </a:r>
            <a:endParaRPr lang="en-US" sz="1500" dirty="0"/>
          </a:p>
        </p:txBody>
      </p:sp>
      <p:sp>
        <p:nvSpPr>
          <p:cNvPr id="18" name="Shape 12"/>
          <p:cNvSpPr/>
          <p:nvPr/>
        </p:nvSpPr>
        <p:spPr>
          <a:xfrm>
            <a:off x="548640" y="3008376"/>
            <a:ext cx="804672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58368" y="3182112"/>
            <a:ext cx="402336" cy="402336"/>
          </a:xfrm>
          <a:prstGeom prst="ellipse">
            <a:avLst/>
          </a:prstGeom>
          <a:solidFill>
            <a:srgbClr val="B5451B"/>
          </a:solidFill>
          <a:ln w="12700">
            <a:solidFill>
              <a:srgbClr val="B5451B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pic>
        <p:nvPicPr>
          <p:cNvPr id="20" name="Image 4" descr="/tmp/claude-0/-home-user-heinrich-mario/e7688653-8e48-5480-a009-7b18c0e4f8cc/scratchpad/art/not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8835" y="3262579"/>
            <a:ext cx="241402" cy="241402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188720" y="3008376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«Что такое осень? Это небо…»</a:t>
            </a:r>
            <a:endParaRPr lang="en-US" sz="1400" dirty="0"/>
          </a:p>
        </p:txBody>
      </p:sp>
      <p:sp>
        <p:nvSpPr>
          <p:cNvPr id="22" name="BADGE_3"/>
          <p:cNvSpPr txBox="1"/>
          <p:nvPr/>
        </p:nvSpPr>
        <p:spPr>
          <a:xfrm>
            <a:off x="4617720" y="3191256"/>
            <a:ext cx="384048" cy="384048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200" dirty="0"/>
          </a:p>
        </p:txBody>
      </p:sp>
      <p:sp>
        <p:nvSpPr>
          <p:cNvPr id="23" name="ANS_3"/>
          <p:cNvSpPr txBox="1"/>
          <p:nvPr/>
        </p:nvSpPr>
        <p:spPr>
          <a:xfrm>
            <a:off x="5074920" y="3008376"/>
            <a:ext cx="3657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…плачущее небо под ногами»</a:t>
            </a:r>
            <a:endParaRPr lang="en-US" sz="1500" dirty="0"/>
          </a:p>
        </p:txBody>
      </p:sp>
      <p:sp>
        <p:nvSpPr>
          <p:cNvPr id="24" name="Shape 17"/>
          <p:cNvSpPr/>
          <p:nvPr/>
        </p:nvSpPr>
        <p:spPr>
          <a:xfrm>
            <a:off x="548640" y="3849624"/>
            <a:ext cx="804672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25" name="Shape 18"/>
          <p:cNvSpPr/>
          <p:nvPr/>
        </p:nvSpPr>
        <p:spPr>
          <a:xfrm>
            <a:off x="658368" y="4023360"/>
            <a:ext cx="402336" cy="402336"/>
          </a:xfrm>
          <a:prstGeom prst="ellipse">
            <a:avLst/>
          </a:prstGeom>
          <a:solidFill>
            <a:srgbClr val="B5451B"/>
          </a:solidFill>
          <a:ln w="12700">
            <a:solidFill>
              <a:srgbClr val="B5451B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pic>
        <p:nvPicPr>
          <p:cNvPr id="26" name="Image 5" descr="/tmp/claude-0/-home-user-heinrich-mario/e7688653-8e48-5480-a009-7b18c0e4f8cc/scratchpad/art/not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8835" y="4103827"/>
            <a:ext cx="241402" cy="241402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1188720" y="3849624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«Дважды два — четыре, дважды два — четыре…»</a:t>
            </a:r>
            <a:endParaRPr lang="en-US" sz="1400" dirty="0"/>
          </a:p>
        </p:txBody>
      </p:sp>
      <p:sp>
        <p:nvSpPr>
          <p:cNvPr id="28" name="BADGE_4"/>
          <p:cNvSpPr txBox="1"/>
          <p:nvPr/>
        </p:nvSpPr>
        <p:spPr>
          <a:xfrm>
            <a:off x="4617720" y="4032504"/>
            <a:ext cx="384048" cy="384048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200" dirty="0"/>
          </a:p>
        </p:txBody>
      </p:sp>
      <p:sp>
        <p:nvSpPr>
          <p:cNvPr id="29" name="ANS_4"/>
          <p:cNvSpPr txBox="1"/>
          <p:nvPr/>
        </p:nvSpPr>
        <p:spPr>
          <a:xfrm>
            <a:off x="5074920" y="3849624"/>
            <a:ext cx="3657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…это всем известно в целом мире»</a:t>
            </a:r>
            <a:endParaRPr lang="en-US" sz="1500" dirty="0"/>
          </a:p>
        </p:txBody>
      </p:sp>
      <p:sp>
        <p:nvSpPr>
          <p:cNvPr id="31" name="Text 22"/>
          <p:cNvSpPr txBox="1"/>
          <p:nvPr/>
        </p:nvSpPr>
        <p:spPr>
          <a:xfrm>
            <a:off x="274320" y="487375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i="1" spc="100" kern="0" dirty="0">
                <a:solidFill>
                  <a:srgbClr val="8A6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by Heinrich Himmelreich</a:t>
            </a:r>
            <a:endParaRPr lang="en-US" sz="9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7" grpId="0"/>
      <p:bldP spid="23" grpId="0"/>
      <p:bldP spid="29" grpId="0"/>
      <p:bldP spid="10" grpId="0" animBg="1"/>
      <p:bldP spid="16" grpId="0" animBg="1"/>
      <p:bldP spid="22" grpId="0" animBg="1"/>
      <p:bldP spid="28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heinrich-mario/e7688653-8e48-5480-a009-7b18c0e4f8cc/scratchpad/img/road.jpg">    </p:cNvPr>
          <p:cNvPicPr>
            <a:picLocks noChangeAspect="1"/>
          </p:cNvPicPr>
          <p:nvPr/>
        </p:nvPicPr>
        <p:blipFill>
          <a:blip r:embed="rId1"/>
          <a:srcRect l="0" r="0" t="7845" b="7845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/tmp/claude-0/-home-user-heinrich-mario/e7688653-8e48-5480-a009-7b18c0e4f8cc/scratchpad/art/overlay_botto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274320" y="274320"/>
            <a:ext cx="8595360" cy="4594860"/>
          </a:xfrm>
          <a:prstGeom prst="rect">
            <a:avLst/>
          </a:prstGeom>
          <a:ln w="19050">
            <a:solidFill>
              <a:srgbClr val="EBB021"/>
            </a:solidFill>
            <a:prstDash val="solid"/>
          </a:ln>
        </p:spPr>
      </p:sp>
      <p:pic>
        <p:nvPicPr>
          <p:cNvPr id="5" name="Image 2" descr="/tmp/claude-0/-home-user-heinrich-mario/e7688653-8e48-5480-a009-7b18c0e4f8cc/scratchpad/art/leaf_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384048"/>
            <a:ext cx="1143000" cy="1143000"/>
          </a:xfrm>
          <a:prstGeom prst="rect">
            <a:avLst/>
          </a:prstGeom>
        </p:spPr>
      </p:pic>
      <p:pic>
        <p:nvPicPr>
          <p:cNvPr id="6" name="Image 3" descr="/tmp/claude-0/-home-user-heinrich-mario/e7688653-8e48-5480-a009-7b18c0e4f8cc/scratchpad/art/leaf_r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35240" y="320040"/>
            <a:ext cx="1188720" cy="1188720"/>
          </a:xfrm>
          <a:prstGeom prst="rect">
            <a:avLst/>
          </a:prstGeom>
        </p:spPr>
      </p:pic>
      <p:pic>
        <p:nvPicPr>
          <p:cNvPr id="7" name="Image 4" descr="/tmp/claude-0/-home-user-heinrich-mario/e7688653-8e48-5480-a009-7b18c0e4f8cc/scratchpad/art/leaf_win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6680" y="3611880"/>
            <a:ext cx="1097280" cy="1097280"/>
          </a:xfrm>
          <a:prstGeom prst="rect">
            <a:avLst/>
          </a:prstGeom>
        </p:spPr>
      </p:pic>
      <p:pic>
        <p:nvPicPr>
          <p:cNvPr id="8" name="Image 5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5760" y="3703320"/>
            <a:ext cx="1051560" cy="1051560"/>
          </a:xfrm>
          <a:prstGeom prst="rect">
            <a:avLst/>
          </a:prstGeom>
        </p:spPr>
      </p:pic>
      <p:sp>
        <p:nvSpPr>
          <p:cNvPr id="9" name="Text 1"/>
          <p:cNvSpPr txBox="1"/>
          <p:nvPr/>
        </p:nvSpPr>
        <p:spPr>
          <a:xfrm>
            <a:off x="914400" y="1325880"/>
            <a:ext cx="7315200" cy="137160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spc="1000" kern="0" dirty="0">
                <a:solidFill>
                  <a:srgbClr val="EBB0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ФИНАЛ</a:t>
            </a:r>
            <a:endParaRPr lang="en-US" sz="8000" dirty="0"/>
          </a:p>
        </p:txBody>
      </p:sp>
      <p:sp>
        <p:nvSpPr>
          <p:cNvPr id="10" name="Text 2"/>
          <p:cNvSpPr txBox="1"/>
          <p:nvPr/>
        </p:nvSpPr>
        <p:spPr>
          <a:xfrm>
            <a:off x="1097280" y="2788920"/>
            <a:ext cx="694944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Считаем очки и награждаем всех!</a:t>
            </a:r>
            <a:endParaRPr lang="en-US" sz="2000" dirty="0"/>
          </a:p>
        </p:txBody>
      </p:sp>
      <p:sp>
        <p:nvSpPr>
          <p:cNvPr id="11" name="Text 3"/>
          <p:cNvSpPr txBox="1"/>
          <p:nvPr/>
        </p:nvSpPr>
        <p:spPr>
          <a:xfrm>
            <a:off x="1097280" y="3291840"/>
            <a:ext cx="694944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 Днём воспитателя, дорогие коллеги!</a:t>
            </a:r>
            <a:endParaRPr lang="en-US" sz="1800" dirty="0"/>
          </a:p>
        </p:txBody>
      </p:sp>
      <p:sp>
        <p:nvSpPr>
          <p:cNvPr id="13" name="Text 4"/>
          <p:cNvSpPr txBox="1"/>
          <p:nvPr/>
        </p:nvSpPr>
        <p:spPr>
          <a:xfrm>
            <a:off x="274320" y="487375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i="1" spc="100" kern="0" dirty="0">
                <a:solidFill>
                  <a:srgbClr val="D9B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by Heinrich Himmelreich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heinrich-mario/e7688653-8e48-5480-a009-7b18c0e4f8cc/scratchpad/art/leaf_go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69080" y="1188720"/>
            <a:ext cx="1005840" cy="100584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224028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spc="200" kern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Made by Heinrich Himmelreich</a:t>
            </a:r>
            <a:endParaRPr lang="en-US" sz="4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Воспитатели в теме — конкурс ко Дню воспитателя</dc:title>
  <dc:subject>PptxGenJS Presentation</dc:subject>
  <dc:creator>PptxGenJS</dc:creator>
  <cp:lastModifiedBy>PptxGenJS</cp:lastModifiedBy>
  <cp:revision>1</cp:revision>
  <dcterms:created xsi:type="dcterms:W3CDTF">2026-09-25T04:18:06Z</dcterms:created>
  <dcterms:modified xsi:type="dcterms:W3CDTF">2026-09-25T04:18:06Z</dcterms:modified>
</cp:coreProperties>
</file>