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Открытка ко Дню воспитателя (27 сентября). Слайд-заставка перед началом конкурса.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приветствует воспитателей, объясняет правила: команды, четыре раунда, за верный ответ — 1 очко. В финале считаем очки.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1. Показываем 8 фото. На каждом слайде с фото идёт отсчёт 45 секунд, затем слайд сам переходит к ответу (можно и раньше — щелчком).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1 — Людмила Виолетта Владимировна.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1: Людмила Виолетта Владимировна.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2 — Леонова Ирина Александровна.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2: Леонова Ирина Александровна.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3 — Литвиненко Алёна Александровна.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3: Литвиненко Алёна Александровна.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4 — Король Жанна Владимировна.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4: Король Жанна Владимировна.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5 — Исупова Наталия Ростиславовна.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5: Исупова Наталия Ростиславовна.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6 — Белик Людмила Владимировна.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6: Белик Людмила Владимировна.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7 — Царькова Анастасия Вячеславовна.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7: Царькова Анастасия Вячеславовна.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8 — Захарова Ирина Алексеевна.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8: Захарова Ирина Алексеевна.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2. Десять вопросов на двух слайдах. Каждый щелчок (или стрелка) открывает ответ на очередной вопрос. Ответы также в заметках.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(появляются по щелчку, за верный ответ — 1 очко): 1) 5 октября; 2) Группа продлённого дня; 3) 45 минут; 4) Перемена; 5) День знаний.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(появляются по щелчку, за верный ответ — 1 очко): 6) В дневник; 7) Пять; 8) Классный журнал; 9) Осень; 10) Конечно, воспитатель!.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3. Четырнадцать пословиц на двух слайдах. Каждый щелчок открывает окончание очередной пословицы.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 щелчку): 1) Ученье — свет, а неученье — тьма. 2) Без труда не вытащишь и рыбку из пруда. 3) Повторенье — мать ученья. 4) Терпенье и труд всё перетрут. 5) Век живи — век учись. 6) Грамоте учиться — всегда пригодится. 7) Что посеешь, то и пожнёшь.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 щелчку): 8) Не стыдно не знать, стыдно не учиться. 9) Корень ученья горек, да плод его сладок. 10) Кто много читает, тот много знает. 11) Делу время, потехе час. 12) Сделал дело — гуляй смело. 13) Семь раз отмерь — один раз отрежь. 14) Яблоко от яблони недалеко падает.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4. Восемь песен — школьных и осенних, на двух слайдах. Каждый щелчок открывает продолжение очередной песни.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Продолжения (по щелчку): 1) …учат в школе, учат в школе, учат в школе!» 2) …от улыбки в небе радуга проснётся» 3) …и, конечно, припевать лучше хором» 4) …а вода по асфальту рекой»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Продолжения (по щелчку): 5) …пойдём копать картошку!» 6) …с тихим шорохом нам под ноги ложатся» 7) …плачущее небо под ногами» 8) …это всем известно в целом мире»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Финал: подсчёт очков, награждение команд, поздравление.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PHOTO_Q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PHOTO_A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_Q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pic" idx="100" hasCustomPrompt="1"/>
          </p:nvPr>
        </p:nvSpPr>
        <p:spPr>
          <a:xfrm>
            <a:off x="658368" y="841248"/>
            <a:ext cx="3072384" cy="3758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Щёлкните значок, чтобы вставить фото коллеги</a:t>
            </a: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_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pic" idx="100" hasCustomPrompt="1"/>
          </p:nvPr>
        </p:nvSpPr>
        <p:spPr>
          <a:xfrm>
            <a:off x="658368" y="1005840"/>
            <a:ext cx="2615184" cy="33009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Щёлкните значок, чтобы вставить фото коллеги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jpg"/><Relationship Id="rId3" Type="http://schemas.openxmlformats.org/officeDocument/2006/relationships/image" Target="../media/image-4-3.gif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jpg"/><Relationship Id="rId3" Type="http://schemas.openxmlformats.org/officeDocument/2006/relationships/image" Target="../media/image-6-3.gif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jpg"/><Relationship Id="rId3" Type="http://schemas.openxmlformats.org/officeDocument/2006/relationships/image" Target="../media/image-8-3.gif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jp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jpg"/><Relationship Id="rId3" Type="http://schemas.openxmlformats.org/officeDocument/2006/relationships/image" Target="../media/image-10-3.gif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jp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jpg"/><Relationship Id="rId3" Type="http://schemas.openxmlformats.org/officeDocument/2006/relationships/image" Target="../media/image-12-3.gif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jp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jpg"/><Relationship Id="rId3" Type="http://schemas.openxmlformats.org/officeDocument/2006/relationships/image" Target="../media/image-14-3.gif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jp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jpg"/><Relationship Id="rId3" Type="http://schemas.openxmlformats.org/officeDocument/2006/relationships/image" Target="../media/image-16-3.gif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jp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jpg"/><Relationship Id="rId3" Type="http://schemas.openxmlformats.org/officeDocument/2006/relationships/image" Target="../media/image-18-3.gif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jp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4.png"/><Relationship Id="rId6" Type="http://schemas.openxmlformats.org/officeDocument/2006/relationships/image" Target="../media/image-27-4.png"/><Relationship Id="rId7" Type="http://schemas.openxmlformats.org/officeDocument/2006/relationships/image" Target="../media/image-27-4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4.png"/><Relationship Id="rId6" Type="http://schemas.openxmlformats.org/officeDocument/2006/relationships/image" Target="../media/image-28-4.png"/><Relationship Id="rId7" Type="http://schemas.openxmlformats.org/officeDocument/2006/relationships/image" Target="../media/image-28-4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lak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bot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274320" y="274320"/>
            <a:ext cx="8595360" cy="4594860"/>
          </a:xfrm>
          <a:prstGeom prst="rect">
            <a:avLst/>
          </a:prstGeom>
          <a:ln w="19050">
            <a:solidFill>
              <a:srgbClr val="EBB021"/>
            </a:solidFill>
            <a:prstDash val="solid"/>
          </a:ln>
        </p:spPr>
      </p:sp>
      <p:pic>
        <p:nvPicPr>
          <p:cNvPr id="5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84048"/>
            <a:ext cx="1143000" cy="1143000"/>
          </a:xfrm>
          <a:prstGeom prst="rect">
            <a:avLst/>
          </a:prstGeom>
        </p:spPr>
      </p:pic>
      <p:pic>
        <p:nvPicPr>
          <p:cNvPr id="6" name="Image 3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320040"/>
            <a:ext cx="1188720" cy="1188720"/>
          </a:xfrm>
          <a:prstGeom prst="rect">
            <a:avLst/>
          </a:prstGeom>
        </p:spPr>
      </p:pic>
      <p:pic>
        <p:nvPicPr>
          <p:cNvPr id="7" name="Image 4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611880"/>
            <a:ext cx="1097280" cy="1097280"/>
          </a:xfrm>
          <a:prstGeom prst="rect">
            <a:avLst/>
          </a:prstGeom>
        </p:spPr>
      </p:pic>
      <p:pic>
        <p:nvPicPr>
          <p:cNvPr id="8" name="Image 5" descr="/tmp/claude-0/-home-user-heinrich-mario/e7688653-8e48-5480-a009-7b18c0e4f8cc/scratchpad/art/leaf_win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3703320"/>
            <a:ext cx="1051560" cy="1051560"/>
          </a:xfrm>
          <a:prstGeom prst="rect">
            <a:avLst/>
          </a:prstGeom>
        </p:spPr>
      </p:pic>
      <p:sp>
        <p:nvSpPr>
          <p:cNvPr id="9" name="Text 1"/>
          <p:cNvSpPr txBox="1"/>
          <p:nvPr/>
        </p:nvSpPr>
        <p:spPr>
          <a:xfrm>
            <a:off x="914400" y="1325880"/>
            <a:ext cx="7315200" cy="3657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6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СЕНТЯБРЯ</a:t>
            </a:r>
            <a:endParaRPr lang="en-US" sz="1600" dirty="0"/>
          </a:p>
        </p:txBody>
      </p:sp>
      <p:sp>
        <p:nvSpPr>
          <p:cNvPr id="10" name="Text 2"/>
          <p:cNvSpPr txBox="1"/>
          <p:nvPr/>
        </p:nvSpPr>
        <p:spPr>
          <a:xfrm>
            <a:off x="457200" y="1737360"/>
            <a:ext cx="8229600" cy="9601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 Днём воспитателя!</a:t>
            </a:r>
            <a:endParaRPr lang="en-US" sz="4600" dirty="0"/>
          </a:p>
        </p:txBody>
      </p:sp>
      <p:sp>
        <p:nvSpPr>
          <p:cNvPr id="11" name="Text 3"/>
          <p:cNvSpPr txBox="1"/>
          <p:nvPr/>
        </p:nvSpPr>
        <p:spPr>
          <a:xfrm>
            <a:off x="1463040" y="2880360"/>
            <a:ext cx="6217920" cy="86868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Дорогие воспитатели нашей школы! Пусть эта осень дарит вам тепло, а работа — радость, вдохновение и благодарные улыбки детей.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art/leaves_roun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3657600" cy="42291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3" name="Text 0"/>
          <p:cNvSpPr txBox="1"/>
          <p:nvPr/>
        </p:nvSpPr>
        <p:spPr>
          <a:xfrm>
            <a:off x="4526280" y="4572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КОНКУРС ДЛЯ ВОСПИТАТЕЛЕЙ ШКОЛЫ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26280" y="731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Воспитатели в теме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4526280" y="187452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Дорогие коллеги! Сегодня никто никого не проверяет: мы вспоминаем, поём и радуемся друг другу. Вас ждут четыре раунда и финал.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26280" y="2624328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4526280" y="2624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937760" y="260604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Узнай коллегу по фото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26280" y="2971800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26280" y="2971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295351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Блиц-опрос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526280" y="3319272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52628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937760" y="3300984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Закончи пословицу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526280" y="3666744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526280" y="3666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937760" y="3648456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Продолжи песню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4014216"/>
            <a:ext cx="292608" cy="292608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526280" y="4014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937760" y="3995928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 и награждение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526280" y="438912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каждый верный ответ команда получает 1 очко. Побеждает команда, набравшая к финалу больше всех очков!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Узнай коллегу по фото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экране — детская фотография коллеги. Кто это? Обсуждайте в командах: на ответ — 45 секунд, затем экран покажет, кто это.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632915" cy="3977640"/>
          </a:xfrm>
          <a:prstGeom prst="roundRect">
            <a:avLst>
              <a:gd name="adj" fmla="val 3473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413459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294097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4097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455875" y="2468880"/>
            <a:ext cx="523092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455875" y="2880360"/>
            <a:ext cx="52309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1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455875" y="3200400"/>
            <a:ext cx="523092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455875" y="3840480"/>
            <a:ext cx="52309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7315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339307" cy="3520440"/>
          </a:xfrm>
          <a:prstGeom prst="roundRect">
            <a:avLst>
              <a:gd name="adj" fmla="val 390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2119851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345147" y="1051560"/>
            <a:ext cx="53416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1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345147" y="1463040"/>
            <a:ext cx="53416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345147" y="1874520"/>
            <a:ext cx="5341653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Людмила Виолетта Владимировна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345147" y="3611880"/>
            <a:ext cx="534165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6587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333435" cy="3977640"/>
          </a:xfrm>
          <a:prstGeom prst="roundRect">
            <a:avLst>
              <a:gd name="adj" fmla="val 391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113979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44357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4357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156395" y="2468880"/>
            <a:ext cx="553040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156395" y="2880360"/>
            <a:ext cx="55304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2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156395" y="3200400"/>
            <a:ext cx="553040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156395" y="3840480"/>
            <a:ext cx="55304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7835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076260" cy="352044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1856804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082100" y="1051560"/>
            <a:ext cx="56047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2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082100" y="1463040"/>
            <a:ext cx="56047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082100" y="1874520"/>
            <a:ext cx="5604701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Леонова Ирина Александровна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082100" y="3611880"/>
            <a:ext cx="560470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3540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900098" cy="3977640"/>
          </a:xfrm>
          <a:prstGeom prst="roundRect">
            <a:avLst>
              <a:gd name="adj" fmla="val 3153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680642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27689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7689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723058" y="2468880"/>
            <a:ext cx="49637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723058" y="2880360"/>
            <a:ext cx="49637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3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723058" y="3200400"/>
            <a:ext cx="4963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723058" y="3840480"/>
            <a:ext cx="49637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4498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573986" cy="3520440"/>
          </a:xfrm>
          <a:prstGeom prst="roundRect">
            <a:avLst>
              <a:gd name="adj" fmla="val 3552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2354530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579826" y="1051560"/>
            <a:ext cx="51069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3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579826" y="1463040"/>
            <a:ext cx="51069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579826" y="1874520"/>
            <a:ext cx="5106974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Литвиненко Алёна Александровна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579826" y="3611880"/>
            <a:ext cx="510697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1266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756230" cy="3977640"/>
          </a:xfrm>
          <a:prstGeom prst="roundRect">
            <a:avLst>
              <a:gd name="adj" fmla="val 3318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536774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55755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5755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579190" y="2468880"/>
            <a:ext cx="51076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579190" y="2880360"/>
            <a:ext cx="5107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4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579190" y="3200400"/>
            <a:ext cx="510761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579190" y="3840480"/>
            <a:ext cx="5107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0630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447620" cy="3520440"/>
          </a:xfrm>
          <a:prstGeom prst="roundRect">
            <a:avLst>
              <a:gd name="adj" fmla="val 3736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2228164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453460" y="1051560"/>
            <a:ext cx="52333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4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453460" y="1463040"/>
            <a:ext cx="52333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453460" y="1874520"/>
            <a:ext cx="5233340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Король Жанна Владимировна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453460" y="3611880"/>
            <a:ext cx="52333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4900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327562" cy="3977640"/>
          </a:xfrm>
          <a:prstGeom prst="roundRect">
            <a:avLst>
              <a:gd name="adj" fmla="val 392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108106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41421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1421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150522" y="2468880"/>
            <a:ext cx="55362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150522" y="2880360"/>
            <a:ext cx="55362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5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150522" y="3200400"/>
            <a:ext cx="55362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150522" y="3840480"/>
            <a:ext cx="55362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1962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071102" cy="3520440"/>
          </a:xfrm>
          <a:prstGeom prst="roundRect">
            <a:avLst>
              <a:gd name="adj" fmla="val 4415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1851646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076942" y="1051560"/>
            <a:ext cx="56098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5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076942" y="1463040"/>
            <a:ext cx="5609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076942" y="1874520"/>
            <a:ext cx="5609858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Исупова Наталия Ростиславовна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076942" y="3611880"/>
            <a:ext cx="56098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8382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76167"/>
            <a:ext cx="4754880" cy="3688347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985895"/>
            <a:ext cx="4535424" cy="346889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355080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577840" y="2468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5577840" y="2880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6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577840" y="32004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5577840" y="3840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1091908"/>
            <a:ext cx="4023360" cy="3128848"/>
          </a:xfrm>
          <a:prstGeom prst="roundRect">
            <a:avLst>
              <a:gd name="adj" fmla="val 2922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01636"/>
            <a:ext cx="3803904" cy="29093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0" y="1051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6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02920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029200" y="1874520"/>
            <a:ext cx="3657600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Белик Людмила Владимировна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029200" y="36118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782655" cy="3977640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563199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68967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8967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605615" y="2468880"/>
            <a:ext cx="508118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605615" y="2880360"/>
            <a:ext cx="50811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7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605615" y="3200400"/>
            <a:ext cx="508118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605615" y="3840480"/>
            <a:ext cx="50811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7055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470830" cy="3520440"/>
          </a:xfrm>
          <a:prstGeom prst="roundRect">
            <a:avLst>
              <a:gd name="adj" fmla="val 3701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2251374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476670" y="1051560"/>
            <a:ext cx="52101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7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476670" y="1463040"/>
            <a:ext cx="52101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476670" y="1874520"/>
            <a:ext cx="5210130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Царькова Анастасия Вячеславовна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476670" y="3611880"/>
            <a:ext cx="52101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8110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970564" cy="3977640"/>
          </a:xfrm>
          <a:prstGeom prst="roundRect">
            <a:avLst>
              <a:gd name="adj" fmla="val 3078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8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751108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62922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2922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793524" y="2468880"/>
            <a:ext cx="48932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793524" y="2880360"/>
            <a:ext cx="48932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8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793524" y="3200400"/>
            <a:ext cx="48932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793524" y="3840480"/>
            <a:ext cx="48932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4964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635879" cy="352044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8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2416423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41719" y="1051560"/>
            <a:ext cx="504508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8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41719" y="1463040"/>
            <a:ext cx="5045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641719" y="1874520"/>
            <a:ext cx="5045081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Захарова Ирина Алексеевна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641719" y="3611880"/>
            <a:ext cx="504508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3159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2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Блиц-опрос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Быстрые вопросы — быстрые ответы. Отвечает команда, первой поднявшая руку. Правильный ответ появляется на экране по щелчку.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2 · ВОПРОСЫ 1–5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Блиц-опрос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71600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53896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37160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Какого числа отмечают День учителя?</a:t>
            </a:r>
            <a:endParaRPr lang="en-US" sz="1600" dirty="0"/>
          </a:p>
        </p:txBody>
      </p:sp>
      <p:sp>
        <p:nvSpPr>
          <p:cNvPr id="10" name="BADGE_1"/>
          <p:cNvSpPr txBox="1"/>
          <p:nvPr/>
        </p:nvSpPr>
        <p:spPr>
          <a:xfrm>
            <a:off x="5623560" y="1463040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1" name="ANS_1"/>
          <p:cNvSpPr txBox="1"/>
          <p:nvPr/>
        </p:nvSpPr>
        <p:spPr>
          <a:xfrm>
            <a:off x="6062472" y="13716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октября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48640" y="2029968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2112264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8368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2029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расшифровывается ГПД?</a:t>
            </a:r>
            <a:endParaRPr lang="en-US" sz="1600" dirty="0"/>
          </a:p>
        </p:txBody>
      </p:sp>
      <p:sp>
        <p:nvSpPr>
          <p:cNvPr id="16" name="BADGE_2"/>
          <p:cNvSpPr txBox="1"/>
          <p:nvPr/>
        </p:nvSpPr>
        <p:spPr>
          <a:xfrm>
            <a:off x="5623560" y="2121408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7" name="ANS_2"/>
          <p:cNvSpPr txBox="1"/>
          <p:nvPr/>
        </p:nvSpPr>
        <p:spPr>
          <a:xfrm>
            <a:off x="6062472" y="20299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продлённого дня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548640" y="2688336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8368" y="2770632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658368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188720" y="268833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минут длится обычный урок?</a:t>
            </a:r>
            <a:endParaRPr lang="en-US" sz="1600" dirty="0"/>
          </a:p>
        </p:txBody>
      </p:sp>
      <p:sp>
        <p:nvSpPr>
          <p:cNvPr id="22" name="BADGE_3"/>
          <p:cNvSpPr txBox="1"/>
          <p:nvPr/>
        </p:nvSpPr>
        <p:spPr>
          <a:xfrm>
            <a:off x="5623560" y="2779776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3" name="ANS_3"/>
          <p:cNvSpPr txBox="1"/>
          <p:nvPr/>
        </p:nvSpPr>
        <p:spPr>
          <a:xfrm>
            <a:off x="6062472" y="26883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минут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3346704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58368" y="3429000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58368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188720" y="334670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называется перерыв между уроками?</a:t>
            </a:r>
            <a:endParaRPr lang="en-US" sz="1600" dirty="0"/>
          </a:p>
        </p:txBody>
      </p:sp>
      <p:sp>
        <p:nvSpPr>
          <p:cNvPr id="28" name="BADGE_4"/>
          <p:cNvSpPr txBox="1"/>
          <p:nvPr/>
        </p:nvSpPr>
        <p:spPr>
          <a:xfrm>
            <a:off x="5623560" y="3438144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9" name="ANS_4"/>
          <p:cNvSpPr txBox="1"/>
          <p:nvPr/>
        </p:nvSpPr>
        <p:spPr>
          <a:xfrm>
            <a:off x="6062472" y="334670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Перемена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48640" y="4005072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58368" y="4087368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58368" y="4087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1188720" y="400507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Какой праздник отмечают 1 сентября?</a:t>
            </a:r>
            <a:endParaRPr lang="en-US" sz="1600" dirty="0"/>
          </a:p>
        </p:txBody>
      </p:sp>
      <p:sp>
        <p:nvSpPr>
          <p:cNvPr id="34" name="BADGE_5"/>
          <p:cNvSpPr txBox="1"/>
          <p:nvPr/>
        </p:nvSpPr>
        <p:spPr>
          <a:xfrm>
            <a:off x="5623560" y="4096512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35" name="ANS_5"/>
          <p:cNvSpPr txBox="1"/>
          <p:nvPr/>
        </p:nvSpPr>
        <p:spPr>
          <a:xfrm>
            <a:off x="6062472" y="40050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знаний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  <p:bldP spid="10" grpId="0" animBg="1"/>
      <p:bldP spid="16" grpId="0" animBg="1"/>
      <p:bldP spid="22" grpId="0" animBg="1"/>
      <p:bldP spid="28" grpId="0" animBg="1"/>
      <p:bldP spid="3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2 · ВОПРОСЫ 6–10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Блиц-опрос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71600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53896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37160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Куда ученик записывает домашнее задание?</a:t>
            </a:r>
            <a:endParaRPr lang="en-US" sz="1600" dirty="0"/>
          </a:p>
        </p:txBody>
      </p:sp>
      <p:sp>
        <p:nvSpPr>
          <p:cNvPr id="10" name="BADGE_1"/>
          <p:cNvSpPr txBox="1"/>
          <p:nvPr/>
        </p:nvSpPr>
        <p:spPr>
          <a:xfrm>
            <a:off x="5623560" y="1463040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1" name="ANS_1"/>
          <p:cNvSpPr txBox="1"/>
          <p:nvPr/>
        </p:nvSpPr>
        <p:spPr>
          <a:xfrm>
            <a:off x="6062472" y="13716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дневник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48640" y="2029968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2112264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8368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2029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дней в учебной неделе при пятидневке?</a:t>
            </a:r>
            <a:endParaRPr lang="en-US" sz="1600" dirty="0"/>
          </a:p>
        </p:txBody>
      </p:sp>
      <p:sp>
        <p:nvSpPr>
          <p:cNvPr id="16" name="BADGE_2"/>
          <p:cNvSpPr txBox="1"/>
          <p:nvPr/>
        </p:nvSpPr>
        <p:spPr>
          <a:xfrm>
            <a:off x="5623560" y="2121408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7" name="ANS_2"/>
          <p:cNvSpPr txBox="1"/>
          <p:nvPr/>
        </p:nvSpPr>
        <p:spPr>
          <a:xfrm>
            <a:off x="6062472" y="20299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548640" y="2688336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8368" y="2770632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658368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188720" y="268833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называется главный документ класса с отметками?</a:t>
            </a:r>
            <a:endParaRPr lang="en-US" sz="1600" dirty="0"/>
          </a:p>
        </p:txBody>
      </p:sp>
      <p:sp>
        <p:nvSpPr>
          <p:cNvPr id="22" name="BADGE_3"/>
          <p:cNvSpPr txBox="1"/>
          <p:nvPr/>
        </p:nvSpPr>
        <p:spPr>
          <a:xfrm>
            <a:off x="5623560" y="2779776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3" name="ANS_3"/>
          <p:cNvSpPr txBox="1"/>
          <p:nvPr/>
        </p:nvSpPr>
        <p:spPr>
          <a:xfrm>
            <a:off x="6062472" y="26883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Классный журнал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3346704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58368" y="3429000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58368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188720" y="334670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Какое время года открывает учебный год?</a:t>
            </a:r>
            <a:endParaRPr lang="en-US" sz="1600" dirty="0"/>
          </a:p>
        </p:txBody>
      </p:sp>
      <p:sp>
        <p:nvSpPr>
          <p:cNvPr id="28" name="BADGE_4"/>
          <p:cNvSpPr txBox="1"/>
          <p:nvPr/>
        </p:nvSpPr>
        <p:spPr>
          <a:xfrm>
            <a:off x="5623560" y="3438144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9" name="ANS_4"/>
          <p:cNvSpPr txBox="1"/>
          <p:nvPr/>
        </p:nvSpPr>
        <p:spPr>
          <a:xfrm>
            <a:off x="6062472" y="334670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Осень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48640" y="4005072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58368" y="4087368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58368" y="4087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1188720" y="400507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в школе «и швец, и жнец, и на дуде игрец»?</a:t>
            </a:r>
            <a:endParaRPr lang="en-US" sz="1600" dirty="0"/>
          </a:p>
        </p:txBody>
      </p:sp>
      <p:sp>
        <p:nvSpPr>
          <p:cNvPr id="34" name="BADGE_5"/>
          <p:cNvSpPr txBox="1"/>
          <p:nvPr/>
        </p:nvSpPr>
        <p:spPr>
          <a:xfrm>
            <a:off x="5623560" y="4096512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35" name="ANS_5"/>
          <p:cNvSpPr txBox="1"/>
          <p:nvPr/>
        </p:nvSpPr>
        <p:spPr>
          <a:xfrm>
            <a:off x="6062472" y="40050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Конечно, воспитатель!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  <p:bldP spid="10" grpId="0" animBg="1"/>
      <p:bldP spid="16" grpId="0" animBg="1"/>
      <p:bldP spid="22" grpId="0" animBg="1"/>
      <p:bldP spid="28" grpId="0" animBg="1"/>
      <p:bldP spid="3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3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Закончи пословицу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Ведущий читает начало народной мудрости — команда договаривает конец. Пословицы про ученье, труд и детей. Ответ появится по щелчку.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3 · ПОСЛОВИЦЫ 1–7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Закончи пословицу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29844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34874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3487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29844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Ученье — свет, …</a:t>
            </a:r>
            <a:endParaRPr lang="en-US" sz="1450" dirty="0"/>
          </a:p>
        </p:txBody>
      </p:sp>
      <p:sp>
        <p:nvSpPr>
          <p:cNvPr id="10" name="BADGE_1"/>
          <p:cNvSpPr txBox="1"/>
          <p:nvPr/>
        </p:nvSpPr>
        <p:spPr>
          <a:xfrm>
            <a:off x="4846320" y="1348740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11" name="ANS_1"/>
          <p:cNvSpPr txBox="1"/>
          <p:nvPr/>
        </p:nvSpPr>
        <p:spPr>
          <a:xfrm>
            <a:off x="5248656" y="129844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неученье — тьма.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548640" y="179679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184708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8368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179679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труда …</a:t>
            </a:r>
            <a:endParaRPr lang="en-US" sz="1450" dirty="0"/>
          </a:p>
        </p:txBody>
      </p:sp>
      <p:sp>
        <p:nvSpPr>
          <p:cNvPr id="16" name="BADGE_2"/>
          <p:cNvSpPr txBox="1"/>
          <p:nvPr/>
        </p:nvSpPr>
        <p:spPr>
          <a:xfrm>
            <a:off x="4846320" y="1847088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17" name="ANS_2"/>
          <p:cNvSpPr txBox="1"/>
          <p:nvPr/>
        </p:nvSpPr>
        <p:spPr>
          <a:xfrm>
            <a:off x="5248656" y="179679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вытащишь и рыбку из пруда.</a:t>
            </a:r>
            <a:endParaRPr lang="en-US" sz="1450" dirty="0"/>
          </a:p>
        </p:txBody>
      </p:sp>
      <p:sp>
        <p:nvSpPr>
          <p:cNvPr id="18" name="Shape 14"/>
          <p:cNvSpPr/>
          <p:nvPr/>
        </p:nvSpPr>
        <p:spPr>
          <a:xfrm>
            <a:off x="548640" y="2295144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8368" y="2345436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658368" y="23454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188720" y="2295144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Повторенье — …</a:t>
            </a:r>
            <a:endParaRPr lang="en-US" sz="1450" dirty="0"/>
          </a:p>
        </p:txBody>
      </p:sp>
      <p:sp>
        <p:nvSpPr>
          <p:cNvPr id="22" name="BADGE_3"/>
          <p:cNvSpPr txBox="1"/>
          <p:nvPr/>
        </p:nvSpPr>
        <p:spPr>
          <a:xfrm>
            <a:off x="4846320" y="2345436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23" name="ANS_3"/>
          <p:cNvSpPr txBox="1"/>
          <p:nvPr/>
        </p:nvSpPr>
        <p:spPr>
          <a:xfrm>
            <a:off x="5248656" y="2295144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мать ученья.</a:t>
            </a:r>
            <a:endParaRPr lang="en-US" sz="1450" dirty="0"/>
          </a:p>
        </p:txBody>
      </p:sp>
      <p:sp>
        <p:nvSpPr>
          <p:cNvPr id="24" name="Shape 20"/>
          <p:cNvSpPr/>
          <p:nvPr/>
        </p:nvSpPr>
        <p:spPr>
          <a:xfrm>
            <a:off x="548640" y="2793492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58368" y="2843784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58368" y="2843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1188720" y="2793492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Терпенье и труд …</a:t>
            </a:r>
            <a:endParaRPr lang="en-US" sz="1450" dirty="0"/>
          </a:p>
        </p:txBody>
      </p:sp>
      <p:sp>
        <p:nvSpPr>
          <p:cNvPr id="28" name="BADGE_4"/>
          <p:cNvSpPr txBox="1"/>
          <p:nvPr/>
        </p:nvSpPr>
        <p:spPr>
          <a:xfrm>
            <a:off x="4846320" y="2843784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29" name="ANS_4"/>
          <p:cNvSpPr txBox="1"/>
          <p:nvPr/>
        </p:nvSpPr>
        <p:spPr>
          <a:xfrm>
            <a:off x="5248656" y="2793492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всё перетрут.</a:t>
            </a:r>
            <a:endParaRPr lang="en-US" sz="1450" dirty="0"/>
          </a:p>
        </p:txBody>
      </p:sp>
      <p:sp>
        <p:nvSpPr>
          <p:cNvPr id="30" name="Shape 26"/>
          <p:cNvSpPr/>
          <p:nvPr/>
        </p:nvSpPr>
        <p:spPr>
          <a:xfrm>
            <a:off x="548640" y="3291840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58368" y="3342132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58368" y="33421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1188720" y="3291840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 живи — …</a:t>
            </a:r>
            <a:endParaRPr lang="en-US" sz="1450" dirty="0"/>
          </a:p>
        </p:txBody>
      </p:sp>
      <p:sp>
        <p:nvSpPr>
          <p:cNvPr id="34" name="BADGE_5"/>
          <p:cNvSpPr txBox="1"/>
          <p:nvPr/>
        </p:nvSpPr>
        <p:spPr>
          <a:xfrm>
            <a:off x="4846320" y="3342132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35" name="ANS_5"/>
          <p:cNvSpPr txBox="1"/>
          <p:nvPr/>
        </p:nvSpPr>
        <p:spPr>
          <a:xfrm>
            <a:off x="5248656" y="329184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 учись.</a:t>
            </a:r>
            <a:endParaRPr lang="en-US" sz="1450" dirty="0"/>
          </a:p>
        </p:txBody>
      </p:sp>
      <p:sp>
        <p:nvSpPr>
          <p:cNvPr id="36" name="Shape 32"/>
          <p:cNvSpPr/>
          <p:nvPr/>
        </p:nvSpPr>
        <p:spPr>
          <a:xfrm>
            <a:off x="548640" y="379018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658368" y="384048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8" name="Text 34"/>
          <p:cNvSpPr txBox="1"/>
          <p:nvPr/>
        </p:nvSpPr>
        <p:spPr>
          <a:xfrm>
            <a:off x="658368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1188720" y="379018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Грамоте учиться — …</a:t>
            </a:r>
            <a:endParaRPr lang="en-US" sz="1450" dirty="0"/>
          </a:p>
        </p:txBody>
      </p:sp>
      <p:sp>
        <p:nvSpPr>
          <p:cNvPr id="40" name="BADGE_6"/>
          <p:cNvSpPr txBox="1"/>
          <p:nvPr/>
        </p:nvSpPr>
        <p:spPr>
          <a:xfrm>
            <a:off x="4846320" y="3840480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41" name="ANS_6"/>
          <p:cNvSpPr txBox="1"/>
          <p:nvPr/>
        </p:nvSpPr>
        <p:spPr>
          <a:xfrm>
            <a:off x="5248656" y="379018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всегда пригодится.</a:t>
            </a:r>
            <a:endParaRPr lang="en-US" sz="1450" dirty="0"/>
          </a:p>
        </p:txBody>
      </p:sp>
      <p:sp>
        <p:nvSpPr>
          <p:cNvPr id="42" name="Shape 38"/>
          <p:cNvSpPr/>
          <p:nvPr/>
        </p:nvSpPr>
        <p:spPr>
          <a:xfrm>
            <a:off x="548640" y="428853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3" name="Shape 39"/>
          <p:cNvSpPr/>
          <p:nvPr/>
        </p:nvSpPr>
        <p:spPr>
          <a:xfrm>
            <a:off x="658368" y="433882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4" name="Text 40"/>
          <p:cNvSpPr txBox="1"/>
          <p:nvPr/>
        </p:nvSpPr>
        <p:spPr>
          <a:xfrm>
            <a:off x="658368" y="43388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5" name="Text 41"/>
          <p:cNvSpPr txBox="1"/>
          <p:nvPr/>
        </p:nvSpPr>
        <p:spPr>
          <a:xfrm>
            <a:off x="1188720" y="428853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посеешь, …</a:t>
            </a:r>
            <a:endParaRPr lang="en-US" sz="1450" dirty="0"/>
          </a:p>
        </p:txBody>
      </p:sp>
      <p:sp>
        <p:nvSpPr>
          <p:cNvPr id="46" name="BADGE_7"/>
          <p:cNvSpPr txBox="1"/>
          <p:nvPr/>
        </p:nvSpPr>
        <p:spPr>
          <a:xfrm>
            <a:off x="4846320" y="4338828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47" name="ANS_7"/>
          <p:cNvSpPr txBox="1"/>
          <p:nvPr/>
        </p:nvSpPr>
        <p:spPr>
          <a:xfrm>
            <a:off x="5248656" y="428853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 и пожнёшь.</a:t>
            </a:r>
            <a:endParaRPr lang="en-US" sz="1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  <p:bldP spid="41" grpId="0"/>
      <p:bldP spid="47" grpId="0"/>
      <p:bldP spid="10" grpId="0" animBg="1"/>
      <p:bldP spid="16" grpId="0" animBg="1"/>
      <p:bldP spid="22" grpId="0" animBg="1"/>
      <p:bldP spid="28" grpId="0" animBg="1"/>
      <p:bldP spid="34" grpId="0" animBg="1"/>
      <p:bldP spid="40" grpId="0" animBg="1"/>
      <p:bldP spid="4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3 · ПОСЛОВИЦЫ 8–14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Закончи пословицу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29844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34874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3487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29844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стыдно не знать, …</a:t>
            </a:r>
            <a:endParaRPr lang="en-US" sz="1450" dirty="0"/>
          </a:p>
        </p:txBody>
      </p:sp>
      <p:sp>
        <p:nvSpPr>
          <p:cNvPr id="10" name="BADGE_1"/>
          <p:cNvSpPr txBox="1"/>
          <p:nvPr/>
        </p:nvSpPr>
        <p:spPr>
          <a:xfrm>
            <a:off x="4846320" y="1348740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11" name="ANS_1"/>
          <p:cNvSpPr txBox="1"/>
          <p:nvPr/>
        </p:nvSpPr>
        <p:spPr>
          <a:xfrm>
            <a:off x="5248656" y="129844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стыдно не учиться.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548640" y="179679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184708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8368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179679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Корень ученья горек, …</a:t>
            </a:r>
            <a:endParaRPr lang="en-US" sz="1450" dirty="0"/>
          </a:p>
        </p:txBody>
      </p:sp>
      <p:sp>
        <p:nvSpPr>
          <p:cNvPr id="16" name="BADGE_2"/>
          <p:cNvSpPr txBox="1"/>
          <p:nvPr/>
        </p:nvSpPr>
        <p:spPr>
          <a:xfrm>
            <a:off x="4846320" y="1847088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17" name="ANS_2"/>
          <p:cNvSpPr txBox="1"/>
          <p:nvPr/>
        </p:nvSpPr>
        <p:spPr>
          <a:xfrm>
            <a:off x="5248656" y="179679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 плод его сладок.</a:t>
            </a:r>
            <a:endParaRPr lang="en-US" sz="1450" dirty="0"/>
          </a:p>
        </p:txBody>
      </p:sp>
      <p:sp>
        <p:nvSpPr>
          <p:cNvPr id="18" name="Shape 14"/>
          <p:cNvSpPr/>
          <p:nvPr/>
        </p:nvSpPr>
        <p:spPr>
          <a:xfrm>
            <a:off x="548640" y="2295144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8368" y="2345436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658368" y="23454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188720" y="2295144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много читает, …</a:t>
            </a:r>
            <a:endParaRPr lang="en-US" sz="1450" dirty="0"/>
          </a:p>
        </p:txBody>
      </p:sp>
      <p:sp>
        <p:nvSpPr>
          <p:cNvPr id="22" name="BADGE_3"/>
          <p:cNvSpPr txBox="1"/>
          <p:nvPr/>
        </p:nvSpPr>
        <p:spPr>
          <a:xfrm>
            <a:off x="4846320" y="2345436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23" name="ANS_3"/>
          <p:cNvSpPr txBox="1"/>
          <p:nvPr/>
        </p:nvSpPr>
        <p:spPr>
          <a:xfrm>
            <a:off x="5248656" y="2295144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тот много знает.</a:t>
            </a:r>
            <a:endParaRPr lang="en-US" sz="1450" dirty="0"/>
          </a:p>
        </p:txBody>
      </p:sp>
      <p:sp>
        <p:nvSpPr>
          <p:cNvPr id="24" name="Shape 20"/>
          <p:cNvSpPr/>
          <p:nvPr/>
        </p:nvSpPr>
        <p:spPr>
          <a:xfrm>
            <a:off x="548640" y="2793492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58368" y="2843784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58368" y="2843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1188720" y="2793492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Делу время, …</a:t>
            </a:r>
            <a:endParaRPr lang="en-US" sz="1450" dirty="0"/>
          </a:p>
        </p:txBody>
      </p:sp>
      <p:sp>
        <p:nvSpPr>
          <p:cNvPr id="28" name="BADGE_4"/>
          <p:cNvSpPr txBox="1"/>
          <p:nvPr/>
        </p:nvSpPr>
        <p:spPr>
          <a:xfrm>
            <a:off x="4846320" y="2843784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29" name="ANS_4"/>
          <p:cNvSpPr txBox="1"/>
          <p:nvPr/>
        </p:nvSpPr>
        <p:spPr>
          <a:xfrm>
            <a:off x="5248656" y="2793492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потехе час.</a:t>
            </a:r>
            <a:endParaRPr lang="en-US" sz="1450" dirty="0"/>
          </a:p>
        </p:txBody>
      </p:sp>
      <p:sp>
        <p:nvSpPr>
          <p:cNvPr id="30" name="Shape 26"/>
          <p:cNvSpPr/>
          <p:nvPr/>
        </p:nvSpPr>
        <p:spPr>
          <a:xfrm>
            <a:off x="548640" y="3291840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58368" y="3342132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58368" y="33421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1188720" y="3291840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Сделал дело — …</a:t>
            </a:r>
            <a:endParaRPr lang="en-US" sz="1450" dirty="0"/>
          </a:p>
        </p:txBody>
      </p:sp>
      <p:sp>
        <p:nvSpPr>
          <p:cNvPr id="34" name="BADGE_5"/>
          <p:cNvSpPr txBox="1"/>
          <p:nvPr/>
        </p:nvSpPr>
        <p:spPr>
          <a:xfrm>
            <a:off x="4846320" y="3342132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35" name="ANS_5"/>
          <p:cNvSpPr txBox="1"/>
          <p:nvPr/>
        </p:nvSpPr>
        <p:spPr>
          <a:xfrm>
            <a:off x="5248656" y="329184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гуляй смело.</a:t>
            </a:r>
            <a:endParaRPr lang="en-US" sz="1450" dirty="0"/>
          </a:p>
        </p:txBody>
      </p:sp>
      <p:sp>
        <p:nvSpPr>
          <p:cNvPr id="36" name="Shape 32"/>
          <p:cNvSpPr/>
          <p:nvPr/>
        </p:nvSpPr>
        <p:spPr>
          <a:xfrm>
            <a:off x="548640" y="379018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658368" y="384048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8" name="Text 34"/>
          <p:cNvSpPr txBox="1"/>
          <p:nvPr/>
        </p:nvSpPr>
        <p:spPr>
          <a:xfrm>
            <a:off x="658368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1188720" y="379018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Семь раз отмерь — …</a:t>
            </a:r>
            <a:endParaRPr lang="en-US" sz="1450" dirty="0"/>
          </a:p>
        </p:txBody>
      </p:sp>
      <p:sp>
        <p:nvSpPr>
          <p:cNvPr id="40" name="BADGE_6"/>
          <p:cNvSpPr txBox="1"/>
          <p:nvPr/>
        </p:nvSpPr>
        <p:spPr>
          <a:xfrm>
            <a:off x="4846320" y="3840480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41" name="ANS_6"/>
          <p:cNvSpPr txBox="1"/>
          <p:nvPr/>
        </p:nvSpPr>
        <p:spPr>
          <a:xfrm>
            <a:off x="5248656" y="379018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раз отрежь.</a:t>
            </a:r>
            <a:endParaRPr lang="en-US" sz="1450" dirty="0"/>
          </a:p>
        </p:txBody>
      </p:sp>
      <p:sp>
        <p:nvSpPr>
          <p:cNvPr id="42" name="Shape 38"/>
          <p:cNvSpPr/>
          <p:nvPr/>
        </p:nvSpPr>
        <p:spPr>
          <a:xfrm>
            <a:off x="548640" y="428853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3" name="Shape 39"/>
          <p:cNvSpPr/>
          <p:nvPr/>
        </p:nvSpPr>
        <p:spPr>
          <a:xfrm>
            <a:off x="658368" y="433882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4" name="Text 40"/>
          <p:cNvSpPr txBox="1"/>
          <p:nvPr/>
        </p:nvSpPr>
        <p:spPr>
          <a:xfrm>
            <a:off x="658368" y="43388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200" dirty="0"/>
          </a:p>
        </p:txBody>
      </p:sp>
      <p:sp>
        <p:nvSpPr>
          <p:cNvPr id="45" name="Text 41"/>
          <p:cNvSpPr txBox="1"/>
          <p:nvPr/>
        </p:nvSpPr>
        <p:spPr>
          <a:xfrm>
            <a:off x="1188720" y="428853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Яблоко от яблони …</a:t>
            </a:r>
            <a:endParaRPr lang="en-US" sz="1450" dirty="0"/>
          </a:p>
        </p:txBody>
      </p:sp>
      <p:sp>
        <p:nvSpPr>
          <p:cNvPr id="46" name="BADGE_7"/>
          <p:cNvSpPr txBox="1"/>
          <p:nvPr/>
        </p:nvSpPr>
        <p:spPr>
          <a:xfrm>
            <a:off x="4846320" y="4338828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47" name="ANS_7"/>
          <p:cNvSpPr txBox="1"/>
          <p:nvPr/>
        </p:nvSpPr>
        <p:spPr>
          <a:xfrm>
            <a:off x="5248656" y="428853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недалеко падает.</a:t>
            </a:r>
            <a:endParaRPr lang="en-US" sz="1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  <p:bldP spid="41" grpId="0"/>
      <p:bldP spid="47" grpId="0"/>
      <p:bldP spid="10" grpId="0" animBg="1"/>
      <p:bldP spid="16" grpId="0" animBg="1"/>
      <p:bldP spid="22" grpId="0" animBg="1"/>
      <p:bldP spid="28" grpId="0" animBg="1"/>
      <p:bldP spid="34" grpId="0" animBg="1"/>
      <p:bldP spid="40" grpId="0" animBg="1"/>
      <p:bldP spid="4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4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Продолжи песню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Ведущий читает строчку из знакомой песни — команда поёт продолжение. Хором, громко и обязательно с душой! Проверяем по щелчку.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4 · ПЕСНИ 1–4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Продолжи песню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25880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99616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8" name="Image 2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35" y="1580083"/>
            <a:ext cx="241402" cy="24140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88720" y="1325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«Буквы разные писать тонким пёрышком в тетрадь…»</a:t>
            </a:r>
            <a:endParaRPr lang="en-US" sz="1400" dirty="0"/>
          </a:p>
        </p:txBody>
      </p:sp>
      <p:sp>
        <p:nvSpPr>
          <p:cNvPr id="10" name="BADGE_1"/>
          <p:cNvSpPr txBox="1"/>
          <p:nvPr/>
        </p:nvSpPr>
        <p:spPr>
          <a:xfrm>
            <a:off x="4617720" y="1508760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1" name="ANS_1"/>
          <p:cNvSpPr txBox="1"/>
          <p:nvPr/>
        </p:nvSpPr>
        <p:spPr>
          <a:xfrm>
            <a:off x="5074920" y="1325880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…учат в школе, учат в школе, учат в школе!»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48640" y="2167128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58368" y="2340864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14" name="Image 3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835" y="2421331"/>
            <a:ext cx="241402" cy="24140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188720" y="2167128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«От улыбки хмурый день светлей…»</a:t>
            </a:r>
            <a:endParaRPr lang="en-US" sz="1400" dirty="0"/>
          </a:p>
        </p:txBody>
      </p:sp>
      <p:sp>
        <p:nvSpPr>
          <p:cNvPr id="16" name="BADGE_2"/>
          <p:cNvSpPr txBox="1"/>
          <p:nvPr/>
        </p:nvSpPr>
        <p:spPr>
          <a:xfrm>
            <a:off x="4617720" y="2350008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7" name="ANS_2"/>
          <p:cNvSpPr txBox="1"/>
          <p:nvPr/>
        </p:nvSpPr>
        <p:spPr>
          <a:xfrm>
            <a:off x="5074920" y="2167128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…от улыбки в небе радуга проснётся»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548640" y="3008376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58368" y="3182112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0" name="Image 4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835" y="3262579"/>
            <a:ext cx="241402" cy="24140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88720" y="300837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«Вместе весело шагать по просторам…»</a:t>
            </a:r>
            <a:endParaRPr lang="en-US" sz="1400" dirty="0"/>
          </a:p>
        </p:txBody>
      </p:sp>
      <p:sp>
        <p:nvSpPr>
          <p:cNvPr id="22" name="BADGE_3"/>
          <p:cNvSpPr txBox="1"/>
          <p:nvPr/>
        </p:nvSpPr>
        <p:spPr>
          <a:xfrm>
            <a:off x="4617720" y="3191256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3" name="ANS_3"/>
          <p:cNvSpPr txBox="1"/>
          <p:nvPr/>
        </p:nvSpPr>
        <p:spPr>
          <a:xfrm>
            <a:off x="5074920" y="3008376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…и, конечно, припевать лучше хором»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548640" y="3849624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658368" y="4023360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6" name="Image 5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835" y="4103827"/>
            <a:ext cx="241402" cy="24140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88720" y="384962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«Пусть бегут неуклюже пешеходы по лужам…»</a:t>
            </a:r>
            <a:endParaRPr lang="en-US" sz="1400" dirty="0"/>
          </a:p>
        </p:txBody>
      </p:sp>
      <p:sp>
        <p:nvSpPr>
          <p:cNvPr id="28" name="BADGE_4"/>
          <p:cNvSpPr txBox="1"/>
          <p:nvPr/>
        </p:nvSpPr>
        <p:spPr>
          <a:xfrm>
            <a:off x="4617720" y="4032504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9" name="ANS_4"/>
          <p:cNvSpPr txBox="1"/>
          <p:nvPr/>
        </p:nvSpPr>
        <p:spPr>
          <a:xfrm>
            <a:off x="5074920" y="3849624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…а вода по асфальту рекой»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10" grpId="0" animBg="1"/>
      <p:bldP spid="16" grpId="0" animBg="1"/>
      <p:bldP spid="22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4 · ПЕСНИ 5–8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Продолжи песню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25880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99616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8" name="Image 2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35" y="1580083"/>
            <a:ext cx="241402" cy="24140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88720" y="1325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«Антошка, Антошка…»</a:t>
            </a:r>
            <a:endParaRPr lang="en-US" sz="1400" dirty="0"/>
          </a:p>
        </p:txBody>
      </p:sp>
      <p:sp>
        <p:nvSpPr>
          <p:cNvPr id="10" name="BADGE_1"/>
          <p:cNvSpPr txBox="1"/>
          <p:nvPr/>
        </p:nvSpPr>
        <p:spPr>
          <a:xfrm>
            <a:off x="4617720" y="1508760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1" name="ANS_1"/>
          <p:cNvSpPr txBox="1"/>
          <p:nvPr/>
        </p:nvSpPr>
        <p:spPr>
          <a:xfrm>
            <a:off x="5074920" y="1325880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…пойдём копать картошку!»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48640" y="2167128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58368" y="2340864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14" name="Image 3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835" y="2421331"/>
            <a:ext cx="241402" cy="24140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188720" y="2167128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«Листья жёлтые над городом кружатся…»</a:t>
            </a:r>
            <a:endParaRPr lang="en-US" sz="1400" dirty="0"/>
          </a:p>
        </p:txBody>
      </p:sp>
      <p:sp>
        <p:nvSpPr>
          <p:cNvPr id="16" name="BADGE_2"/>
          <p:cNvSpPr txBox="1"/>
          <p:nvPr/>
        </p:nvSpPr>
        <p:spPr>
          <a:xfrm>
            <a:off x="4617720" y="2350008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7" name="ANS_2"/>
          <p:cNvSpPr txBox="1"/>
          <p:nvPr/>
        </p:nvSpPr>
        <p:spPr>
          <a:xfrm>
            <a:off x="5074920" y="2167128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…с тихим шорохом нам под ноги ложатся»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548640" y="3008376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58368" y="3182112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0" name="Image 4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835" y="3262579"/>
            <a:ext cx="241402" cy="24140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88720" y="300837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«Что такое осень? Это небо…»</a:t>
            </a:r>
            <a:endParaRPr lang="en-US" sz="1400" dirty="0"/>
          </a:p>
        </p:txBody>
      </p:sp>
      <p:sp>
        <p:nvSpPr>
          <p:cNvPr id="22" name="BADGE_3"/>
          <p:cNvSpPr txBox="1"/>
          <p:nvPr/>
        </p:nvSpPr>
        <p:spPr>
          <a:xfrm>
            <a:off x="4617720" y="3191256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3" name="ANS_3"/>
          <p:cNvSpPr txBox="1"/>
          <p:nvPr/>
        </p:nvSpPr>
        <p:spPr>
          <a:xfrm>
            <a:off x="5074920" y="3008376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…плачущее небо под ногами»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548640" y="3849624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658368" y="4023360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6" name="Image 5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835" y="4103827"/>
            <a:ext cx="241402" cy="24140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88720" y="384962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«Дважды два — четыре, дважды два — четыре…»</a:t>
            </a:r>
            <a:endParaRPr lang="en-US" sz="1400" dirty="0"/>
          </a:p>
        </p:txBody>
      </p:sp>
      <p:sp>
        <p:nvSpPr>
          <p:cNvPr id="28" name="BADGE_4"/>
          <p:cNvSpPr txBox="1"/>
          <p:nvPr/>
        </p:nvSpPr>
        <p:spPr>
          <a:xfrm>
            <a:off x="4617720" y="4032504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9" name="ANS_4"/>
          <p:cNvSpPr txBox="1"/>
          <p:nvPr/>
        </p:nvSpPr>
        <p:spPr>
          <a:xfrm>
            <a:off x="5074920" y="3849624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…это всем известно в целом мире»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10" grpId="0" animBg="1"/>
      <p:bldP spid="16" grpId="0" animBg="1"/>
      <p:bldP spid="22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roa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bot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274320" y="274320"/>
            <a:ext cx="8595360" cy="4594860"/>
          </a:xfrm>
          <a:prstGeom prst="rect">
            <a:avLst/>
          </a:prstGeom>
          <a:ln w="19050">
            <a:solidFill>
              <a:srgbClr val="EBB021"/>
            </a:solidFill>
            <a:prstDash val="solid"/>
          </a:ln>
        </p:spPr>
      </p:sp>
      <p:pic>
        <p:nvPicPr>
          <p:cNvPr id="5" name="Image 2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84048"/>
            <a:ext cx="1143000" cy="1143000"/>
          </a:xfrm>
          <a:prstGeom prst="rect">
            <a:avLst/>
          </a:prstGeom>
        </p:spPr>
      </p:pic>
      <p:pic>
        <p:nvPicPr>
          <p:cNvPr id="6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320040"/>
            <a:ext cx="1188720" cy="1188720"/>
          </a:xfrm>
          <a:prstGeom prst="rect">
            <a:avLst/>
          </a:prstGeom>
        </p:spPr>
      </p:pic>
      <p:pic>
        <p:nvPicPr>
          <p:cNvPr id="7" name="Image 4" descr="/tmp/claude-0/-home-user-heinrich-mario/e7688653-8e48-5480-a009-7b18c0e4f8cc/scratchpad/art/leaf_wi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611880"/>
            <a:ext cx="1097280" cy="1097280"/>
          </a:xfrm>
          <a:prstGeom prst="rect">
            <a:avLst/>
          </a:prstGeom>
        </p:spPr>
      </p:pic>
      <p:pic>
        <p:nvPicPr>
          <p:cNvPr id="8" name="Image 5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3703320"/>
            <a:ext cx="1051560" cy="1051560"/>
          </a:xfrm>
          <a:prstGeom prst="rect">
            <a:avLst/>
          </a:prstGeom>
        </p:spPr>
      </p:pic>
      <p:sp>
        <p:nvSpPr>
          <p:cNvPr id="9" name="Text 1"/>
          <p:cNvSpPr txBox="1"/>
          <p:nvPr/>
        </p:nvSpPr>
        <p:spPr>
          <a:xfrm>
            <a:off x="914400" y="1325880"/>
            <a:ext cx="7315200" cy="137160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spc="1000" kern="0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ФИНАЛ</a:t>
            </a:r>
            <a:endParaRPr lang="en-US" sz="8000" dirty="0"/>
          </a:p>
        </p:txBody>
      </p:sp>
      <p:sp>
        <p:nvSpPr>
          <p:cNvPr id="10" name="Text 2"/>
          <p:cNvSpPr txBox="1"/>
          <p:nvPr/>
        </p:nvSpPr>
        <p:spPr>
          <a:xfrm>
            <a:off x="1097280" y="2788920"/>
            <a:ext cx="694944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Считаем очки и награждаем победителей!</a:t>
            </a:r>
            <a:endParaRPr lang="en-US" sz="2000" dirty="0"/>
          </a:p>
        </p:txBody>
      </p:sp>
      <p:sp>
        <p:nvSpPr>
          <p:cNvPr id="11" name="Text 3"/>
          <p:cNvSpPr txBox="1"/>
          <p:nvPr/>
        </p:nvSpPr>
        <p:spPr>
          <a:xfrm>
            <a:off x="1097280" y="3291840"/>
            <a:ext cx="694944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Днём воспитателя, дорогие коллеги!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Воспитатели в теме — конкурс ко Дню воспитателя</dc:title>
  <dc:subject>PptxGenJS Presentation</dc:subject>
  <dc:creator>PptxGenJS</dc:creator>
  <cp:lastModifiedBy>PptxGenJS</cp:lastModifiedBy>
  <cp:revision>1</cp:revision>
  <dcterms:created xsi:type="dcterms:W3CDTF">2026-09-24T19:13:30Z</dcterms:created>
  <dcterms:modified xsi:type="dcterms:W3CDTF">2026-09-24T19:13:30Z</dcterms:modified>
</cp:coreProperties>
</file>