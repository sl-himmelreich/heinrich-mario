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Вступление. Древний Египет существовал около 3000 лет: примерно с 3100 г. до н. э. до 30 г. до н. э., когда страна стала римской провинцией.
Фото: 2H Media,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Нил разливался каждое лето и оставлял на полях чёрный ил — отсюда название страны Кемет. По разливам египтяне создали календарь из 365 дней.
Фото: Anthony Chen,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Пирамида Хеопса — самая большая из пирамид Гизы. Сейчас её высота около 138 м: верхушка и облицовка не сохранились. Самым высоким зданием мира она была почти 3800 лет, пока в 1311 году её не обогнал шпиль Линкольнского собора в Англии.
Фото: Thomas K,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Розеттский камень нашли французские солдаты в 1799 году. На нём один и тот же указ 196 г. до н. э. записан иероглифами, демотическим письмом и по-гречески. Сравнивая тексты, Жан-Франсуа Шампольон в 1822 году расшифровал иероглифы.
Фото: Jason Leung,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Мумифицировали не только людей, но и животных: кошек, ибисов, крокодилов — миллионы мумий.
Осирис — бог загробного мира и судья умерших; сердце на весах взвешивал бог Анубис, а результат записывал бог мудрости Тот. Маат — богиня правды и порядка, её символ — страусиное перо. Амат (Аммит) — чудовище из «Книги мёртвых»: если сердце оказывалось тяжелее пера, Амат съедала его, и душа исчезала навсегда.
Фото: The Cleveland Museum of Art,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Тутанхамон правил около 1332–1323 гг. до н. э. Он вернул почитание старых богов, которых отменил его отец Эхнатон. Гробницу в Долине царей нашёл археолог Говард Картер в ноябре 1922 года: её вход скрывали обломки, оставшиеся после строительства соседней гробницы Рамсеса VI. Почти все остальные царские гробницы разграбили ещё в древности. Внутренний гроб фараона сделан из золота и весит около 110 кг.
Фото: Suzi Kim,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Посёлок строителей пирамид раскопали археологи Марк Лернер и Захи Хавасс, кладбище рабочих нашли в 1990 году. «Дневник Мерера» обнаружил Пьер Талле в 2013 году в Вади-эль-Джарф на берегу Красного моря.
Фото: Sayed Khalid,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Забастовка случилась на 29-м году правления фараона Рамсеса III; её описал писец Аменнахт в «Туринском папирусе о забастовке». Журнал прогулов — черепок-остракон из Британского музея времён Рамсеса II. На фото — гробница в Долине царей: именно такие гробницы строили рабочие Дейр-эль-Медины.
Фото: Dmitrii Zhodzishskii,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Нос Сфинкса. Египетский историк аль-Макризи (XV век) писал, что в 1378 году лицо статуи изуродовал суфий Мухаммад Саим ад-Дахр: его возмущало, что крестьяне приносят Сфинксу дары, чтобы получить хороший урожай. Египтолог Марк Лернер нашёл на лице следы стержней и зубил, которыми нос отбивали намеренно.
Краска «мумия» (Mummy brown). Её ценили за тёплый прозрачный коричневый оттенок. Художник Эдвард Бёрн-Джонс, узнав её происхождение, похоронил тюбик в саду — это видел его племянник, писатель Редьярд Киплинг. Лондонская фирма C. Roberson прекратила выпуск в 1960-х, когда у неё закончились мумии. Сейчас под этим названием продают синтетический пигмент.
Фото: Dmitrii Zhodzishskii,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Викторина. Задайте вопрос, дайте ответить, затем щёлкните мышью — появится правильный ответ. Каждый щелчок открывает ответ на следующий вопрос.
Ответы: 1) Ахет — разлив, Перет — посев и всходы, Шему — урожай; 2) 146 метров (сейчас — около 138 м); 3) Более 700 знаков; 4) Перо богини правды Маат.
Фото: Sandip Roy,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Викторина. Задайте вопрос, дайте ответить, затем щёлкните мышью — появится правильный ответ. Каждый щелчок открывает ответ на следующий вопрос.
Ответы: 5) Около 19 лет; 6) Хлебом, пивом и мясом; 7) 10 дней; 8) Закопал свой тюбик с краской в саду.
Фото: Fatih Beki,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Финал. На фото — храм Рамсеса II в Абу-Симбеле.
Фото: Xiaoqian Shen, Unsplash.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intro_pyrami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egypt_build/assets/ov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tmp/claude-0/-home-user-heinrich-mario/e7688653-8e48-5480-a009-7b18c0e4f8cc/scratchpad/egypt_build/assets/ic_ankh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85800"/>
            <a:ext cx="502920" cy="5029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40080" y="1325880"/>
            <a:ext cx="2562149" cy="274320"/>
          </a:xfrm>
          <a:prstGeom prst="roundRect">
            <a:avLst>
              <a:gd name="adj" fmla="val 50000"/>
            </a:avLst>
          </a:prstGeom>
          <a:solidFill>
            <a:srgbClr val="0F1A2B">
              <a:alpha val="70000"/>
            </a:srgbClr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3247949" y="132588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" y="1325880"/>
            <a:ext cx="25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ПУТЕШЕСТВИЕ В ПРОШЛОЕ</a:t>
            </a:r>
            <a:endParaRPr lang="ru-RU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94360" y="1737360"/>
            <a:ext cx="786384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Древний Египет</a:t>
            </a:r>
            <a:endParaRPr lang="ru-RU" sz="4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2788920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dirty="0">
                <a:solidFill>
                  <a:srgbClr val="EAD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Пирамиды, мумии, иероглифы и удивительные факты о стране фараонов</a:t>
            </a:r>
            <a:endParaRPr lang="ru-RU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b="1" spc="100" kern="0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3000 лет истории  ·  30 династий фараонов</a:t>
            </a:r>
            <a:endParaRPr lang="ru-RU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D8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404164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nile_felucc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393192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00600" y="457200"/>
            <a:ext cx="1742846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9166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00600" y="4572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ДАР НИЛА</a:t>
            </a:r>
            <a:endParaRPr lang="ru-RU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800600" y="8046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7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Египет — дар Нила</a:t>
            </a:r>
            <a:endParaRPr lang="ru-RU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800600" y="1444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сказал древнегреческий историк Геродот. Вокруг — пустыня, и только вдоль реки тянется полоса плодородной земли.</a:t>
            </a:r>
            <a:endParaRPr lang="ru-RU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22128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000" b="1" spc="200" kern="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ВРЕМЕНИ ГОДА</a:t>
            </a:r>
            <a:endParaRPr lang="ru-RU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2514600"/>
            <a:ext cx="1216152" cy="1024128"/>
          </a:xfrm>
          <a:prstGeom prst="roundRect">
            <a:avLst>
              <a:gd name="adj" fmla="val 8929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1" name="Image 1" descr="/tmp/claude-0/-home-user-heinrich-mario/e7688653-8e48-5480-a009-7b18c0e4f8cc/scratchpad/egypt_build/assets/ic_wate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6243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9512" y="26060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Ахет</a:t>
            </a:r>
            <a:endParaRPr lang="ru-RU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910328" y="2971800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разлив Нила, вода несёт ил</a:t>
            </a:r>
            <a:endParaRPr lang="ru-RU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2514600"/>
            <a:ext cx="1216152" cy="1024128"/>
          </a:xfrm>
          <a:prstGeom prst="roundRect">
            <a:avLst>
              <a:gd name="adj" fmla="val 8929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5" name="Image 2" descr="/tmp/claude-0/-home-user-heinrich-mario/e7688653-8e48-5480-a009-7b18c0e4f8cc/scratchpad/egypt_build/assets/ic_whea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6243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65392" y="26060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Перет</a:t>
            </a:r>
            <a:endParaRPr lang="ru-RU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36208" y="2971800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 и всходы</a:t>
            </a:r>
            <a:endParaRPr lang="ru-RU" sz="1050" dirty="0"/>
          </a:p>
        </p:txBody>
      </p:sp>
      <p:sp>
        <p:nvSpPr>
          <p:cNvPr id="18" name="Shape 13"/>
          <p:cNvSpPr/>
          <p:nvPr/>
        </p:nvSpPr>
        <p:spPr>
          <a:xfrm>
            <a:off x="7452360" y="2514600"/>
            <a:ext cx="1216152" cy="1024128"/>
          </a:xfrm>
          <a:prstGeom prst="roundRect">
            <a:avLst>
              <a:gd name="adj" fmla="val 8929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9" name="Image 3" descr="/tmp/claude-0/-home-user-heinrich-mario/e7688653-8e48-5480-a009-7b18c0e4f8cc/scratchpad/egypt_build/assets/ic_sun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262432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891272" y="26060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Шему</a:t>
            </a:r>
            <a:endParaRPr lang="ru-RU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7562088" y="2971800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урожая</a:t>
            </a:r>
            <a:endParaRPr lang="ru-RU" sz="1050" dirty="0"/>
          </a:p>
        </p:txBody>
      </p:sp>
      <p:sp>
        <p:nvSpPr>
          <p:cNvPr id="22" name="Shape 16"/>
          <p:cNvSpPr/>
          <p:nvPr/>
        </p:nvSpPr>
        <p:spPr>
          <a:xfrm>
            <a:off x="4800600" y="3703320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3" name="Image 4" descr="/tmp/claude-0/-home-user-heinrich-mario/e7688653-8e48-5480-a009-7b18c0e4f8cc/scratchpad/egypt_build/assets/ic_lotus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114" y="3791834"/>
            <a:ext cx="225308" cy="2253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30952" y="3666744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Египтяне называли свою страну Кемет — «Чёрная земля» — по цвету нильского ила.</a:t>
            </a:r>
            <a:endParaRPr lang="ru-RU" sz="1200" dirty="0"/>
          </a:p>
        </p:txBody>
      </p:sp>
      <p:sp>
        <p:nvSpPr>
          <p:cNvPr id="25" name="Shape 18"/>
          <p:cNvSpPr/>
          <p:nvPr/>
        </p:nvSpPr>
        <p:spPr>
          <a:xfrm>
            <a:off x="4800600" y="4233672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6" name="Image 5" descr="/tmp/claude-0/-home-user-heinrich-mario/e7688653-8e48-5480-a009-7b18c0e4f8cc/scratchpad/egypt_build/assets/ic_calendar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114" y="4322186"/>
            <a:ext cx="225308" cy="2253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30952" y="4197096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Год: 12 месяцев по 30 дней и ещё 5 праздничных — всего 365 дней.</a:t>
            </a:r>
            <a:endParaRPr lang="ru-RU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pyramids_cam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742846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337206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572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ПИРАМИДЫ</a:t>
            </a:r>
            <a:endParaRPr lang="ru-RU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046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7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Пирамида Хеопса</a:t>
            </a:r>
            <a:endParaRPr lang="ru-RU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около 2560 г. до н. э. для фараона Хуфу (Хеопса). Единственное из семи чудес света, дожившее до наших дней.</a:t>
            </a:r>
            <a:endParaRPr lang="ru-RU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0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 м</a:t>
            </a:r>
            <a:endParaRPr lang="ru-RU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при постройке — почти как 50-этажный дом</a:t>
            </a:r>
            <a:endParaRPr lang="ru-RU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54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0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 млн</a:t>
            </a:r>
            <a:endParaRPr lang="ru-RU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каменных блоков, в среднем по 2,5 тонны</a:t>
            </a:r>
            <a:endParaRPr lang="ru-RU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0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3800 лет</a:t>
            </a:r>
            <a:endParaRPr lang="ru-RU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оставалась самым высоким зданием на Земле</a:t>
            </a:r>
            <a:endParaRPr lang="ru-RU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176" y="402336"/>
            <a:ext cx="276148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hieroglyph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457200"/>
            <a:ext cx="26517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7200"/>
            <a:ext cx="1845259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39619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845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ИЕРОГЛИФЫ</a:t>
            </a:r>
            <a:endParaRPr lang="ru-RU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046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0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Священные знаки</a:t>
            </a:r>
            <a:endParaRPr lang="ru-RU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i="1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египтяне называли иероглифы «словами бога».</a:t>
            </a:r>
            <a:endParaRPr lang="ru-RU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0" name="Image 1" descr="/tmp/claude-0/-home-user-heinrich-mario/e7688653-8e48-5480-a009-7b18c0e4f8cc/scratchpad/egypt_build/assets/ic_ey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1998513"/>
            <a:ext cx="245791" cy="245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182880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700 знаков: одни обозначали звуки, другие — целые слова.</a:t>
            </a:r>
            <a:endParaRPr lang="ru-RU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606040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3" name="Image 2" descr="/tmp/claude-0/-home-user-heinrich-mario/e7688653-8e48-5480-a009-7b18c0e4f8cc/scratchpad/egypt_build/assets/ic_scroll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2702601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53288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Писали справа налево, слева направо и столбиком. Читать нужно навстречу лицам людей и птиц.</a:t>
            </a:r>
            <a:endParaRPr lang="ru-RU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310128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6" name="Image 3" descr="/tmp/claude-0/-home-user-heinrich-mario/e7688653-8e48-5480-a009-7b18c0e4f8cc/scratchpad/egypt_build/assets/ic_ankh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3406689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23697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фараонов обводили овалом — картушем. Он должен был защищать имя от зла.</a:t>
            </a:r>
            <a:endParaRPr lang="ru-RU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014216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9" name="Image 4" descr="/tmp/claude-0/-home-user-heinrich-mario/e7688653-8e48-5480-a009-7b18c0e4f8cc/scratchpad/egypt_build/assets/ic_table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1" y="4110777"/>
            <a:ext cx="245791" cy="24579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3941064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Розеттский камень, где один текст записан тремя видами письма, помог Шампольону прочитать иероглифы в 1822 году.</a:t>
            </a:r>
            <a:endParaRPr lang="ru-RU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276148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sarcophag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6517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66160" y="457200"/>
            <a:ext cx="1435608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47488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66160" y="45720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МУМИИ</a:t>
            </a:r>
            <a:endParaRPr lang="ru-RU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8046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5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в вечность за 70 дней</a:t>
            </a:r>
            <a:endParaRPr lang="ru-RU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4813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ru-RU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4173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Мозг доставали через нос длинным крючком — его считали ненужным.</a:t>
            </a:r>
            <a:endParaRPr lang="ru-RU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9385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ru-RU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8745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Печень, лёгкие, желудок и кишечник клали в 4 сосуда-канопы. Сердце оставляли в теле.</a:t>
            </a:r>
            <a:endParaRPr lang="ru-RU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957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ru-RU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3317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дней тело сушили в особой соли — натроне.</a:t>
            </a:r>
            <a:endParaRPr lang="ru-RU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8529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ru-RU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7889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Обматывали льняными бинтами, а между слоями клали амулеты.</a:t>
            </a:r>
            <a:endParaRPr lang="ru-RU" sz="1200" dirty="0"/>
          </a:p>
        </p:txBody>
      </p:sp>
      <p:sp>
        <p:nvSpPr>
          <p:cNvPr id="16" name="Shape 13"/>
          <p:cNvSpPr/>
          <p:nvPr/>
        </p:nvSpPr>
        <p:spPr>
          <a:xfrm>
            <a:off x="3566160" y="3310128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7" name="Image 1" descr="/tmp/claude-0/-home-user-heinrich-mario/e7688653-8e48-5480-a009-7b18c0e4f8cc/scratchpad/egypt_build/assets/ic_scale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465576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343400" y="34015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 Осириса. </a:t>
            </a:r>
            <a:pPr indent="0" marL="0">
              <a:buNone/>
            </a:pPr>
            <a:r>
              <a:rPr lang="ru-RU" sz="1100" dirty="0">
                <a:solidFill>
                  <a:srgbClr val="F3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суде бога загробного мира Осириса сердце умершего взвешивали против пера богини правды Маат. Если сердце было лёгким, человек попадал в загробный рай.</a:t>
            </a:r>
            <a:endParaRPr lang="ru-RU" sz="1100" dirty="0"/>
          </a:p>
        </p:txBody>
      </p:sp>
      <p:pic>
        <p:nvPicPr>
          <p:cNvPr id="19" name="Image 2" descr="/tmp/claude-0/-home-user-heinrich-mario/e7688653-8e48-5480-a009-7b18c0e4f8cc/scratchpad/egypt_build/assets/ic_croc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416052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43400" y="40416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Амат</a:t>
            </a:r>
            <a:pPr indent="0" marL="0">
              <a:buNone/>
            </a:pPr>
            <a:r>
              <a:rPr lang="ru-RU" sz="1100" dirty="0">
                <a:solidFill>
                  <a:srgbClr val="F3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чудовище «пожирательница мёртвых»: пасть крокодила, тело льва и задние ноги бегемота. Тяжёлое сердце грешника она съедала.</a:t>
            </a:r>
            <a:endParaRPr lang="ru-RU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413308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tut_ma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40233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041648"/>
            <a:ext cx="4023360" cy="621792"/>
          </a:xfrm>
          <a:prstGeom prst="rect">
            <a:avLst/>
          </a:prstGeom>
          <a:solidFill>
            <a:srgbClr val="0F1A2B">
              <a:alpha val="80000"/>
            </a:srgbClr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40782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фото: </a:t>
            </a:r>
            <a:pPr indent="0" marL="0">
              <a:buNone/>
            </a:pPr>
            <a:r>
              <a:rPr lang="ru-RU" sz="1100" dirty="0">
                <a:solidFill>
                  <a:srgbClr val="F3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 погребальная маска Тутанхамона. Большой Египетский музей, Каир.</a:t>
            </a:r>
            <a:endParaRPr lang="ru-RU" sz="1100" dirty="0"/>
          </a:p>
        </p:txBody>
      </p:sp>
      <p:sp>
        <p:nvSpPr>
          <p:cNvPr id="6" name="Shape 3"/>
          <p:cNvSpPr/>
          <p:nvPr/>
        </p:nvSpPr>
        <p:spPr>
          <a:xfrm>
            <a:off x="4846320" y="457200"/>
            <a:ext cx="1947672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39712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4572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ТУТАНХАМОН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8046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0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Мальчик-фараон</a:t>
            </a:r>
            <a:endParaRPr lang="ru-RU" sz="3000" dirty="0"/>
          </a:p>
        </p:txBody>
      </p:sp>
      <p:sp>
        <p:nvSpPr>
          <p:cNvPr id="10" name="Shape 7"/>
          <p:cNvSpPr/>
          <p:nvPr/>
        </p:nvSpPr>
        <p:spPr>
          <a:xfrm>
            <a:off x="4846320" y="1517904"/>
            <a:ext cx="365760" cy="3657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1" name="Image 1" descr="/tmp/claude-0/-home-user-heinrich-mario/e7688653-8e48-5480-a009-7b18c0e4f8cc/scratchpad/egypt_build/assets/ic_crow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787" y="1598371"/>
            <a:ext cx="204826" cy="204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44475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 фараоном примерно в 9 лет, поэтому страной за него правили советники.</a:t>
            </a:r>
            <a:endParaRPr lang="ru-RU" sz="1200" dirty="0"/>
          </a:p>
        </p:txBody>
      </p:sp>
      <p:sp>
        <p:nvSpPr>
          <p:cNvPr id="13" name="Shape 9"/>
          <p:cNvSpPr/>
          <p:nvPr/>
        </p:nvSpPr>
        <p:spPr>
          <a:xfrm>
            <a:off x="4846320" y="2084832"/>
            <a:ext cx="365760" cy="3657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4" name="Image 2" descr="/tmp/claude-0/-home-user-heinrich-mario/e7688653-8e48-5480-a009-7b18c0e4f8cc/scratchpad/egypt_build/assets/ic_scarab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787" y="2165299"/>
            <a:ext cx="204826" cy="20482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201168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 около 19 лет. Почему так рано, учёные спорят до сих пор.</a:t>
            </a:r>
            <a:endParaRPr lang="ru-RU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7" name="Image 3" descr="/tmp/claude-0/-home-user-heinrich-mario/e7688653-8e48-5480-a009-7b18c0e4f8cc/scratchpad/egypt_build/assets/ic_ston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87" y="2732227"/>
            <a:ext cx="204826" cy="20482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49240" y="257860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гробницу завалило камнями при строительстве соседней гробницы — поэтому грабители её не нашли.</a:t>
            </a:r>
            <a:endParaRPr lang="ru-RU" sz="1200" dirty="0"/>
          </a:p>
        </p:txBody>
      </p:sp>
      <p:sp>
        <p:nvSpPr>
          <p:cNvPr id="19" name="Shape 13"/>
          <p:cNvSpPr/>
          <p:nvPr/>
        </p:nvSpPr>
        <p:spPr>
          <a:xfrm>
            <a:off x="4846320" y="3364992"/>
            <a:ext cx="1207008" cy="1261872"/>
          </a:xfrm>
          <a:prstGeom prst="roundRect">
            <a:avLst>
              <a:gd name="adj" fmla="val 7576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4956048" y="34747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1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1922</a:t>
            </a:r>
            <a:endParaRPr lang="ru-RU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4956048" y="393192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Говард Картер открыл гробницу</a:t>
            </a:r>
            <a:endParaRPr lang="ru-RU" sz="1050" dirty="0"/>
          </a:p>
        </p:txBody>
      </p:sp>
      <p:sp>
        <p:nvSpPr>
          <p:cNvPr id="22" name="Shape 16"/>
          <p:cNvSpPr/>
          <p:nvPr/>
        </p:nvSpPr>
        <p:spPr>
          <a:xfrm>
            <a:off x="6163056" y="3364992"/>
            <a:ext cx="1207008" cy="1261872"/>
          </a:xfrm>
          <a:prstGeom prst="roundRect">
            <a:avLst>
              <a:gd name="adj" fmla="val 7576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6272784" y="34747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1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5000+</a:t>
            </a:r>
            <a:endParaRPr lang="ru-RU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6272784" y="393192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предметов нашли внутри</a:t>
            </a:r>
            <a:endParaRPr lang="ru-RU" sz="1050" dirty="0"/>
          </a:p>
        </p:txBody>
      </p:sp>
      <p:sp>
        <p:nvSpPr>
          <p:cNvPr id="25" name="Shape 19"/>
          <p:cNvSpPr/>
          <p:nvPr/>
        </p:nvSpPr>
        <p:spPr>
          <a:xfrm>
            <a:off x="7479792" y="3364992"/>
            <a:ext cx="1207008" cy="1261872"/>
          </a:xfrm>
          <a:prstGeom prst="roundRect">
            <a:avLst>
              <a:gd name="adj" fmla="val 7576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7589520" y="34747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1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кг</a:t>
            </a:r>
            <a:endParaRPr lang="ru-RU" sz="2100" dirty="0"/>
          </a:p>
        </p:txBody>
      </p:sp>
      <p:sp>
        <p:nvSpPr>
          <p:cNvPr id="27" name="Text 21"/>
          <p:cNvSpPr txBox="1"/>
          <p:nvPr/>
        </p:nvSpPr>
        <p:spPr>
          <a:xfrm>
            <a:off x="7589520" y="393192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 в этой маске</a:t>
            </a:r>
            <a:endParaRPr lang="ru-RU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pyramid_bloc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2664562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58922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57200"/>
            <a:ext cx="2664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СТРОИТЕЛИ ПИРАМИД</a:t>
            </a:r>
            <a:endParaRPr lang="ru-RU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Пирамиды строили</a:t>
            </a:r>
            <a:endParaRPr lang="ru-RU" sz="2600" dirty="0"/>
          </a:p>
          <a:p>
            <a:pPr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рабы</a:t>
            </a:r>
            <a:endParaRPr lang="ru-RU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847088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8" name="Image 1" descr="/tmp/claude-0/-home-user-heinrich-mario/e7688653-8e48-5480-a009-7b18c0e4f8cc/scratchpad/egypt_build/assets/ic_temp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4" y="1935602"/>
            <a:ext cx="225308" cy="2253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73736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пирамид нашли посёлок строителей: пекарни, пивоварни и кладбище. Рабов вряд ли похоронили бы рядом с фараоном.</a:t>
            </a:r>
            <a:endParaRPr lang="ru-RU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1" name="Image 2" descr="/tmp/claude-0/-home-user-heinrich-mario/e7688653-8e48-5480-a009-7b18c0e4f8cc/scratchpad/egypt_build/assets/ic_brea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4" y="2648834"/>
            <a:ext cx="225308" cy="2253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5059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кормили хлебом, пивом и мясом. На скелетах видны сросшиеся переломы — их лечили врачи.</a:t>
            </a:r>
            <a:endParaRPr lang="ru-RU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273552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4" name="Image 3" descr="/tmp/claude-0/-home-user-heinrich-mario/e7688653-8e48-5480-a009-7b18c0e4f8cc/scratchpad/egypt_build/assets/ic_bee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4" y="336206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6382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Бригады носили весёлые имена: «Друзья Хуфу», «Пьяницы Менкаура».</a:t>
            </a:r>
            <a:endParaRPr lang="ru-RU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3986784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7" name="Image 4" descr="/tmp/claude-0/-home-user-heinrich-mario/e7688653-8e48-5480-a009-7b18c0e4f8cc/scratchpad/egypt_build/assets/ic_papyrus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4075298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7705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2013 году нашли «дневник Мерера» — старейший папирус с текстом. Это журнал бригады, возившей камень для пирамиды Хеопса.</a:t>
            </a:r>
            <a:endParaRPr lang="ru-RU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tomb_stai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97680" y="457200"/>
            <a:ext cx="2664562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007962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297680" y="457200"/>
            <a:ext cx="2664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СТРОИТЕЛИ ГРОБНИЦ</a:t>
            </a:r>
            <a:endParaRPr lang="ru-RU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84124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забастовка</a:t>
            </a:r>
            <a:endParaRPr lang="ru-RU" sz="2600" dirty="0"/>
          </a:p>
          <a:p>
            <a:pPr indent="0" marL="0">
              <a:lnSpc>
                <a:spcPct val="95000"/>
              </a:lnSpc>
              <a:buNone/>
            </a:pPr>
            <a:r>
              <a:rPr lang="ru-RU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истории</a:t>
            </a:r>
            <a:endParaRPr lang="ru-RU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1810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1157 г. до н. э. </a:t>
            </a:r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строителям царских гробниц из посёлка Дейр-эль-Медина вовремя не выдали зерно — их зарплату. Они бросили работу, сели у храма и заявили: «Мы голодны!»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000" b="1" spc="200" kern="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ПРОГУЛОВ: УВАЖИТЕЛЬНЫЕ ПРИЧИНЫ</a:t>
            </a:r>
            <a:endParaRPr lang="ru-RU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3090672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0" name="Image 1" descr="/tmp/claude-0/-home-user-heinrich-mario/e7688653-8e48-5480-a009-7b18c0e4f8cc/scratchpad/egypt_build/assets/ic_beer_n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31729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6592" y="309067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«варил пиво»</a:t>
            </a:r>
            <a:endParaRPr lang="ru-RU" sz="1150" dirty="0"/>
          </a:p>
        </p:txBody>
      </p:sp>
      <p:sp>
        <p:nvSpPr>
          <p:cNvPr id="12" name="Shape 8"/>
          <p:cNvSpPr/>
          <p:nvPr/>
        </p:nvSpPr>
        <p:spPr>
          <a:xfrm>
            <a:off x="6537960" y="3090672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3" name="Image 2" descr="/tmp/claude-0/-home-user-heinrich-mario/e7688653-8e48-5480-a009-7b18c0e4f8cc/scratchpad/egypt_build/assets/ic_scorpion_n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1729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76872" y="309067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«ужалил скорпион»</a:t>
            </a:r>
            <a:endParaRPr lang="ru-RU" sz="1150" dirty="0"/>
          </a:p>
        </p:txBody>
      </p:sp>
      <p:sp>
        <p:nvSpPr>
          <p:cNvPr id="15" name="Shape 10"/>
          <p:cNvSpPr/>
          <p:nvPr/>
        </p:nvSpPr>
        <p:spPr>
          <a:xfrm>
            <a:off x="4297680" y="3621024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6" name="Image 3" descr="/tmp/claude-0/-home-user-heinrich-mario/e7688653-8e48-5480-a009-7b18c0e4f8cc/scratchpad/egypt_build/assets/ic_eye_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37033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36592" y="3621024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«болели глаза»</a:t>
            </a:r>
            <a:endParaRPr lang="ru-RU" sz="1150" dirty="0"/>
          </a:p>
        </p:txBody>
      </p:sp>
      <p:sp>
        <p:nvSpPr>
          <p:cNvPr id="18" name="Shape 12"/>
          <p:cNvSpPr/>
          <p:nvPr/>
        </p:nvSpPr>
        <p:spPr>
          <a:xfrm>
            <a:off x="6537960" y="3621024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9" name="Image 4" descr="/tmp/claude-0/-home-user-heinrich-mario/e7688653-8e48-5480-a009-7b18c0e4f8cc/scratchpad/egypt_build/assets/ic_mummy_n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370332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76872" y="3621024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«бальзамировал брата»</a:t>
            </a:r>
            <a:endParaRPr lang="ru-RU" sz="1150" dirty="0"/>
          </a:p>
        </p:txBody>
      </p:sp>
      <p:pic>
        <p:nvPicPr>
          <p:cNvPr id="21" name="Image 5" descr="/tmp/claude-0/-home-user-heinrich-mario/e7688653-8e48-5480-a009-7b18c0e4f8cc/scratchpad/egypt_build/assets/ic_calendar_n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279392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709160" y="42428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ещё неделя у египтян длилась 10 дней.</a:t>
            </a:r>
            <a:endParaRPr lang="ru-RU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D8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285292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sphin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74320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11880" y="457200"/>
            <a:ext cx="2254910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12510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11880" y="457200"/>
            <a:ext cx="2254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УДИВИТЕЛЬНЫЕ ФАКТЫ</a:t>
            </a:r>
            <a:endParaRPr lang="ru-RU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611880" y="80467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отбил нос Сфинксу?</a:t>
            </a:r>
            <a:endParaRPr lang="ru-RU" sz="2600" dirty="0"/>
          </a:p>
        </p:txBody>
      </p:sp>
      <p:sp>
        <p:nvSpPr>
          <p:cNvPr id="8" name="Shape 5"/>
          <p:cNvSpPr/>
          <p:nvPr/>
        </p:nvSpPr>
        <p:spPr>
          <a:xfrm>
            <a:off x="3611880" y="146304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9" name="Image 1" descr="/tmp/claude-0/-home-user-heinrich-mario/e7688653-8e48-5480-a009-7b18c0e4f8cc/scratchpad/egypt_build/assets/ic_chisel_n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1536192"/>
            <a:ext cx="4251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1378 году </a:t>
            </a:r>
            <a:pPr indent="0" marL="0">
              <a:buNone/>
            </a:pPr>
            <a:r>
              <a:rPr lang="ru-RU" sz="11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статуи изуродовал фанатик Мухаммад Саим ад-Дахр — так писал историк аль-Макризи. Фанатика злило, что Сфинксу приносили дары. Следы зубил видны до сих пор.</a:t>
            </a:r>
            <a:endParaRPr lang="ru-RU" sz="1150" dirty="0"/>
          </a:p>
        </p:txBody>
      </p:sp>
      <p:sp>
        <p:nvSpPr>
          <p:cNvPr id="11" name="Shape 7"/>
          <p:cNvSpPr/>
          <p:nvPr/>
        </p:nvSpPr>
        <p:spPr>
          <a:xfrm>
            <a:off x="3611880" y="2505456"/>
            <a:ext cx="5074920" cy="2176272"/>
          </a:xfrm>
          <a:prstGeom prst="roundRect">
            <a:avLst>
              <a:gd name="adj" fmla="val 4202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2" name="Image 2" descr="/tmp/claude-0/-home-user-heinrich-mario/e7688653-8e48-5480-a009-7b18c0e4f8cc/scratchpad/egypt_build/assets/ic_pain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26243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78808" y="26151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5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Краска из мумий</a:t>
            </a:r>
            <a:endParaRPr lang="ru-RU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3794760" y="3054096"/>
            <a:ext cx="47091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XVI–XVII веков художники Европы писали картины коричневой краской «мумия».</a:t>
            </a:r>
            <a:endParaRPr lang="ru-RU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делали из перемолотых египетских мумий, смешанных со смолой и миррой.</a:t>
            </a:r>
            <a:endParaRPr lang="ru-RU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Художник Бёрн-Джонс, узнав об этом, закопал свой тюбик в саду.</a:t>
            </a:r>
            <a:endParaRPr lang="ru-RU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ru-RU" sz="11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фирма перестала её выпускать в 1960-х годах: кончились мумии.</a:t>
            </a:r>
            <a:endParaRPr lang="ru-RU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257860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quiz_tomb_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46888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337560" y="457200"/>
            <a:ext cx="2357323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40603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337560" y="457200"/>
            <a:ext cx="23573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ВИКТОРИНА · ЧАСТЬ 1</a:t>
            </a:r>
            <a:endParaRPr lang="ru-RU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337560" y="804672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8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 себя!</a:t>
            </a:r>
            <a:endParaRPr lang="ru-RU" sz="280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74720" y="1554480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ru-RU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51790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назывались три времени года и что в них происходило?</a:t>
            </a:r>
            <a:endParaRPr lang="ru-RU" sz="1250" dirty="0"/>
          </a:p>
        </p:txBody>
      </p:sp>
      <p:sp>
        <p:nvSpPr>
          <p:cNvPr id="11" name="ANS_1"/>
          <p:cNvSpPr txBox="1"/>
          <p:nvPr/>
        </p:nvSpPr>
        <p:spPr>
          <a:xfrm>
            <a:off x="3931920" y="1865376"/>
            <a:ext cx="4617720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Ахет — разлив, Перет — посев и всходы, Шему — урожай</a:t>
            </a:r>
            <a:endParaRPr lang="ru-RU" sz="1150" dirty="0"/>
          </a:p>
        </p:txBody>
      </p:sp>
      <p:sp>
        <p:nvSpPr>
          <p:cNvPr id="12" name="Shape 9"/>
          <p:cNvSpPr/>
          <p:nvPr/>
        </p:nvSpPr>
        <p:spPr>
          <a:xfrm>
            <a:off x="3337560" y="2276856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2368296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ru-RU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233172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высоты была пирамида Хеопса?</a:t>
            </a:r>
            <a:endParaRPr lang="ru-RU" sz="1250" dirty="0"/>
          </a:p>
        </p:txBody>
      </p:sp>
      <p:sp>
        <p:nvSpPr>
          <p:cNvPr id="15" name="ANS_2"/>
          <p:cNvSpPr txBox="1"/>
          <p:nvPr/>
        </p:nvSpPr>
        <p:spPr>
          <a:xfrm>
            <a:off x="3931920" y="2679192"/>
            <a:ext cx="3158338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метров (сейчас — около 138 м)</a:t>
            </a:r>
            <a:endParaRPr lang="ru-RU" sz="1150" dirty="0"/>
          </a:p>
        </p:txBody>
      </p:sp>
      <p:sp>
        <p:nvSpPr>
          <p:cNvPr id="16" name="Shape 13"/>
          <p:cNvSpPr/>
          <p:nvPr/>
        </p:nvSpPr>
        <p:spPr>
          <a:xfrm>
            <a:off x="3337560" y="3090672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474720" y="3182112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ru-RU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931920" y="314553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всего было иероглифов?</a:t>
            </a:r>
            <a:endParaRPr lang="ru-RU" sz="1250" dirty="0"/>
          </a:p>
        </p:txBody>
      </p:sp>
      <p:sp>
        <p:nvSpPr>
          <p:cNvPr id="19" name="ANS_3"/>
          <p:cNvSpPr txBox="1"/>
          <p:nvPr/>
        </p:nvSpPr>
        <p:spPr>
          <a:xfrm>
            <a:off x="3931920" y="3493008"/>
            <a:ext cx="1790395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700 знаков</a:t>
            </a:r>
            <a:endParaRPr lang="ru-RU" sz="1150" dirty="0"/>
          </a:p>
        </p:txBody>
      </p:sp>
      <p:sp>
        <p:nvSpPr>
          <p:cNvPr id="20" name="Shape 17"/>
          <p:cNvSpPr/>
          <p:nvPr/>
        </p:nvSpPr>
        <p:spPr>
          <a:xfrm>
            <a:off x="3337560" y="3904488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474720" y="3995928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ru-RU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395935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Перо какой богини лежало на весах вместе с сердцем?</a:t>
            </a:r>
            <a:endParaRPr lang="ru-RU" sz="1250" dirty="0"/>
          </a:p>
        </p:txBody>
      </p:sp>
      <p:sp>
        <p:nvSpPr>
          <p:cNvPr id="23" name="ANS_4"/>
          <p:cNvSpPr txBox="1"/>
          <p:nvPr/>
        </p:nvSpPr>
        <p:spPr>
          <a:xfrm>
            <a:off x="3931920" y="4306824"/>
            <a:ext cx="2353666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Перо богини правды Маат</a:t>
            </a:r>
            <a:endParaRPr lang="ru-RU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9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257860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quiz_karna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46888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337560" y="457200"/>
            <a:ext cx="2357323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40603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337560" y="457200"/>
            <a:ext cx="23573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ВИКТОРИНА · ЧАСТЬ 2</a:t>
            </a:r>
            <a:endParaRPr lang="ru-RU" sz="1000" dirty="0"/>
          </a:p>
        </p:txBody>
      </p:sp>
      <p:sp>
        <p:nvSpPr>
          <p:cNvPr id="7" name="Shape 4"/>
          <p:cNvSpPr/>
          <p:nvPr/>
        </p:nvSpPr>
        <p:spPr>
          <a:xfrm>
            <a:off x="3337560" y="96012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474720" y="1051560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ru-RU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101498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лет было Тутанхамону, когда он умер?</a:t>
            </a:r>
            <a:endParaRPr lang="ru-RU" sz="1250" dirty="0"/>
          </a:p>
        </p:txBody>
      </p:sp>
      <p:sp>
        <p:nvSpPr>
          <p:cNvPr id="10" name="ANS_1"/>
          <p:cNvSpPr txBox="1"/>
          <p:nvPr/>
        </p:nvSpPr>
        <p:spPr>
          <a:xfrm>
            <a:off x="3931920" y="1362456"/>
            <a:ext cx="1468526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19 лет</a:t>
            </a:r>
            <a:endParaRPr lang="ru-RU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901952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474720" y="1993392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ru-RU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195681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кормили строителей пирамид?</a:t>
            </a:r>
            <a:endParaRPr lang="ru-RU" sz="1250" dirty="0"/>
          </a:p>
        </p:txBody>
      </p:sp>
      <p:sp>
        <p:nvSpPr>
          <p:cNvPr id="14" name="ANS_2"/>
          <p:cNvSpPr txBox="1"/>
          <p:nvPr/>
        </p:nvSpPr>
        <p:spPr>
          <a:xfrm>
            <a:off x="3931920" y="2304288"/>
            <a:ext cx="2192731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Хлебом, пивом и мясом</a:t>
            </a:r>
            <a:endParaRPr lang="ru-RU" sz="1150" dirty="0"/>
          </a:p>
        </p:txBody>
      </p:sp>
      <p:sp>
        <p:nvSpPr>
          <p:cNvPr id="15" name="Shape 12"/>
          <p:cNvSpPr/>
          <p:nvPr/>
        </p:nvSpPr>
        <p:spPr>
          <a:xfrm>
            <a:off x="3337560" y="2843784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474720" y="2935224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ru-RU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289864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дней длилась неделя в Египте?</a:t>
            </a:r>
            <a:endParaRPr lang="ru-RU" sz="1250" dirty="0"/>
          </a:p>
        </p:txBody>
      </p:sp>
      <p:sp>
        <p:nvSpPr>
          <p:cNvPr id="18" name="ANS_3"/>
          <p:cNvSpPr txBox="1"/>
          <p:nvPr/>
        </p:nvSpPr>
        <p:spPr>
          <a:xfrm>
            <a:off x="3931920" y="3246120"/>
            <a:ext cx="1066190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дней</a:t>
            </a:r>
            <a:endParaRPr lang="ru-RU" sz="1150" dirty="0"/>
          </a:p>
        </p:txBody>
      </p:sp>
      <p:sp>
        <p:nvSpPr>
          <p:cNvPr id="19" name="Shape 16"/>
          <p:cNvSpPr/>
          <p:nvPr/>
        </p:nvSpPr>
        <p:spPr>
          <a:xfrm>
            <a:off x="3337560" y="3785616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74720" y="3877056"/>
            <a:ext cx="329184" cy="329184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ru-RU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384048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50" b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сделал Бёрн-Джонс, узнав состав краски «мумия»?</a:t>
            </a:r>
            <a:endParaRPr lang="ru-RU" sz="1250" dirty="0"/>
          </a:p>
        </p:txBody>
      </p:sp>
      <p:sp>
        <p:nvSpPr>
          <p:cNvPr id="22" name="ANS_4"/>
          <p:cNvSpPr txBox="1"/>
          <p:nvPr/>
        </p:nvSpPr>
        <p:spPr>
          <a:xfrm>
            <a:off x="3931920" y="4187952"/>
            <a:ext cx="3319272" cy="274320"/>
          </a:xfrm>
          <a:prstGeom prst="roundRect">
            <a:avLst>
              <a:gd name="adj" fmla="val 50000"/>
            </a:avLst>
          </a:prstGeom>
          <a:solidFill>
            <a:srgbClr val="F6E6B8"/>
          </a:solidFill>
          <a:ln w="12700">
            <a:solidFill>
              <a:srgbClr val="D4A5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Закопал свой тюбик с краской в саду</a:t>
            </a:r>
            <a:endParaRPr lang="ru-RU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ru-RU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abu_simb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egypt_build/assets/ov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tmp/claude-0/-home-user-heinrich-mario/e7688653-8e48-5480-a009-7b18c0e4f8cc/scratchpad/egypt_build/assets/ic_ankh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548640" cy="5486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ru-RU" sz="4400" dirty="0"/>
          </a:p>
        </p:txBody>
      </p:sp>
      <p:sp>
        <p:nvSpPr>
          <p:cNvPr id="6" name="Text 1"/>
          <p:cNvSpPr txBox="1"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dirty="0">
                <a:solidFill>
                  <a:srgbClr val="EAD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Древний Египет хранит ещё тысячи тайн — ищите их сами!</a:t>
            </a:r>
            <a:endParaRPr lang="ru-RU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Древний Египет</dc:title>
  <dc:subject>PptxGenJS Presentation</dc:subject>
  <dc:creator>Heinrich Studio</dc:creator>
  <cp:lastModifiedBy>Heinrich Studio</cp:lastModifiedBy>
  <cp:revision>1</cp:revision>
  <dcterms:created xsi:type="dcterms:W3CDTF">2026-10-18T22:01:22Z</dcterms:created>
  <dcterms:modified xsi:type="dcterms:W3CDTF">2026-10-18T22:01:22Z</dcterms:modified>
</cp:coreProperties>
</file>